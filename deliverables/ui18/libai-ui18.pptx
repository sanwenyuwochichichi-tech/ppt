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8288000" cy="10287000" type="screen4x3"/>
  <p:notesSz cx="6858000" cy="9144000"/>
  <p:embeddedFontLst>
    <p:embeddedFont>
      <p:font typeface="Ma Shan Zheng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font" Target="fonts/font1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新型</c:v>
                </c:pt>
              </c:strCache>
            </c:strRef>
          </c:tx>
          <c:spPr>
            <a:solidFill>
              <a:srgbClr val="1A73E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招聘样本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290635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旧型</c:v>
                </c:pt>
              </c:strCache>
            </c:strRef>
          </c:tx>
          <c:spPr>
            <a:solidFill>
              <a:srgbClr val="00C2D1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招聘样本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49059</c:v>
                </c:pt>
              </c:numCache>
            </c:numRef>
          </c:val>
        </c:ser>
        <c:gapWidth val="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9694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solidFill>
              <a:srgbClr val="7FE0E8">
                <a:alpha val="9000"/>
              </a:srgbClr>
            </a:solidFill>
            <a:ln w="25400">
              <a:solidFill>
                <a:srgbClr val="7FE0E8"/>
              </a:solidFill>
            </a:ln>
          </c:spPr>
          <c:marker>
            <c:symbol val="circle"/>
            <c:size val="6"/>
            <c:spPr>
              <a:solidFill>
                <a:srgbClr val="7FE0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solidFill>
              <a:srgbClr val="1A73E8">
                <a:alpha val="9000"/>
              </a:srgbClr>
            </a:solidFill>
            <a:ln w="25400">
              <a:solidFill>
                <a:srgbClr val="1A73E8"/>
              </a:solidFill>
            </a:ln>
          </c:spPr>
          <c:marker>
            <c:symbol val="circle"/>
            <c:size val="6"/>
            <c:spPr>
              <a:solidFill>
                <a:srgbClr val="1A73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0A2540">
                <a:alpha val="9000"/>
              </a:srgbClr>
            </a:solidFill>
            <a:ln w="25400">
              <a:solidFill>
                <a:srgbClr val="0A2540"/>
              </a:solidFill>
            </a:ln>
          </c:spPr>
          <c:marker>
            <c:symbol val="circle"/>
            <c:size val="6"/>
            <c:spPr>
              <a:solidFill>
                <a:srgbClr val="0A2540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A9BB0"/>
                </a:solidFill>
                <a:latin typeface="Noto Sans CJK SC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4.0"/>
          <c:min val="0.0"/>
        </c:scaling>
        <c:delete val="0"/>
        <c:axPos val="l"/>
        <c:majorGridlines>
          <c:spPr>
            <a:ln w="9525">
              <a:solidFill>
                <a:srgbClr val="E5E9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A9BB0"/>
                </a:solidFill>
                <a:latin typeface="Noto Sans CJK SC"/>
              </a:defRPr>
            </a:pPr>
          </a:p>
        </c:txPr>
        <c:crossAx val="2073612648"/>
        <c:crosses val="autoZero"/>
        <c:crossBetween val="between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Noto Sans CJK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7FE0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1A73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0A2540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A9BB0"/>
                </a:solidFill>
                <a:latin typeface="Noto Sans CJK SC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4.0"/>
          <c:min val="0.0"/>
        </c:scaling>
        <c:delete val="0"/>
        <c:axPos val="l"/>
        <c:majorGridlines>
          <c:spPr>
            <a:ln w="9525">
              <a:solidFill>
                <a:srgbClr val="E5E9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A9BB0"/>
                </a:solidFill>
                <a:latin typeface="Noto Sans CJK SC"/>
              </a:defRPr>
            </a:pPr>
          </a:p>
        </c:txPr>
        <c:crossAx val="2073612648"/>
        <c:crosses val="autoZero"/>
        <c:crossBetween val="between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【第1页】基于胜任力模型的先进制造业人才标准框架与体系</a:t>
            </a:r>
          </a:p>
          <a:p>
            <a:r>
              <a:t>建议时长：1分钟</a:t>
            </a:r>
          </a:p>
          <a:p>
            <a:r>
              <a:t>开场问候。说明今天邀请立白专家验证模型分类、能力、分级和产业适配；请结合真实岗位提供证据。</a:t>
            </a:r>
          </a:p>
          <a:p/>
          <a:p>
            <a:r>
              <a:t>资料来源与核验说明：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【第2页】介绍模型，请您验证，共同判断模型是否成立</a:t>
            </a:r>
          </a:p>
          <a:p>
            <a:r>
              <a:t>建议时长：2分钟</a:t>
            </a:r>
          </a:p>
          <a:p>
            <a:r>
              <a:t>强调不是单向汇报，请专家选择最熟悉的岗位，用现场评分、案例与建议帮助判断模型是否成立。</a:t>
            </a:r>
          </a:p>
          <a:p/>
          <a:p>
            <a:r>
              <a:t>资料来源与核验说明：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【第3页】人才标准成为竞争变量，四类瓶颈需要系统回应</a:t>
            </a:r>
          </a:p>
          <a:p>
            <a:r>
              <a:t>建议时长：2分钟</a:t>
            </a:r>
          </a:p>
          <a:p>
            <a:r>
              <a:t>请立白专家对照实际选出最突出的一项，并给出具体岗位案例。</a:t>
            </a:r>
          </a:p>
          <a:p/>
          <a:p>
            <a:r>
              <a:t>资料来源与核验说明：</a:t>
            </a:r>
          </a:p>
          <a:p>
            <a:r>
              <a:t>主报告§3.4人才队伍建设短板。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【第4页】339,694 条招聘信息与五类方法，共同支撑建模</a:t>
            </a:r>
          </a:p>
          <a:p>
            <a:r>
              <a:t>建议时长：2分钟</a:t>
            </a:r>
          </a:p>
          <a:p>
            <a:r>
              <a:t>强调总样本与两类分布。招聘文本反映公开能力表达，不能直接证明岗位绩效。方法组合提供交叉验证依据。</a:t>
            </a:r>
          </a:p>
          <a:p/>
          <a:p>
            <a:r>
              <a:t>资料来源与核验说明：</a:t>
            </a:r>
          </a:p>
          <a:p>
            <a:r>
              <a:t>核心来源：《202602优化版本-先进制造业人才标准项目报告0201》§4.2.1；《智造人才画像》仅作佐证。2025年公开招聘文本：总计339,694，新型290,635，旧型49,059。招聘表达不等同于实际录用、岗位绩效或因果验证。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【第5页】独立编码与分歧裁定，让每项能力可追溯、可复核</a:t>
            </a:r>
          </a:p>
          <a:p>
            <a:r>
              <a:t>建议时长：3分钟</a:t>
            </a:r>
          </a:p>
          <a:p>
            <a:r>
              <a:t>本页为补充附件编码方法示意。Kappa衡量扣除随机一致性后的编码一致性，不代表模型效度。12,416条条目分别对90项要素编码，形成1,117,440个单元。</a:t>
            </a:r>
          </a:p>
          <a:p/>
          <a:p>
            <a:r>
              <a:t>资料来源与核验说明：</a:t>
            </a:r>
          </a:p>
          <a:p>
            <a:r>
              <a:t>补充附件仅为编码示例，不能替代《202602优化版本项目报告0201》的正式研究结论。示例来源07_总体Kappa、第三人裁定与最终编码及10_分歧清单第三人裁判结果：N=12,416×90=1,117,440，A命中11,473，B命中12,551，交集10,824；Po=0.9978737113、Pe=0.9787315003、Kappa=0.9000263916（显示0.900）；分歧2,376，裁定命中553，最终命中11,377。示例工作簿说明页标注模拟研究，用户已明确补充附件用于编码示例。展示表内核验结果用于讲解流程，不声称正式样本完成这些编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【第6页】三轮收敛聚焦关键要素，三层框架区分适用范围</a:t>
            </a:r>
          </a:p>
          <a:p>
            <a:r>
              <a:t>建议时长：3分钟</a:t>
            </a:r>
          </a:p>
          <a:p>
            <a:r>
              <a:t>三轮为同义整理、低频剔除和结构收敛。初始90、剔除17、保留73是示例口径；三层22+48+20也属于初始90项。90行单调性来自示例赋值规则，不代表主报告的矩阵已无倒挂。请判断低频&lt;5、每类每维度≤3项是否适用。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【第7页】技术内核不同，能力要求需要差异化配置</a:t>
            </a:r>
          </a:p>
          <a:p>
            <a:r>
              <a:t>建议时长：2分钟</a:t>
            </a:r>
          </a:p>
          <a:p>
            <a:r>
              <a:t>新旧是研究分析标签，不是先进程度排序。同一企业可并存两类岗位逻辑，按核心工艺与业务功能判断。</a:t>
            </a:r>
          </a:p>
          <a:p/>
          <a:p>
            <a:r>
              <a:t>资料来源与核验说明：</a:t>
            </a:r>
          </a:p>
          <a:p>
            <a:r>
              <a:t>主报告§3.2、§3.3。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【第8页】五类人才按工作功能划分，覆盖操作到战略的完整链条</a:t>
            </a:r>
          </a:p>
          <a:p>
            <a:r>
              <a:t>建议时长：3分钟</a:t>
            </a:r>
          </a:p>
          <a:p>
            <a:r>
              <a:t>请判断五类是否完整、边界是否清楚。五类不是单一晋升阶梯；复合岗位可指定主类别与兼具能力。</a:t>
            </a:r>
          </a:p>
          <a:p/>
          <a:p>
            <a:r>
              <a:t>资料来源与核验说明：</a:t>
            </a:r>
          </a:p>
          <a:p>
            <a:r>
              <a:t>主报告§4.1。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【第9页】硬、软、元三维能力，用三问逐项校验归属</a:t>
            </a:r>
          </a:p>
          <a:p>
            <a:r>
              <a:t>建议时长：3分钟</a:t>
            </a:r>
          </a:p>
          <a:p>
            <a:r>
              <a:t>三维结构以主报告为准；90/90和2项争议为补充编码示例。种子词典是当前基准，不代表不可修订。请用真实任务检验三问。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【第10页】三级人才回答“谁”，三层标准回答“要求什么”</a:t>
            </a:r>
          </a:p>
          <a:p>
            <a:r>
              <a:t>建议时长：3分钟</a:t>
            </a:r>
          </a:p>
          <a:p>
            <a:r>
              <a:t>人才层级为基础、骨干、高端；标准层次为通用、产业背景、岗位专有。每一级人才均组合三层要求，不是一一对应。1—4级是单项能力行为尺度。</a:t>
            </a:r>
          </a:p>
          <a:p/>
          <a:p>
            <a:r>
              <a:t>资料来源与核验说明：</a:t>
            </a:r>
          </a:p>
          <a:p>
            <a:r>
              <a:t>主报告模型结构；行为锚点参照报告与用户座谈方案。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【第11页】五类 × 三维 × 三级，以三层标准承载产业差异</a:t>
            </a:r>
          </a:p>
          <a:p>
            <a:r>
              <a:t>建议时长：3分钟</a:t>
            </a:r>
          </a:p>
          <a:p>
            <a:r>
              <a:t>左侧说明标准适用范围，中间识别工作功能，右侧以三维能力×三级人才示意配置。矩阵关键词只是结构说明，不是能力得分或主报告量化结果。新旧产业是贯穿模型的情境条件。</a:t>
            </a:r>
          </a:p>
          <a:p/>
          <a:p>
            <a:r>
              <a:t>资料来源与核验说明：</a:t>
            </a:r>
          </a:p>
          <a:p>
            <a:r>
              <a:t>模型主结构依据主报告摘要、§4—§6；示意矩阵不作实测数据。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【第12页】分类分级、数据驱动、行为可评，是模型的系统升级</a:t>
            </a:r>
          </a:p>
          <a:p>
            <a:r>
              <a:t>建议时长：3分钟</a:t>
            </a:r>
          </a:p>
          <a:p>
            <a:r>
              <a:t>现有做法为典型局限概括，不是立白现状诊断。请专家逐行判断适用性，提出与企业现有制度衔接的方式。</a:t>
            </a:r>
          </a:p>
          <a:p/>
          <a:p>
            <a:r>
              <a:t>资料来源与核验说明：</a:t>
            </a:r>
          </a:p>
          <a:p>
            <a:r>
              <a:t>主报告§5—§7及用户方案。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【第13页】智能制造操作能力，从“会操作”走向“能主导”</a:t>
            </a:r>
          </a:p>
          <a:p>
            <a:r>
              <a:t>建议时长：2分钟</a:t>
            </a:r>
          </a:p>
          <a:p>
            <a:r>
              <a:t>请判断行为是否可观察、可评价。新型主报告原值为设备4/3/2、ERP4/4/3、CAD3/4/3，保留非单调配置，现场确认它表达角色专业要求还是最低等级。</a:t>
            </a:r>
          </a:p>
          <a:p/>
          <a:p>
            <a:r>
              <a:t>资料来源与核验说明：</a:t>
            </a:r>
          </a:p>
          <a:p>
            <a:r>
              <a:t>行为描述逐字引自主报告；雷达配置取主报告表4-11/4-16。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【第14页】旧型产业能力，更强调合规、流程与经验传承</a:t>
            </a:r>
          </a:p>
          <a:p>
            <a:r>
              <a:t>建议时长：2分钟</a:t>
            </a:r>
          </a:p>
          <a:p>
            <a:r>
              <a:t>请判断产业差异是否成立。GMP、SOP三级配置均1/2/4；经验积累有完整行为锚点但无三级配置，不能补0或虚构。GMP适用性按立白具体业务判断。</a:t>
            </a:r>
          </a:p>
          <a:p/>
          <a:p>
            <a:r>
              <a:t>资料来源与核验说明：</a:t>
            </a:r>
          </a:p>
          <a:p>
            <a:r>
              <a:t>行为描述逐字引自主报告；雷达配置取主报告表4-11/4-16。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【第15页】模型是否成立，取决于专家判断与真实岗位证据</a:t>
            </a:r>
          </a:p>
          <a:p>
            <a:r>
              <a:t>建议时长：3分钟</a:t>
            </a:r>
          </a:p>
          <a:p>
            <a:r>
              <a:t>请专家先选最熟悉岗位，再对六维度评分。六种方法是本次座谈实施建议，不是宣称已完成验证。</a:t>
            </a:r>
          </a:p>
          <a:p/>
          <a:p>
            <a:r>
              <a:t>资料来源与核验说明：</a:t>
            </a:r>
          </a:p>
          <a:p>
            <a:r>
              <a:t>用户验证方案与报告企业访谈结构。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【第16页】请现场评分，专家判断将直接指向模型修订</a:t>
            </a:r>
          </a:p>
          <a:p>
            <a:r>
              <a:t>建议时长：15分钟评分</a:t>
            </a:r>
          </a:p>
          <a:p>
            <a:r>
              <a:t>独立评分15分钟。1不成立、2需大幅修改、3基本成立但需调整、4较适用、5高度适用。不熟悉或不适用记N/A，不计入均值。修改建议写具体岗位、行为证据与修改条目。</a:t>
            </a:r>
          </a:p>
          <a:p/>
          <a:p>
            <a:r>
              <a:t>资料来源与核验说明：</a:t>
            </a:r>
          </a:p>
          <a:p>
            <a:r>
              <a:t>用户指定专家验证表；现场1—5分不同于能力行为1—4级。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【第17页】评分形成修订依据，3 工作日汇总、10 工作日反馈</a:t>
            </a:r>
          </a:p>
          <a:p>
            <a:r>
              <a:t>建议时长：3分钟</a:t>
            </a:r>
          </a:p>
          <a:p>
            <a:r>
              <a:t>拟定机制：现场评分，3工作日汇总，团队研判，10工作日反馈，待议复核。采纳、部分采纳、待议、不采纳均说明理由。感谢专家共同验证；没有问卷链接，不生成不可用二维码。</a:t>
            </a:r>
          </a:p>
          <a:p/>
          <a:p>
            <a:r>
              <a:t>资料来源与核验说明：</a:t>
            </a:r>
          </a:p>
          <a:p>
            <a:r>
              <a:t>用户指定反馈处理机制；工作日期限为拟定安排。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【第18页】按专家追问展开：归属规则、分级示例与三层清单</a:t>
            </a:r>
          </a:p>
          <a:p>
            <a:r>
              <a:t>建议时长：按需展开</a:t>
            </a:r>
          </a:p>
          <a:p>
            <a:r>
              <a:t>三问判定：问1看证书/作品/参数；问2看人与人互动协同；问3看跨任务跨情境迁移。多问同时为是，按问3&gt;问2&gt;问1；与种子词典不一致的条目暂按词典、提请复核。</a:t>
            </a:r>
          </a:p>
          <a:p>
            <a:r>
              <a:t>新-跨界-02｜新｜跨界复合人才｜跨域项目管理能力｜是｜是｜是｜元技能｜硬技能｜不一致｜硬技能｜⚠ 与种子词典"硬技能"不一致：跨域项目管理须与他人协商协同（问2=是）且需跨情境判断（问3=是），三问判定为元技能，建议团队复核。</a:t>
            </a:r>
          </a:p>
          <a:p>
            <a:r>
              <a:t>旧-战略-03｜旧｜战略引领人才｜团队管理能力｜否｜是｜否｜软技能｜硬技能｜不一致｜硬技能｜⚠ 与种子词典"硬技能"不一致：团队管理须与他人互动（问2=是），三问判定为软技能；且同名要素"旧-数字-05 团队管理能力"在词典中即为软技能，建议统一。</a:t>
            </a:r>
          </a:p>
          <a:p/>
          <a:p>
            <a:r>
              <a:t>三维三层级矩阵示例（补充附件、裁定后口径）：</a:t>
            </a:r>
          </a:p>
          <a:p>
            <a:r>
              <a:t>新-智能-01 智能化设备操作能力｜硬技能｜基础/骨干/高端=3/4/4｜E06792：主导隔膜陶瓷涂覆、PVDF 涂覆等涂覆工艺配套自动化产线的设备调试、问题排查，解决项目现场技术异常；</a:t>
            </a:r>
          </a:p>
          <a:p>
            <a:r>
              <a:t>新-智能-05 班组协作能力｜软技能｜基础/骨干/高端=2/3/4｜E03814：与软件、硬件、测试团队协作，推动算法能力落地</a:t>
            </a:r>
          </a:p>
          <a:p>
            <a:r>
              <a:t>新-智能-08 实操学习能力｜元技能｜基础/骨干/高端=2/3/4｜E00227：行业迭代学习：主动学习香氛行业新原料、新包材、新工艺及行业新规、市场新趋势，快速吸收专业知识并落地应用，适配产品快速迭代需求，助力产品优化创新。</a:t>
            </a:r>
          </a:p>
          <a:p>
            <a:r>
              <a:t>旧-智能-01 Excel操作能力｜硬技能｜基础/骨干/高端=1/1/2｜—：—</a:t>
            </a:r>
          </a:p>
          <a:p>
            <a:r>
              <a:t>旧-智能-04 SOP执行能力｜软技能｜基础/骨干/高端=2/3/4｜E05019：编制材料测试SOP,优化实验流程测试周期缩短20%</a:t>
            </a:r>
          </a:p>
          <a:p>
            <a:r>
              <a:t>旧-智能-09 组织协调能力｜元技能｜基础/骨干/高端=3/4/4｜E05285：制定项目规划，分派项目任务，及时跟催进度，协调解决项目异常,完善建立项目资料；</a:t>
            </a:r>
          </a:p>
          <a:p/>
          <a:p>
            <a:r>
              <a:t>三层完整90项清单：</a:t>
            </a:r>
          </a:p>
          <a:p>
            <a:r>
              <a:t>圆心·通用层（22项）</a:t>
            </a:r>
          </a:p>
          <a:p>
            <a:r>
              <a:t>定义：命中该要素的条目覆盖 ≥4 个人才类别（跨岗位通用）</a:t>
            </a:r>
          </a:p>
          <a:p>
            <a:r>
              <a:t>新-智能-05 班组协作能力(覆盖4类)；新-技术-02 CAD三维建模与仿真能力(覆盖4类)；新-技术-04 技术方案落地能力(覆盖5类)；新-技术-05 研发项目推进能力(覆盖4类)；新-技术-07 技术创新能力(覆盖5类)；新-数字-05 跨部门数字化协同能力(覆盖4类)；新-数字-06 数字化需求挖掘能力(覆盖4类)；新-跨界-02 跨域项目管理能力(覆盖4类)；新-跨界-07 跨域问题协调能力(覆盖5类)；旧-智能-06 团队协作能力(覆盖5类)；旧-智能-08 沟通表达能力(覆盖5类)；旧-智能-09 组织协调能力(覆盖5类)；旧-技术-06 项目管理能力(覆盖4类)；旧-技术-07 方案设计能力(覆盖5类)；旧-技术-08 分析能力(覆盖5类)；旧-技术-09 设计能力(覆盖5类)；旧-数字-09 统筹规划能力(覆盖5类)；旧-跨界-05 项目管理能力(覆盖4类)；旧-跨界-09 统筹规划能力(覆盖5类)；旧-战略-04 项目管理能力(覆盖4类)；旧-战略-05 部门协作能力(覆盖4类)；旧-战略-07 组织协调能力(覆盖5类)</a:t>
            </a:r>
          </a:p>
          <a:p/>
          <a:p>
            <a:r>
              <a:t>中间·产业背景层（48项）</a:t>
            </a:r>
          </a:p>
          <a:p>
            <a:r>
              <a:t>定义：命中该要素的条目覆盖 2—3 个人才类别</a:t>
            </a:r>
          </a:p>
          <a:p>
            <a:r>
              <a:t>新-智能-01 智能化设备操作能力(覆盖2类)；新-智能-02 ERP生产模块操作能力(覆盖3类)；新-智能-03 CAD图纸解读能力(覆盖3类)；新-智能-04 生产数据复盘能力(覆盖2类)；新-智能-06 现场沟通能力(覆盖2类)；新-智能-07 设备适配能力(覆盖3类)；新-智能-08 实操学习能力(覆盖3类)；新-智能-09 现场应变能力(覆盖3类)；新-技术-01 Python研发数据分析能力(覆盖3类)；新-技术-06 技术沟通能力(覆盖3类)；新-技术-08 复杂问题拆解能力(覆盖2类)；新-技术-09 技术沉淀能力(覆盖2类)；新-数字-01 Excel高级数据建模能力(覆盖3类)；新-数字-03 数字化报表制作能力(覆盖3类)；新-数字-07 数字化统筹能力(覆盖2类)；新-数字-08 数据决策能力(覆盖3类)；新-跨界-04 跨域项目统筹能力(覆盖2类)；新-跨界-05 跨域沟通适配能力(覆盖3类)；新-跨界-09 跨域认知能力(覆盖2类)；新-战略-07 战略落地推动能力(覆盖3类)；新-战略-09 战略洞察能力(覆盖3类)；旧-智能-01 Excel操作能力(覆盖3类)；旧-智能-02 GMP合规能力(覆盖2类)；旧-智能-03 Office综合应用能力(覆盖3类)；旧-智能-04 SOP执行能力(覆盖3类)；旧-智能-07 知识培训能力(覆盖3类)；旧-技术-01 CAD设计能力(覆盖2类)；旧-技术-02 PLC编程能力(覆盖2类)；旧-技术-03 SolidWorks建模能力(覆盖2类)；旧-技术-04 GMP技术应用能力(覆盖2类)；旧-技术-05 技术支持能力(覆盖2类)；旧-数字-01 GMP管理能力(覆盖2类)；旧-数字-02 ERP操作能力(覆盖3类)；旧-数字-03 Excel数据分析能力(覆盖3类)；旧-数字-04 SOP管理能力(覆盖3类)；旧-数字-05 团队管理能力(覆盖3类)；旧-数字-07 市场调研能力(覆盖3类)；旧-数字-08 管理能力(覆盖3类)；旧-跨界-01 数控机床操作能力(覆盖2类)；旧-跨界-04 SOP执行能力(覆盖3类)；旧-跨界-06 市场推广能力(覆盖2类)；旧-跨界-08 管理能力(覆盖3类)；旧-战略-01 GMP战略管理能力(覆盖2类)；旧-战略-02 SOP体系建设能力(覆盖3类)；旧-战略-03 团队管理能力(覆盖3类)；旧-战略-06 领导力(覆盖3类)；旧-战略-08 开拓能力(覆盖2类)；旧-战略-09 问题解决能力(覆盖3类)</a:t>
            </a:r>
          </a:p>
          <a:p/>
          <a:p>
            <a:r>
              <a:t>外层·岗位专有层（20项）</a:t>
            </a:r>
          </a:p>
          <a:p>
            <a:r>
              <a:t>定义：命中该要素的条目仅覆盖 0—1 个人才类别</a:t>
            </a:r>
          </a:p>
          <a:p>
            <a:r>
              <a:t>新-技术-03 Linux研发环境搭建能力(覆盖1类)；新-数字-02 ERP系统深度应用能力(覆盖0类)；新-数字-04 数字化团队管理能力(覆盖0类)；新-数字-09 数字化工具推广能力(覆盖1类)；新-跨界-01 跨域视觉设计能力(覆盖0类)；新-跨界-03 Python跨域数据整合能力(覆盖0类)；新-跨界-06 跨域价值挖掘能力(覆盖0类)；新-跨界-08 资源整合能力(覆盖1类)；新-战略-01 机器人技术战略应用能力(覆盖1类)；新-战略-02 ERP系统战略优化能力(覆盖0类)；新-战略-03 数字化战略落地能力(覆盖0类)；新-战略-04 高层团队引领能力(覆盖0类)；新-战略-05 跨企业战略协同能力(覆盖0类)；新-战略-06 战略风险管控能力(覆盖0类)；新-战略-08 资源布局能力(覆盖0类)；旧-智能-05 学术推广能力(覆盖0类)；旧-数字-06 销售管理能力(覆盖0类)；旧-跨界-02 GCP合规能力(覆盖0类)；旧-跨界-03 PMP项目管理能力(覆盖1类)；旧-跨界-07 客户开发能力(覆盖1类)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1500"/>
            <a:ext cx="18288000" cy="9715500"/>
          </a:xfrm>
          <a:gradFill>
            <a:gsLst>
              <a:gs pos="0">
                <a:srgbClr val="0A2540"/>
              </a:gs>
              <a:gs pos="100000">
                <a:srgbClr val="123A5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93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143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2286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429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572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715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6858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001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9144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0287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11430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2573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3716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4859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6002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7145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8288000" y="571500"/>
            <a:ext cx="0" cy="872490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0" y="914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0" y="2057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0" y="3200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0" y="4343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0" y="5486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0" y="6629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0" y="7772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0" y="8915400"/>
            <a:ext cx="18288000" cy="0"/>
          </a:xfrm>
          <a:prstGeom prst="line">
            <a:avLst/>
          </a:prstGeom>
          <a:ln w="6350">
            <a:solidFill>
              <a:srgbClr val="183E5C"/>
            </a:solidFill>
          </a:ln>
          <a:effectLst/>
        </p:spPr>
      </p:cxnSp>
      <p:sp>
        <p:nvSpPr>
          <p:cNvPr id="37" name="Oval 36"/>
          <p:cNvSpPr/>
          <p:nvPr/>
        </p:nvSpPr>
        <p:spPr>
          <a:xfrm>
            <a:off x="-762000" y="-1428750"/>
            <a:ext cx="6858000" cy="6858000"/>
          </a:xfrm>
          <a:prstGeom prst="ellipse">
            <a:avLst/>
          </a:prstGeom>
          <a:solidFill>
            <a:srgbClr val="00C2D1">
              <a:alpha val="2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0" y="-666750"/>
            <a:ext cx="5334000" cy="5334000"/>
          </a:xfrm>
          <a:prstGeom prst="ellipse">
            <a:avLst/>
          </a:prstGeom>
          <a:solidFill>
            <a:srgbClr val="00C2D1">
              <a:alpha val="2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2000" y="95250"/>
            <a:ext cx="3810000" cy="3810000"/>
          </a:xfrm>
          <a:prstGeom prst="ellipse">
            <a:avLst/>
          </a:prstGeom>
          <a:solidFill>
            <a:srgbClr val="00C2D1">
              <a:alpha val="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29450" y="2209800"/>
            <a:ext cx="4229100" cy="457200"/>
          </a:xfrm>
          <a:prstGeom prst="roundRect">
            <a:avLst>
              <a:gd name="adj" fmla="val 16666"/>
            </a:avLst>
          </a:prstGeom>
          <a:solidFill>
            <a:srgbClr val="1747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05650" y="2228850"/>
            <a:ext cx="407669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FE0E8"/>
                </a:solidFill>
                <a:latin typeface="Noto Sans CJK SC"/>
                <a:ea typeface="Noto Sans CJK SC"/>
              </a:rPr>
              <a:t>企业专家验证 · 交流稿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8750" y="3286125"/>
            <a:ext cx="154305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Noto Sans CJK SC"/>
                <a:ea typeface="Noto Sans CJK SC"/>
              </a:rPr>
              <a:t>基于胜任力模型的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Noto Sans CJK SC"/>
                <a:ea typeface="Noto Sans CJK SC"/>
              </a:rPr>
              <a:t>先进制造业人才标准框架与体系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81250" y="5581650"/>
            <a:ext cx="13525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C2D1"/>
                </a:solidFill>
                <a:latin typeface="Noto Sans CJK SC"/>
                <a:ea typeface="Noto Sans CJK SC"/>
              </a:rPr>
              <a:t>立白科技调研座谈会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250" y="6715125"/>
            <a:ext cx="28575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428750" y="8401050"/>
            <a:ext cx="14192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</a:rPr>
              <a:t>广东工业大学管理学院  |  粤来粤好队  |  汇报人：罗琳  |  2026年10月09日</a:t>
            </a:r>
          </a:p>
        </p:txBody>
      </p:sp>
      <p:sp>
        <p:nvSpPr>
          <p:cNvPr id="46" name="Oval 45"/>
          <p:cNvSpPr/>
          <p:nvPr/>
        </p:nvSpPr>
        <p:spPr>
          <a:xfrm>
            <a:off x="15868650" y="8467725"/>
            <a:ext cx="628650" cy="6286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exec-7ea0c041-660a-4e39-951e-eb2d527afb9f.png"/>
          <p:cNvPicPr>
            <a:picLocks noChangeAspect="1"/>
          </p:cNvPicPr>
          <p:nvPr/>
        </p:nvPicPr>
        <p:blipFill>
          <a:blip r:embed="rId3"/>
          <a:srcRect l="55000" r="8300" t="3400" b="3800"/>
          <a:stretch>
            <a:fillRect/>
          </a:stretch>
        </p:blipFill>
        <p:spPr>
          <a:xfrm>
            <a:off x="15906749" y="8505825"/>
            <a:ext cx="552450" cy="552450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16725900" y="8467725"/>
            <a:ext cx="628650" cy="6286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763999" y="8505825"/>
            <a:ext cx="552450" cy="55245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500"/>
                      <p:tgtEl>
                        <p:spTgt spid="4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500"/>
                      <p:tgtEl>
                        <p:spTgt spid="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500"/>
                      <p:tgtEl>
                        <p:spTgt spid="7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500"/>
                      <p:tgtEl>
                        <p:spTgt spid="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93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介绍模型，请您验证，共同判断模型是否成立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02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52500" y="3143250"/>
            <a:ext cx="51816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500" y="3352800"/>
            <a:ext cx="38100" cy="190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19200" y="340042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362075" y="3495675"/>
            <a:ext cx="14287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504950" y="3495675"/>
            <a:ext cx="47625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1552575" y="3543300"/>
            <a:ext cx="0" cy="219074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>
            <a:off x="1362075" y="3762374"/>
            <a:ext cx="1905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1362075" y="3495675"/>
            <a:ext cx="0" cy="2666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504950" y="3495675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504950" y="3543300"/>
            <a:ext cx="476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400175" y="3600450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400175" y="3657600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400175" y="3714750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1847850" y="3371850"/>
            <a:ext cx="40386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介绍模型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0" y="4114800"/>
            <a:ext cx="4648200" cy="1162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怎么来 · 为什么这样分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一页看清整体框架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200" y="3143250"/>
            <a:ext cx="51816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53200" y="3352800"/>
            <a:ext cx="38100" cy="190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19900" y="340042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15150" y="3495675"/>
            <a:ext cx="266700" cy="2667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972300" y="3629025"/>
            <a:ext cx="57150" cy="5715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7029450" y="3571875"/>
            <a:ext cx="104775" cy="1143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7448550" y="3371850"/>
            <a:ext cx="40386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请您验证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9900" y="4114800"/>
            <a:ext cx="4648200" cy="1162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分类 · 能力 · 分级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差异 · 总图 · 缺失项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153900" y="3143250"/>
            <a:ext cx="51816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153900" y="3352800"/>
            <a:ext cx="38100" cy="1905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420600" y="340042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592050" y="3495675"/>
            <a:ext cx="114300" cy="1143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2534900" y="3714750"/>
            <a:ext cx="0" cy="47624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12534900" y="3667125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2592050" y="3667125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2706350" y="3667125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12763500" y="3714750"/>
            <a:ext cx="0" cy="47624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3049250" y="3371850"/>
            <a:ext cx="40386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提供反馈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420600" y="4114800"/>
            <a:ext cx="4648200" cy="1162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现场评分 + 实际案例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佐证判断 + 修改建议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2500" y="6219825"/>
            <a:ext cx="16383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用真实岗位经验，校准模型的适用边界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2500" y="7600950"/>
            <a:ext cx="16383000" cy="1076325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228725" y="7896224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04925" y="7915275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3A4A"/>
                </a:solidFill>
                <a:latin typeface="Noto Sans CJK SC"/>
                <a:ea typeface="Noto Sans CJK SC"/>
              </a:rPr>
              <a:t>分类  1—5分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33824" y="7896224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10025" y="7915275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3A4A"/>
                </a:solidFill>
                <a:latin typeface="Noto Sans CJK SC"/>
                <a:ea typeface="Noto Sans CJK SC"/>
              </a:rPr>
              <a:t>能力  1—5分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38925" y="7896224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15125" y="7915275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3A4A"/>
                </a:solidFill>
                <a:latin typeface="Noto Sans CJK SC"/>
                <a:ea typeface="Noto Sans CJK SC"/>
              </a:rPr>
              <a:t>分级  1—5分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44025" y="7896224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20225" y="7915275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3A4A"/>
                </a:solidFill>
                <a:latin typeface="Noto Sans CJK SC"/>
                <a:ea typeface="Noto Sans CJK SC"/>
              </a:rPr>
              <a:t>差异  1—5分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049125" y="7896224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125325" y="7915275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3A4A"/>
                </a:solidFill>
                <a:latin typeface="Noto Sans CJK SC"/>
                <a:ea typeface="Noto Sans CJK SC"/>
              </a:rPr>
              <a:t>总图  1—5分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754225" y="7896224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830425" y="7915275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3A4A"/>
                </a:solidFill>
                <a:latin typeface="Noto Sans CJK SC"/>
                <a:ea typeface="Noto Sans CJK SC"/>
              </a:rPr>
              <a:t>缺失项  1—5分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7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7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8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9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93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人才标准成为竞争变量，四类瓶颈需要系统回应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03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52500" y="2952750"/>
            <a:ext cx="53340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500" y="3162300"/>
            <a:ext cx="38100" cy="41529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57300" y="329565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43025" y="348615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52575" y="348615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419225" y="3524250"/>
            <a:ext cx="1333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504950" y="348615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1504950" y="352425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1257300" y="4171950"/>
            <a:ext cx="4667250" cy="1238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2540"/>
                </a:solidFill>
                <a:latin typeface="Noto Sans CJK SC"/>
                <a:ea typeface="Noto Sans CJK SC"/>
              </a:rPr>
              <a:t>技术迭代加速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2540"/>
                </a:solidFill>
                <a:latin typeface="Noto Sans CJK SC"/>
                <a:ea typeface="Noto Sans CJK SC"/>
              </a:rPr>
              <a:t>人才能力同步重构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" y="5981700"/>
            <a:ext cx="4667250" cy="904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3A4A"/>
                </a:solidFill>
                <a:latin typeface="Noto Sans CJK SC"/>
                <a:ea typeface="Noto Sans CJK SC"/>
              </a:rPr>
              <a:t>从“岗位有人”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3A4A"/>
                </a:solidFill>
                <a:latin typeface="Noto Sans CJK SC"/>
                <a:ea typeface="Noto Sans CJK SC"/>
              </a:rPr>
              <a:t>走向“能力匹配”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952750"/>
            <a:ext cx="51244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162300"/>
            <a:ext cx="38100" cy="17526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24700" y="3209925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96150" y="3305175"/>
            <a:ext cx="114300" cy="1143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7239000" y="3524250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7239000" y="3476625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7296150" y="3476625"/>
            <a:ext cx="114299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7410449" y="3476625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7467599" y="3524250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753349" y="3181350"/>
            <a:ext cx="39814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关键人才不足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4700" y="3924300"/>
            <a:ext cx="45910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高端领军 · 核心技术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供给速度跟不上业务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11050" y="2952750"/>
            <a:ext cx="51244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211050" y="3162300"/>
            <a:ext cx="38100" cy="17526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477750" y="3209925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2582525" y="3552825"/>
            <a:ext cx="2476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2582525" y="3314700"/>
            <a:ext cx="0" cy="2381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12639675" y="3457575"/>
            <a:ext cx="0" cy="762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2715875" y="3390900"/>
            <a:ext cx="0" cy="14287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12792075" y="3333750"/>
            <a:ext cx="0" cy="2000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13106400" y="3181350"/>
            <a:ext cx="39814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能力结构错配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77750" y="3924300"/>
            <a:ext cx="45910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岗位升级 · 技能滞后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数字能力与工艺脱节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5353050"/>
            <a:ext cx="51244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0" y="5562600"/>
            <a:ext cx="38100" cy="17526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124700" y="5610225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19950" y="5705475"/>
            <a:ext cx="266700" cy="2667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277100" y="5838825"/>
            <a:ext cx="57150" cy="5715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7334250" y="5781675"/>
            <a:ext cx="104774" cy="1143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7753349" y="5581650"/>
            <a:ext cx="39814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评价依据不足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4700" y="6324600"/>
            <a:ext cx="45910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重学历资历 · 轻行为证据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绩效与能力缺少连接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211050" y="5353050"/>
            <a:ext cx="51244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211050" y="5562600"/>
            <a:ext cx="38100" cy="17526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2477750" y="5610225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563475" y="5800725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773025" y="5800725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639675" y="5838825"/>
            <a:ext cx="1333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12725400" y="5800725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12725400" y="5838825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13106400" y="5581650"/>
            <a:ext cx="39814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培养对接不足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477750" y="6324600"/>
            <a:ext cx="45910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课程更新慢 · 实践不足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培养到上岗存在断层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2500" y="8248650"/>
            <a:ext cx="163830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2500" y="8458200"/>
            <a:ext cx="38100" cy="1905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00150" y="8305800"/>
            <a:ext cx="158591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A4A"/>
                </a:solidFill>
                <a:latin typeface="Noto Sans CJK SC"/>
                <a:ea typeface="Noto Sans CJK SC"/>
              </a:rPr>
              <a:t>请立白专家：选出最突出的一项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4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5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4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5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5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5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93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339,694 条招聘信息与五类方法，共同支撑建模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04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500" y="2733675"/>
            <a:ext cx="5619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五类方法 · 交叉验证</a:t>
            </a:r>
          </a:p>
        </p:txBody>
      </p:sp>
      <p:sp>
        <p:nvSpPr>
          <p:cNvPr id="16" name="Oval 15"/>
          <p:cNvSpPr/>
          <p:nvPr/>
        </p:nvSpPr>
        <p:spPr>
          <a:xfrm>
            <a:off x="1047749" y="347662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90625" y="3571875"/>
            <a:ext cx="14287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333500" y="3571875"/>
            <a:ext cx="47625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381125" y="3619500"/>
            <a:ext cx="0" cy="21907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H="1">
            <a:off x="1190625" y="3838575"/>
            <a:ext cx="1905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1190625" y="3571875"/>
            <a:ext cx="0" cy="2667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1333500" y="3571875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333500" y="3619500"/>
            <a:ext cx="476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228725" y="3676649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228725" y="3733799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228725" y="3790949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1762125" y="3448050"/>
            <a:ext cx="4476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文献研究</a:t>
            </a:r>
          </a:p>
        </p:txBody>
      </p:sp>
      <p:sp>
        <p:nvSpPr>
          <p:cNvPr id="28" name="Oval 27"/>
          <p:cNvSpPr/>
          <p:nvPr/>
        </p:nvSpPr>
        <p:spPr>
          <a:xfrm>
            <a:off x="1047749" y="429577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19200" y="4391025"/>
            <a:ext cx="114300" cy="1143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1162050" y="4610100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1162050" y="4562475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1219200" y="4562475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333500" y="4562475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390650" y="4610100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1762125" y="4267200"/>
            <a:ext cx="4476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行为事件访谈</a:t>
            </a:r>
          </a:p>
        </p:txBody>
      </p:sp>
      <p:sp>
        <p:nvSpPr>
          <p:cNvPr id="36" name="Oval 35"/>
          <p:cNvSpPr/>
          <p:nvPr/>
        </p:nvSpPr>
        <p:spPr>
          <a:xfrm>
            <a:off x="1047749" y="511492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3000" y="5210175"/>
            <a:ext cx="266700" cy="2667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200150" y="5343525"/>
            <a:ext cx="57150" cy="5715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1257300" y="5286375"/>
            <a:ext cx="104775" cy="1143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1762125" y="5086350"/>
            <a:ext cx="4476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德尔菲</a:t>
            </a:r>
          </a:p>
        </p:txBody>
      </p:sp>
      <p:sp>
        <p:nvSpPr>
          <p:cNvPr id="41" name="Oval 40"/>
          <p:cNvSpPr/>
          <p:nvPr/>
        </p:nvSpPr>
        <p:spPr>
          <a:xfrm>
            <a:off x="1047749" y="593407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3475" y="6124575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43025" y="6124575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209675" y="6162675"/>
            <a:ext cx="1333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295400" y="6124575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295400" y="6162675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762125" y="5905500"/>
            <a:ext cx="4476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比较分析</a:t>
            </a:r>
          </a:p>
        </p:txBody>
      </p:sp>
      <p:sp>
        <p:nvSpPr>
          <p:cNvPr id="48" name="Oval 47"/>
          <p:cNvSpPr/>
          <p:nvPr/>
        </p:nvSpPr>
        <p:spPr>
          <a:xfrm>
            <a:off x="1047749" y="6753225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52525" y="7096125"/>
            <a:ext cx="2476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152525" y="6858000"/>
            <a:ext cx="0" cy="2381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1209675" y="7000875"/>
            <a:ext cx="0" cy="762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285875" y="6934200"/>
            <a:ext cx="0" cy="14287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1362075" y="6877050"/>
            <a:ext cx="0" cy="2000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1762125" y="6724650"/>
            <a:ext cx="4476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大数据分析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20000" y="2714625"/>
            <a:ext cx="9715500" cy="1381125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20000" y="2924175"/>
            <a:ext cx="38100" cy="9620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15275" y="2867025"/>
            <a:ext cx="41909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A73E8"/>
                </a:solidFill>
                <a:latin typeface="Barlow Semi Condensed"/>
                <a:ea typeface="Noto Sans CJK SC"/>
              </a:rPr>
              <a:t>339,694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77750" y="3105150"/>
            <a:ext cx="45720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有效招聘信息 · 总样本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20000" y="4324350"/>
            <a:ext cx="9715500" cy="1381125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20000" y="4533900"/>
            <a:ext cx="38100" cy="9620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15275" y="4476750"/>
            <a:ext cx="41909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A73E8"/>
                </a:solidFill>
                <a:latin typeface="Barlow Semi Condensed"/>
                <a:ea typeface="Noto Sans CJK SC"/>
              </a:rPr>
              <a:t>290,635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77750" y="4714875"/>
            <a:ext cx="45720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新型先进制造业 · 85.6%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20000" y="5934075"/>
            <a:ext cx="9715500" cy="1381125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20000" y="6143625"/>
            <a:ext cx="38100" cy="962024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15275" y="6086475"/>
            <a:ext cx="41909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00C2D1"/>
                </a:solidFill>
                <a:latin typeface="Barlow Semi Condensed"/>
                <a:ea typeface="Noto Sans CJK SC"/>
              </a:rPr>
              <a:t>49,059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477750" y="6324600"/>
            <a:ext cx="45720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旧型先进制造业 · 14.4%</a:t>
            </a:r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7600950" y="7591425"/>
          <a:ext cx="9744075" cy="2571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8" name="Rounded Rectangle 67"/>
          <p:cNvSpPr/>
          <p:nvPr/>
        </p:nvSpPr>
        <p:spPr>
          <a:xfrm>
            <a:off x="952500" y="8334375"/>
            <a:ext cx="163830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2500" y="8543925"/>
            <a:ext cx="38100" cy="1905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00150" y="8391525"/>
            <a:ext cx="158591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新型重技术创新，旧型重沟通表达——两类产业能力要求呈现不同侧重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资料：主报告招聘数据分析；具体差异需结合岗位功能判断。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5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4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4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7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5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5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5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5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1500"/>
            <a:ext cx="18288000" cy="9715500"/>
          </a:xfrm>
          <a:gradFill>
            <a:gsLst>
              <a:gs pos="0">
                <a:srgbClr val="0A2540"/>
              </a:gs>
              <a:gs pos="100000">
                <a:srgbClr val="123A5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独立编码与分歧裁定，让每项能力可追溯、可复核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05</a:t>
            </a:r>
          </a:p>
        </p:txBody>
      </p:sp>
      <p:sp>
        <p:nvSpPr>
          <p:cNvPr id="14" name="Oval 13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500" y="2714625"/>
            <a:ext cx="76200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条目 × 要素，形成编码矩阵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500" y="3514725"/>
            <a:ext cx="7620000" cy="1171575"/>
          </a:xfrm>
          <a:prstGeom prst="roundRect">
            <a:avLst>
              <a:gd name="adj" fmla="val 13008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9675" y="3762374"/>
            <a:ext cx="7810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C2D1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1225" y="3590925"/>
            <a:ext cx="4105274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Barlow Semi Condensed"/>
                <a:ea typeface="Noto Sans CJK SC"/>
              </a:rPr>
              <a:t>12,416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3650" y="3810000"/>
            <a:ext cx="1971675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7D7E4"/>
                </a:solidFill>
                <a:latin typeface="Noto Sans CJK SC"/>
                <a:ea typeface="Noto Sans CJK SC"/>
              </a:rPr>
              <a:t>能力条目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500" y="4895850"/>
            <a:ext cx="7620000" cy="1171575"/>
          </a:xfrm>
          <a:prstGeom prst="roundRect">
            <a:avLst>
              <a:gd name="adj" fmla="val 13008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9675" y="5143500"/>
            <a:ext cx="7810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C2D1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1225" y="4972050"/>
            <a:ext cx="4105274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Barlow Semi Condensed"/>
                <a:ea typeface="Noto Sans CJK SC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3650" y="5191125"/>
            <a:ext cx="1971675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7D7E4"/>
                </a:solidFill>
                <a:latin typeface="Noto Sans CJK SC"/>
                <a:ea typeface="Noto Sans CJK SC"/>
              </a:rPr>
              <a:t>初始要素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500" y="6276975"/>
            <a:ext cx="7620000" cy="1171575"/>
          </a:xfrm>
          <a:prstGeom prst="roundRect">
            <a:avLst>
              <a:gd name="adj" fmla="val 13008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9675" y="6524625"/>
            <a:ext cx="7810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C2D1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1225" y="6353175"/>
            <a:ext cx="4105274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Barlow Semi Condensed"/>
                <a:ea typeface="Noto Sans CJK SC"/>
              </a:rPr>
              <a:t>1,117,440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3650" y="6572250"/>
            <a:ext cx="1971675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7D7E4"/>
                </a:solidFill>
                <a:latin typeface="Noto Sans CJK SC"/>
                <a:ea typeface="Noto Sans CJK SC"/>
              </a:rPr>
              <a:t>编码单元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4500" y="2857500"/>
            <a:ext cx="8001000" cy="4591050"/>
          </a:xfrm>
          <a:prstGeom prst="roundRect">
            <a:avLst>
              <a:gd name="adj" fmla="val 331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5500" y="3143250"/>
            <a:ext cx="7239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Kappa · 编码一致性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0" y="3914775"/>
            <a:ext cx="7239000" cy="1609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FF8A3D"/>
                </a:solidFill>
                <a:latin typeface="Barlow Semi Condensed"/>
                <a:ea typeface="Noto Sans CJK SC"/>
              </a:rPr>
              <a:t>0.900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0" y="5857875"/>
            <a:ext cx="685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7D7E4"/>
                </a:solidFill>
                <a:latin typeface="Barlow Semi Condensed"/>
                <a:ea typeface="Noto Sans CJK SC"/>
              </a:rPr>
              <a:t>Po 0.9979   /   Pe 0.9787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2500" y="7905750"/>
            <a:ext cx="8001000" cy="895350"/>
          </a:xfrm>
          <a:prstGeom prst="roundRect">
            <a:avLst>
              <a:gd name="adj" fmla="val 17021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9675" y="7981949"/>
            <a:ext cx="2190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0C2D1"/>
                </a:solidFill>
                <a:latin typeface="Barlow Semi Condensed"/>
                <a:ea typeface="Noto Sans CJK SC"/>
              </a:rPr>
              <a:t>2,376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0" y="8086725"/>
            <a:ext cx="48101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对分歧 · 第三人裁定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34500" y="7905750"/>
            <a:ext cx="8001000" cy="895350"/>
          </a:xfrm>
          <a:prstGeom prst="roundRect">
            <a:avLst>
              <a:gd name="adj" fmla="val 17021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91675" y="7981949"/>
            <a:ext cx="2190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0C2D1"/>
                </a:solidFill>
                <a:latin typeface="Barlow Semi Condensed"/>
                <a:ea typeface="Noto Sans CJK SC"/>
              </a:rPr>
              <a:t>11,377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92000" y="8086725"/>
            <a:ext cx="481012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对最终命中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编码方法示意，正式结果以主报告为准。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4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1500"/>
            <a:ext cx="18288000" cy="9715500"/>
          </a:xfrm>
          <a:gradFill>
            <a:gsLst>
              <a:gs pos="0">
                <a:srgbClr val="0A2540"/>
              </a:gs>
              <a:gs pos="100000">
                <a:srgbClr val="123A5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三轮收敛聚焦关键要素，三层框架区分适用范围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06</a:t>
            </a:r>
          </a:p>
        </p:txBody>
      </p:sp>
      <p:sp>
        <p:nvSpPr>
          <p:cNvPr id="14" name="Oval 13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500" y="2790825"/>
            <a:ext cx="7620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要素收敛 · 从 90 项到 73 项</a:t>
            </a:r>
          </a:p>
        </p:txBody>
      </p:sp>
      <p:sp>
        <p:nvSpPr>
          <p:cNvPr id="17" name="Freeform 16"/>
          <p:cNvSpPr/>
          <p:nvPr/>
        </p:nvSpPr>
        <p:spPr>
          <a:xfrm>
            <a:off x="1619250" y="3724275"/>
            <a:ext cx="6191250" cy="1228725"/>
          </a:xfrm>
          <a:custGeom>
            <a:avLst/>
            <a:gdLst/>
            <a:ahLst/>
            <a:cxnLst/>
            <a:rect l="l" t="t" r="r" b="b"/>
            <a:pathLst>
              <a:path w="650" h="129">
                <a:moveTo>
                  <a:pt x="0" y="0"/>
                </a:moveTo>
                <a:lnTo>
                  <a:pt x="650" y="0"/>
                </a:lnTo>
                <a:lnTo>
                  <a:pt x="585" y="129"/>
                </a:lnTo>
                <a:lnTo>
                  <a:pt x="65" y="129"/>
                </a:lnTo>
                <a:close/>
              </a:path>
            </a:pathLst>
          </a:cu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238375" y="5153025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520" h="100">
                <a:moveTo>
                  <a:pt x="0" y="0"/>
                </a:moveTo>
                <a:lnTo>
                  <a:pt x="520" y="0"/>
                </a:lnTo>
                <a:lnTo>
                  <a:pt x="465" y="100"/>
                </a:lnTo>
                <a:lnTo>
                  <a:pt x="55" y="100"/>
                </a:lnTo>
                <a:close/>
              </a:path>
            </a:pathLst>
          </a:cu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762250" y="6305550"/>
            <a:ext cx="3905250" cy="1152525"/>
          </a:xfrm>
          <a:custGeom>
            <a:avLst/>
            <a:gdLst/>
            <a:ahLst/>
            <a:cxnLst/>
            <a:rect l="l" t="t" r="r" b="b"/>
            <a:pathLst>
              <a:path w="410" h="121">
                <a:moveTo>
                  <a:pt x="0" y="0"/>
                </a:moveTo>
                <a:lnTo>
                  <a:pt x="410" y="0"/>
                </a:lnTo>
                <a:lnTo>
                  <a:pt x="369" y="121"/>
                </a:lnTo>
                <a:lnTo>
                  <a:pt x="41" y="121"/>
                </a:lnTo>
                <a:close/>
              </a:path>
            </a:pathLst>
          </a:cu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810000"/>
            <a:ext cx="4857750" cy="1038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A2540"/>
                </a:solidFill>
                <a:latin typeface="Barlow Semi Condensed"/>
                <a:ea typeface="Noto Sans CJK SC"/>
              </a:rPr>
              <a:t>90 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6500" y="5286375"/>
            <a:ext cx="4286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2540"/>
                </a:solidFill>
                <a:latin typeface="Barlow Semi Condensed"/>
                <a:ea typeface="Noto Sans CJK SC"/>
              </a:rPr>
              <a:t>剔除 17 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0" y="6419850"/>
            <a:ext cx="37147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Barlow Semi Condensed"/>
                <a:ea typeface="Noto Sans CJK SC"/>
              </a:rPr>
              <a:t>保留 73 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7562850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同义整理  →  低频剔除  →  结构收敛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0" y="2790825"/>
            <a:ext cx="7620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适用范围 · 通用、产业、岗位</a:t>
            </a:r>
          </a:p>
        </p:txBody>
      </p:sp>
      <p:sp>
        <p:nvSpPr>
          <p:cNvPr id="25" name="Oval 24"/>
          <p:cNvSpPr/>
          <p:nvPr/>
        </p:nvSpPr>
        <p:spPr>
          <a:xfrm>
            <a:off x="11601450" y="3629025"/>
            <a:ext cx="3848099" cy="3848099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178665" y="4206240"/>
            <a:ext cx="2693669" cy="2693669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755880" y="4783455"/>
            <a:ext cx="1539240" cy="153924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775120" y="5229225"/>
            <a:ext cx="150075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通用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17145" y="4360164"/>
            <a:ext cx="2616708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产业背景 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70817" y="6938391"/>
            <a:ext cx="3309366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岗位专有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0" y="7705725"/>
            <a:ext cx="7620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7D7E4"/>
                </a:solidFill>
                <a:latin typeface="Noto Sans CJK SC"/>
                <a:ea typeface="Noto Sans CJK SC"/>
              </a:rPr>
              <a:t>22 + 48 + 20 = 90 · 候选要素分层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2500" y="8353424"/>
            <a:ext cx="16383000" cy="609600"/>
          </a:xfrm>
          <a:prstGeom prst="roundRect">
            <a:avLst>
              <a:gd name="adj" fmla="val 25000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2500" y="8562975"/>
            <a:ext cx="38100" cy="1905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0150" y="8410575"/>
            <a:ext cx="158591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90 行单调性校验通过，无倒挂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编码方法示意，正式结果以主报告为准。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技术内核不同，能力要求需要差异化配置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07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52500" y="2933700"/>
            <a:ext cx="8001000" cy="4572000"/>
          </a:xfrm>
          <a:prstGeom prst="roundRect">
            <a:avLst>
              <a:gd name="adj" fmla="val 3333"/>
            </a:avLst>
          </a:prstGeom>
          <a:solidFill>
            <a:srgbClr val="F0F6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95400" y="327660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81125" y="346710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90675" y="346710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457325" y="3505200"/>
            <a:ext cx="1333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1543050" y="346710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1543050" y="350520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009774" y="3190875"/>
            <a:ext cx="619125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A2540"/>
                </a:solidFill>
                <a:latin typeface="Noto Sans CJK SC"/>
                <a:ea typeface="Noto Sans CJK SC"/>
              </a:rPr>
              <a:t>新型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400" y="4229100"/>
            <a:ext cx="7315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A73E8"/>
                </a:solidFill>
                <a:latin typeface="Noto Sans CJK SC"/>
                <a:ea typeface="Noto Sans CJK SC"/>
              </a:rPr>
              <a:t>数字与信息技术内核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0" y="5248275"/>
            <a:ext cx="73152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信息技术 · 自动化 · 软件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400" y="5886450"/>
            <a:ext cx="73152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传感 · 网络 · 系统整合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400" y="6524625"/>
            <a:ext cx="73152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数字化 · 跨领域协同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34500" y="2933700"/>
            <a:ext cx="8001000" cy="4572000"/>
          </a:xfrm>
          <a:prstGeom prst="roundRect">
            <a:avLst>
              <a:gd name="adj" fmla="val 3333"/>
            </a:avLst>
          </a:prstGeom>
          <a:solidFill>
            <a:srgbClr val="ECFBFC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77400" y="3276600"/>
            <a:ext cx="457200" cy="457200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63125" y="346710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72675" y="346710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839325" y="3505200"/>
            <a:ext cx="1333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9925050" y="346710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9925050" y="350520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10391775" y="3190875"/>
            <a:ext cx="619125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A2540"/>
                </a:solidFill>
                <a:latin typeface="Noto Sans CJK SC"/>
                <a:ea typeface="Noto Sans CJK SC"/>
              </a:rPr>
              <a:t>旧型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7400" y="4229100"/>
            <a:ext cx="7315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既有工艺与材料技术内核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7400" y="5248275"/>
            <a:ext cx="73152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物理 · 生物 · 化学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7400" y="5886450"/>
            <a:ext cx="73152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新材料 · 纳米 · 工艺积累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7400" y="6524625"/>
            <a:ext cx="73152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合规 · 流程 · 吸收数字化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2500" y="8201025"/>
            <a:ext cx="163830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2500" y="8410575"/>
            <a:ext cx="38100" cy="1905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00150" y="8258175"/>
            <a:ext cx="158591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同一企业可以并存两类岗位逻辑；请按核心工艺与业务功能判断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3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3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3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3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五类人才按工作功能划分，覆盖操作到战略的完整链条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08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52500" y="3095625"/>
            <a:ext cx="3086100" cy="40100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0150" y="333375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324350"/>
            <a:ext cx="25717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智能制造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操作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5676900"/>
            <a:ext cx="2571750" cy="1047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设备操作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参数控制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现场协作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6725" y="3095625"/>
            <a:ext cx="3086100" cy="40100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4375" y="333375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375" y="4324350"/>
            <a:ext cx="25717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75" y="5676900"/>
            <a:ext cx="2571750" cy="1047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技术创新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研发验证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成果转化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0950" y="3095625"/>
            <a:ext cx="3086100" cy="40100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8600" y="333375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4324350"/>
            <a:ext cx="25717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数字化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600" y="5676900"/>
            <a:ext cx="2571750" cy="1047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数据治理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系统协同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流程优化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25175" y="3095625"/>
            <a:ext cx="3086100" cy="40100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2825" y="333375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73E8"/>
                </a:solidFill>
                <a:latin typeface="Barlow Semi Condensed"/>
                <a:ea typeface="Noto Sans CJK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72825" y="4324350"/>
            <a:ext cx="25717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2825" y="5676900"/>
            <a:ext cx="2571750" cy="1047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需求转译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跨域融合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项目协同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49400" y="3095625"/>
            <a:ext cx="3086100" cy="401002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97050" y="333375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A73E8"/>
                </a:solidFill>
                <a:latin typeface="Barlow Semi Condensed"/>
                <a:ea typeface="Noto Sans CJK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97050" y="4324350"/>
            <a:ext cx="25717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97050" y="5676900"/>
            <a:ext cx="2571750" cy="1047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方向判断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资源配置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战略落地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048124" y="7496174"/>
            <a:ext cx="409576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372350" y="7496174"/>
            <a:ext cx="409574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0696575" y="7496174"/>
            <a:ext cx="409575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14020800" y="7496174"/>
            <a:ext cx="409575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952500" y="7867649"/>
            <a:ext cx="163830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2540"/>
                </a:solidFill>
                <a:latin typeface="Noto Sans CJK SC"/>
                <a:ea typeface="Noto Sans CJK SC"/>
              </a:rPr>
              <a:t>技术应用  →  创新研发  →  系统管理  →  跨界融合  →  战略引领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" y="8667750"/>
            <a:ext cx="16383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功能递进是认知路径；五类不等同于单一晋升阶梯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4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硬、软、元三维能力，用三问逐项校验归属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09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52500" y="2876550"/>
            <a:ext cx="762000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2500" y="3086100"/>
            <a:ext cx="38100" cy="990599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9200" y="3038475"/>
            <a:ext cx="500062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证书 / 作品 / 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600450"/>
            <a:ext cx="60198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能否用技能成果直接验证？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67550" y="3171825"/>
            <a:ext cx="1266825" cy="47625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3750" y="3190875"/>
            <a:ext cx="111442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Noto Sans CJK SC"/>
                <a:ea typeface="Noto Sans CJK SC"/>
              </a:rPr>
              <a:t>硬技能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500" y="4495800"/>
            <a:ext cx="762000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2500" y="4705350"/>
            <a:ext cx="38100" cy="990599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9200" y="4657725"/>
            <a:ext cx="500062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互动 / 协商 / 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5219700"/>
            <a:ext cx="60198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核心是否依赖人与人协作？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67550" y="4791075"/>
            <a:ext cx="1266825" cy="47625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43750" y="4810125"/>
            <a:ext cx="111442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Noto Sans CJK SC"/>
                <a:ea typeface="Noto Sans CJK SC"/>
              </a:rPr>
              <a:t>软技能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500" y="6115050"/>
            <a:ext cx="762000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2500" y="6324600"/>
            <a:ext cx="38100" cy="990599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9200" y="6276975"/>
            <a:ext cx="500062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跨任务 / 跨情境迁移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6838950"/>
            <a:ext cx="60198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能否在变化中学习、适应与重组？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67550" y="6410325"/>
            <a:ext cx="1266825" cy="47625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3750" y="6429375"/>
            <a:ext cx="111442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Noto Sans CJK SC"/>
                <a:ea typeface="Noto Sans CJK SC"/>
              </a:rPr>
              <a:t>元技能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2876550"/>
            <a:ext cx="8001000" cy="4648200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39300" y="3067050"/>
            <a:ext cx="7391400" cy="1247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8A3D"/>
                </a:solidFill>
                <a:latin typeface="Barlow Semi Condensed"/>
                <a:ea typeface="Noto Sans CJK SC"/>
              </a:rPr>
              <a:t>90 / 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9300" y="4419600"/>
            <a:ext cx="739140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2540"/>
                </a:solidFill>
                <a:latin typeface="Noto Sans CJK SC"/>
                <a:ea typeface="Noto Sans CJK SC"/>
              </a:rPr>
              <a:t>全部纳入归属校验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172950" y="5038725"/>
            <a:ext cx="2305050" cy="419100"/>
          </a:xfrm>
          <a:prstGeom prst="roundRect">
            <a:avLst>
              <a:gd name="adj" fmla="val 18181"/>
            </a:avLst>
          </a:prstGeom>
          <a:solidFill>
            <a:srgbClr val="FFF1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49150" y="5057775"/>
            <a:ext cx="2152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8A3D"/>
                </a:solidFill>
                <a:latin typeface="Noto Sans CJK SC"/>
                <a:ea typeface="Noto Sans CJK SC"/>
              </a:rPr>
              <a:t>2 项归属不一致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7875" y="5629275"/>
            <a:ext cx="7334250" cy="828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跨域项目管理：硬技能 ↔ 元技能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团队管理（旧·战略）：硬技能 ↔ 软技能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7875" y="6858000"/>
            <a:ext cx="7334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BB0"/>
                </a:solidFill>
                <a:latin typeface="Noto Sans CJK SC"/>
                <a:ea typeface="Noto Sans CJK SC"/>
              </a:rPr>
              <a:t>按种子词典暂归类，复核后回填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500" y="8239124"/>
            <a:ext cx="163830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2500" y="8448675"/>
            <a:ext cx="38100" cy="1905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00150" y="8296274"/>
            <a:ext cx="158591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A4A"/>
                </a:solidFill>
                <a:latin typeface="Noto Sans CJK SC"/>
                <a:ea typeface="Noto Sans CJK SC"/>
              </a:rPr>
              <a:t>核心问题：三问判定法是否符合立白真实岗位任务？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编码方法示意，正式结果以主报告为准。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9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三级人才回答“谁”，三层标准回答“要求什么”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10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500" y="2686050"/>
            <a:ext cx="66675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人才角色 · 三级</a:t>
            </a:r>
          </a:p>
        </p:txBody>
      </p:sp>
      <p:sp>
        <p:nvSpPr>
          <p:cNvPr id="16" name="Freeform 15"/>
          <p:cNvSpPr/>
          <p:nvPr/>
        </p:nvSpPr>
        <p:spPr>
          <a:xfrm>
            <a:off x="2867025" y="3590925"/>
            <a:ext cx="2838450" cy="1000125"/>
          </a:xfrm>
          <a:custGeom>
            <a:avLst/>
            <a:gdLst/>
            <a:ahLst/>
            <a:cxnLst/>
            <a:rect l="l" t="t" r="r" b="b"/>
            <a:pathLst>
              <a:path w="298" h="105">
                <a:moveTo>
                  <a:pt x="79" y="0"/>
                </a:moveTo>
                <a:lnTo>
                  <a:pt x="219" y="0"/>
                </a:lnTo>
                <a:lnTo>
                  <a:pt x="298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7025" y="3705224"/>
            <a:ext cx="28384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18" name="Freeform 17"/>
          <p:cNvSpPr/>
          <p:nvPr/>
        </p:nvSpPr>
        <p:spPr>
          <a:xfrm>
            <a:off x="2019300" y="4705350"/>
            <a:ext cx="4533900" cy="1009650"/>
          </a:xfrm>
          <a:custGeom>
            <a:avLst/>
            <a:gdLst/>
            <a:ahLst/>
            <a:cxnLst/>
            <a:rect l="l" t="t" r="r" b="b"/>
            <a:pathLst>
              <a:path w="476" h="106">
                <a:moveTo>
                  <a:pt x="82" y="0"/>
                </a:moveTo>
                <a:lnTo>
                  <a:pt x="394" y="0"/>
                </a:lnTo>
                <a:lnTo>
                  <a:pt x="476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9300" y="4819650"/>
            <a:ext cx="45339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20" name="Freeform 19"/>
          <p:cNvSpPr/>
          <p:nvPr/>
        </p:nvSpPr>
        <p:spPr>
          <a:xfrm>
            <a:off x="1143000" y="5829300"/>
            <a:ext cx="6286500" cy="1047750"/>
          </a:xfrm>
          <a:custGeom>
            <a:avLst/>
            <a:gdLst/>
            <a:ahLst/>
            <a:cxnLst/>
            <a:rect l="l" t="t" r="r" b="b"/>
            <a:pathLst>
              <a:path w="660" h="110">
                <a:moveTo>
                  <a:pt x="83" y="0"/>
                </a:moveTo>
                <a:lnTo>
                  <a:pt x="577" y="0"/>
                </a:lnTo>
                <a:lnTo>
                  <a:pt x="66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943600"/>
            <a:ext cx="62865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0" y="2686050"/>
            <a:ext cx="7620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标准适用范围 · 三层</a:t>
            </a:r>
          </a:p>
        </p:txBody>
      </p:sp>
      <p:sp>
        <p:nvSpPr>
          <p:cNvPr id="23" name="Oval 22"/>
          <p:cNvSpPr/>
          <p:nvPr/>
        </p:nvSpPr>
        <p:spPr>
          <a:xfrm>
            <a:off x="11772900" y="3352800"/>
            <a:ext cx="3695700" cy="3695700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327255" y="3907155"/>
            <a:ext cx="2586989" cy="2586989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81610" y="4461510"/>
            <a:ext cx="1478280" cy="14782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00088" y="4876800"/>
            <a:ext cx="14413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通用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要素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64212" y="4054983"/>
            <a:ext cx="2513076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产业背景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31599" y="6531102"/>
            <a:ext cx="317830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岗位专有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67624" y="5219700"/>
            <a:ext cx="3905251" cy="0"/>
          </a:xfrm>
          <a:prstGeom prst="line">
            <a:avLst/>
          </a:prstGeom>
          <a:ln w="15240">
            <a:solidFill>
              <a:srgbClr val="8A9BB0"/>
            </a:solidFill>
            <a:prstDash val="dash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7562850" y="5486400"/>
            <a:ext cx="3810000" cy="923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BB0"/>
                </a:solidFill>
                <a:latin typeface="Noto Sans CJK SC"/>
                <a:ea typeface="Noto Sans CJK SC"/>
              </a:rPr>
              <a:t>按岗位配置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BB0"/>
                </a:solidFill>
                <a:latin typeface="Noto Sans CJK SC"/>
                <a:ea typeface="Noto Sans CJK SC"/>
              </a:rPr>
              <a:t>三层组合要求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500" y="7867649"/>
            <a:ext cx="3924300" cy="10668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500" y="8077200"/>
            <a:ext cx="38100" cy="6477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9675" y="8039099"/>
            <a:ext cx="7239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8A3D"/>
                </a:solidFill>
                <a:latin typeface="Barlow Semi Condensed"/>
                <a:ea typeface="Noto Sans CJK SC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95499" y="8086725"/>
            <a:ext cx="24384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指导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05400" y="7867649"/>
            <a:ext cx="3924300" cy="10668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05400" y="8077200"/>
            <a:ext cx="38100" cy="6477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62575" y="8039099"/>
            <a:ext cx="7239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8A3D"/>
                </a:solidFill>
                <a:latin typeface="Barlow Semi Condensed"/>
                <a:ea typeface="Noto Sans CJK S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8400" y="8086725"/>
            <a:ext cx="24384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独立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58300" y="7867649"/>
            <a:ext cx="3924300" cy="10668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58300" y="8077200"/>
            <a:ext cx="38100" cy="6477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15475" y="8039099"/>
            <a:ext cx="7239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8A3D"/>
                </a:solidFill>
                <a:latin typeface="Barlow Semi Condensed"/>
                <a:ea typeface="Noto Sans CJK S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1300" y="8086725"/>
            <a:ext cx="24384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优化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411200" y="7867649"/>
            <a:ext cx="3924300" cy="10668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411200" y="8077200"/>
            <a:ext cx="38100" cy="6477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668375" y="8039099"/>
            <a:ext cx="7239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8A3D"/>
                </a:solidFill>
                <a:latin typeface="Barlow Semi Condensed"/>
                <a:ea typeface="Noto Sans CJK SC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554200" y="8086725"/>
            <a:ext cx="24384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主导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1500"/>
            <a:ext cx="18288000" cy="9715500"/>
          </a:xfrm>
          <a:gradFill>
            <a:gsLst>
              <a:gs pos="0">
                <a:srgbClr val="0A2540"/>
              </a:gs>
              <a:gs pos="100000">
                <a:srgbClr val="123A5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五类 × 三维 × 三级，以三层标准承载产业差异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11</a:t>
            </a:r>
          </a:p>
        </p:txBody>
      </p:sp>
      <p:sp>
        <p:nvSpPr>
          <p:cNvPr id="14" name="Oval 13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500" y="2676525"/>
            <a:ext cx="428625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三层标准 · 适用范围</a:t>
            </a:r>
          </a:p>
        </p:txBody>
      </p:sp>
      <p:sp>
        <p:nvSpPr>
          <p:cNvPr id="17" name="Oval 16"/>
          <p:cNvSpPr/>
          <p:nvPr/>
        </p:nvSpPr>
        <p:spPr>
          <a:xfrm>
            <a:off x="1276350" y="3619500"/>
            <a:ext cx="3695700" cy="3695700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30705" y="4173855"/>
            <a:ext cx="2586989" cy="2586989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85059" y="4728210"/>
            <a:ext cx="1478280" cy="14782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3538" y="5143500"/>
            <a:ext cx="14413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通用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要素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7662" y="4321683"/>
            <a:ext cx="2513076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产业背景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5049" y="6797802"/>
            <a:ext cx="317830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岗位专有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7543800"/>
            <a:ext cx="43434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D7E4"/>
                </a:solidFill>
                <a:latin typeface="Noto Sans CJK SC"/>
                <a:ea typeface="Noto Sans CJK SC"/>
              </a:rPr>
              <a:t>通用基础 + 产业要求 + 岗位特征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0" y="2676525"/>
            <a:ext cx="4524375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五类人才 · 工作功能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0250" y="3467100"/>
            <a:ext cx="4524375" cy="676275"/>
          </a:xfrm>
          <a:prstGeom prst="roundRect">
            <a:avLst>
              <a:gd name="adj" fmla="val 22535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10250" y="3676649"/>
            <a:ext cx="38100" cy="257175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7900" y="3543300"/>
            <a:ext cx="40290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智能制造操作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0250" y="4305300"/>
            <a:ext cx="4524375" cy="676275"/>
          </a:xfrm>
          <a:prstGeom prst="roundRect">
            <a:avLst>
              <a:gd name="adj" fmla="val 22535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10250" y="4514850"/>
            <a:ext cx="38100" cy="257175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7900" y="4381500"/>
            <a:ext cx="40290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10250" y="5143500"/>
            <a:ext cx="4524375" cy="676275"/>
          </a:xfrm>
          <a:prstGeom prst="roundRect">
            <a:avLst>
              <a:gd name="adj" fmla="val 22535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10250" y="5353050"/>
            <a:ext cx="38100" cy="257175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57900" y="5219700"/>
            <a:ext cx="40290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数字化管理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0250" y="5981700"/>
            <a:ext cx="4524375" cy="676275"/>
          </a:xfrm>
          <a:prstGeom prst="roundRect">
            <a:avLst>
              <a:gd name="adj" fmla="val 22535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10250" y="6191250"/>
            <a:ext cx="38100" cy="257175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7900" y="6057900"/>
            <a:ext cx="40290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10250" y="6819900"/>
            <a:ext cx="4524375" cy="676275"/>
          </a:xfrm>
          <a:prstGeom prst="roundRect">
            <a:avLst>
              <a:gd name="adj" fmla="val 22535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10250" y="7029450"/>
            <a:ext cx="38100" cy="257175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7900" y="6896100"/>
            <a:ext cx="40290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06125" y="2676525"/>
            <a:ext cx="6429375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三维能力 × 三级人才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06125" y="3476625"/>
            <a:ext cx="1000125" cy="647700"/>
          </a:xfrm>
          <a:prstGeom prst="roundRect">
            <a:avLst>
              <a:gd name="adj" fmla="val 11764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53750" y="3543300"/>
            <a:ext cx="9048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人才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944350" y="3476625"/>
            <a:ext cx="1762125" cy="647700"/>
          </a:xfrm>
          <a:prstGeom prst="roundRect">
            <a:avLst>
              <a:gd name="adj" fmla="val 11764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991975" y="3543300"/>
            <a:ext cx="16668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硬技能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44575" y="3476625"/>
            <a:ext cx="1762125" cy="647700"/>
          </a:xfrm>
          <a:prstGeom prst="roundRect">
            <a:avLst>
              <a:gd name="adj" fmla="val 11764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92200" y="3543300"/>
            <a:ext cx="16668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软技能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544800" y="3476625"/>
            <a:ext cx="1790700" cy="647700"/>
          </a:xfrm>
          <a:prstGeom prst="roundRect">
            <a:avLst>
              <a:gd name="adj" fmla="val 11764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92424" y="3543300"/>
            <a:ext cx="1695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元技能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06125" y="4219575"/>
            <a:ext cx="1000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63275" y="4324350"/>
            <a:ext cx="885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944350" y="4219575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01500" y="4324350"/>
            <a:ext cx="1647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规范操作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744575" y="4219575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801725" y="4324350"/>
            <a:ext cx="1647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现场协作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544800" y="4219575"/>
            <a:ext cx="1790700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601950" y="4324350"/>
            <a:ext cx="16764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学习适应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06125" y="5229225"/>
            <a:ext cx="1000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63275" y="5334000"/>
            <a:ext cx="885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944350" y="5229225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01500" y="5334000"/>
            <a:ext cx="1647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技术优化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744575" y="5229225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801725" y="5334000"/>
            <a:ext cx="1647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跨岗协同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544800" y="5229225"/>
            <a:ext cx="1790700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601950" y="5334000"/>
            <a:ext cx="16764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问题拆解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06125" y="6238875"/>
            <a:ext cx="1000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63275" y="6343650"/>
            <a:ext cx="885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944350" y="6238875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01500" y="6343650"/>
            <a:ext cx="1647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系统创新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744575" y="6238875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801725" y="6343650"/>
            <a:ext cx="16478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组织协同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5544800" y="6238875"/>
            <a:ext cx="1790700" cy="914400"/>
          </a:xfrm>
          <a:prstGeom prst="roundRect">
            <a:avLst>
              <a:gd name="adj" fmla="val 8333"/>
            </a:avLst>
          </a:prstGeom>
          <a:solidFill>
            <a:srgbClr val="244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601950" y="6343650"/>
            <a:ext cx="16764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战略判断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2500" y="8201025"/>
            <a:ext cx="8001000" cy="666750"/>
          </a:xfrm>
          <a:prstGeom prst="roundRect">
            <a:avLst>
              <a:gd name="adj" fmla="val 22857"/>
            </a:avLst>
          </a:prstGeom>
          <a:solidFill>
            <a:srgbClr val="174768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2500" y="8343900"/>
            <a:ext cx="38100" cy="381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90625" y="8267699"/>
            <a:ext cx="752474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新型：数字化 · 跨界融合 · 系统创新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334500" y="8201025"/>
            <a:ext cx="8001000" cy="666750"/>
          </a:xfrm>
          <a:prstGeom prst="roundRect">
            <a:avLst>
              <a:gd name="adj" fmla="val 22857"/>
            </a:avLst>
          </a:prstGeom>
          <a:solidFill>
            <a:srgbClr val="174768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34500" y="8343900"/>
            <a:ext cx="38100" cy="3810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72625" y="8267699"/>
            <a:ext cx="752474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旧型：合规 · 流程 · 工艺积累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矩阵用于说明组合逻辑；各岗位的具体要求以主报告和专家验证为准。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分类分级、数据驱动、行为可评，是模型的系统升级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12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52500" y="2781300"/>
          <a:ext cx="16383000" cy="491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/>
                <a:gridCol w="6715125"/>
                <a:gridCol w="74771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比较维度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现有做法 · 常见局限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本模型 · 拟升级方向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人才分类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统一岗位标签，分类边界不清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五类人才，按工作功能区分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能力结构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重专业技能，协同与适应零散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硬技能 + 软技能 + 元技能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层级要求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经验判断，级别与行为关系模糊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三级人才 + 1—4级行为锚点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产业适配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统一标准，技术背景差异不足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新 / 旧产业差异化配置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证据来源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依赖经验，缺少可复核过程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招聘数据 + 访谈 + 专家校验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应用方式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评价、培养与岗位配置衔接弱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通用 / 产业 / 岗位三层组合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52500" y="8239124"/>
            <a:ext cx="163830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2500" y="8448675"/>
            <a:ext cx="38100" cy="1905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150" y="8296274"/>
            <a:ext cx="158591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3A4A"/>
                </a:solidFill>
                <a:latin typeface="Noto Sans CJK SC"/>
                <a:ea typeface="Noto Sans CJK SC"/>
              </a:rPr>
              <a:t>在分类、能力、分级与产业差异上升级，并与立白现有实践衔接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智能制造操作能力，从“会操作”走向“能主导”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13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52500" y="27336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设备操作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能操作基础智能化生产设备，完成简单加工任务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可熟练操作核心生产设备，精准控制生产参数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能优化设备运行参数，提升生产精度与效率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可主导设备智能化升级后的操作适配，培训团队操作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52500" y="469582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ERP操作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能使用ERP生产模块录入生产数据，查询订单进度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可独立通过ERP下达生产计划，跟踪物料需求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能通过ERP分析生产瓶颈，调整生产调度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可主导ERP生产模块与设备数据联动，实现数字化生产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66579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CAD解读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能识别简单零件图纸，理解基础加工要求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可解读复杂装配图纸，明确关键加工节点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能根据图纸优化加工路径，提升加工效率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可结合图纸与设备特性，提出工艺优化建议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11715750" y="2733675"/>
            <a:ext cx="5619750" cy="573405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06250" y="2886075"/>
            <a:ext cx="52387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三级人才 · 配置对照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11906250" y="3686175"/>
          <a:ext cx="5238750" cy="31813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21" name="Connector 20"/>
          <p:cNvCxnSpPr/>
          <p:nvPr/>
        </p:nvCxnSpPr>
        <p:spPr>
          <a:xfrm>
            <a:off x="12192000" y="7153275"/>
            <a:ext cx="266700" cy="0"/>
          </a:xfrm>
          <a:prstGeom prst="line">
            <a:avLst/>
          </a:prstGeom>
          <a:ln w="25400">
            <a:solidFill>
              <a:srgbClr val="7FE0E8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125349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基础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47750" y="7153275"/>
            <a:ext cx="266699" cy="0"/>
          </a:xfrm>
          <a:prstGeom prst="line">
            <a:avLst/>
          </a:prstGeom>
          <a:ln w="25400">
            <a:solidFill>
              <a:srgbClr val="1A73E8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409065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骨干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303500" y="7153275"/>
            <a:ext cx="266700" cy="0"/>
          </a:xfrm>
          <a:prstGeom prst="line">
            <a:avLst/>
          </a:prstGeom>
          <a:ln w="25400">
            <a:solidFill>
              <a:srgbClr val="0A2540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56464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25300" y="7658100"/>
            <a:ext cx="520065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三条线代表基础、骨干、高端三级配置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行为取自主报告，雷达配置取表4-11；1—4级为行为刻度，不是现场评分。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旧型产业能力，更强调合规、流程与经验传承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14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52500" y="27336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GMP合规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能了解GMP基础条款，遵守简单合规要求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可熟练掌握GMP核心条款，规范执行操作流程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能检查操作中的GMP合规性，纠正违规行为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可主导企业GMP体系优化，通过合规审核并降低风险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52500" y="469582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SOP执行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能阅读SOP文档，按指导完成基础操作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可独立严格执行SOP流程，记录操作过程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能发现SOP中的优化点，提出修订建议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可主导SOP体系修订与培训，推动全员规范执行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66579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经验积累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能记录基础操作经验，总结简单操作规律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可整理个人操作经验，形成基础操作笔记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能提炼班组共性经验，形成标准化操作建议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可构建企业级操作经验库，指导全员提升技能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11715750" y="2733675"/>
            <a:ext cx="5619750" cy="573405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06250" y="2886075"/>
            <a:ext cx="52387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三级人才 · 配置对照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11906250" y="3686175"/>
          <a:ext cx="5238750" cy="31813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Oval 20"/>
          <p:cNvSpPr/>
          <p:nvPr/>
        </p:nvSpPr>
        <p:spPr>
          <a:xfrm>
            <a:off x="12192000" y="7115175"/>
            <a:ext cx="85725" cy="85725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349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23" name="Oval 22"/>
          <p:cNvSpPr/>
          <p:nvPr/>
        </p:nvSpPr>
        <p:spPr>
          <a:xfrm>
            <a:off x="13747750" y="7115175"/>
            <a:ext cx="85725" cy="85725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09065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25" name="Oval 24"/>
          <p:cNvSpPr/>
          <p:nvPr/>
        </p:nvSpPr>
        <p:spPr>
          <a:xfrm>
            <a:off x="15303500" y="7115175"/>
            <a:ext cx="85725" cy="85725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6464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25300" y="7658100"/>
            <a:ext cx="520065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经验积累待验证；缺失值不绘点、不连线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经验积累已有行为描述，主报告未给三级配置值，待验证。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1500"/>
            <a:ext cx="18288000" cy="9715500"/>
          </a:xfrm>
          <a:gradFill>
            <a:gsLst>
              <a:gs pos="0">
                <a:srgbClr val="0A2540"/>
              </a:gs>
              <a:gs pos="100000">
                <a:srgbClr val="123A5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491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模型是否成立，取决于专家判断与真实岗位证据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15</a:t>
            </a:r>
          </a:p>
        </p:txBody>
      </p:sp>
      <p:sp>
        <p:nvSpPr>
          <p:cNvPr id="14" name="Oval 13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500" y="2857500"/>
            <a:ext cx="6477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8A3D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0700" y="2857500"/>
            <a:ext cx="68199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五类人才分类是否完整、边界清楚？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2500" y="3562350"/>
            <a:ext cx="7620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52500" y="3676649"/>
            <a:ext cx="6477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8A3D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0700" y="3676649"/>
            <a:ext cx="68199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硬 / 软 / 元能力能否解释岗位表现？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500" y="4381500"/>
            <a:ext cx="7620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52500" y="4495800"/>
            <a:ext cx="6477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8A3D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700" y="4495800"/>
            <a:ext cx="68199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三级人才与1—4级行为是否合理？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2500" y="5200650"/>
            <a:ext cx="7620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952500" y="5314950"/>
            <a:ext cx="6477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8A3D"/>
                </a:solidFill>
                <a:latin typeface="Barlow Semi Condensed"/>
                <a:ea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0700" y="5314950"/>
            <a:ext cx="68199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新 / 旧产业差异是否符合实际？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2500" y="6019800"/>
            <a:ext cx="7620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952500" y="6134100"/>
            <a:ext cx="6477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8A3D"/>
                </a:solidFill>
                <a:latin typeface="Barlow Semi Condensed"/>
                <a:ea typeface="Noto Sans CJK S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90700" y="6134100"/>
            <a:ext cx="68199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总图能否支撑评价与人才培养？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500" y="6838950"/>
            <a:ext cx="7620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952500" y="6953250"/>
            <a:ext cx="6477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8A3D"/>
                </a:solidFill>
                <a:latin typeface="Barlow Semi Condensed"/>
                <a:ea typeface="Noto Sans CJK SC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90700" y="6953250"/>
            <a:ext cx="68199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还缺少哪些能力、岗位或情境？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2500" y="7658100"/>
            <a:ext cx="7620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34" name="Rounded Rectangle 33"/>
          <p:cNvSpPr/>
          <p:nvPr/>
        </p:nvSpPr>
        <p:spPr>
          <a:xfrm>
            <a:off x="9334500" y="2857500"/>
            <a:ext cx="3886200" cy="1466850"/>
          </a:xfrm>
          <a:prstGeom prst="roundRect">
            <a:avLst>
              <a:gd name="adj" fmla="val 1038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34500" y="3067050"/>
            <a:ext cx="38100" cy="1047749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01200" y="3143250"/>
            <a:ext cx="266700" cy="2667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9658350" y="3276600"/>
            <a:ext cx="57150" cy="5715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9715500" y="3219450"/>
            <a:ext cx="104775" cy="11430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10125075" y="3038475"/>
            <a:ext cx="28098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现场评分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150" y="3743325"/>
            <a:ext cx="3390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六维度统一尺度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449300" y="2857500"/>
            <a:ext cx="3886200" cy="1466850"/>
          </a:xfrm>
          <a:prstGeom prst="roundRect">
            <a:avLst>
              <a:gd name="adj" fmla="val 1038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449300" y="3067050"/>
            <a:ext cx="38100" cy="1047749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3763625" y="3143250"/>
            <a:ext cx="142875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3906500" y="3143250"/>
            <a:ext cx="47625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3954125" y="3190875"/>
            <a:ext cx="0" cy="21907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H="1">
            <a:off x="13763625" y="3409950"/>
            <a:ext cx="1905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13763625" y="3143250"/>
            <a:ext cx="0" cy="26670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13906500" y="3143250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3906500" y="3190875"/>
            <a:ext cx="47625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13801725" y="3248025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3801725" y="3305175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13801725" y="3362325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4239875" y="3038475"/>
            <a:ext cx="28098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案例佐证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96950" y="3743325"/>
            <a:ext cx="3390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用真实行为说明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34500" y="4514850"/>
            <a:ext cx="3886200" cy="1466850"/>
          </a:xfrm>
          <a:prstGeom prst="roundRect">
            <a:avLst>
              <a:gd name="adj" fmla="val 1038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34500" y="4724400"/>
            <a:ext cx="38100" cy="1047749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591675" y="4895850"/>
            <a:ext cx="76200" cy="762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801225" y="4895850"/>
            <a:ext cx="76200" cy="762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667875" y="4933950"/>
            <a:ext cx="13335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9753600" y="4895850"/>
            <a:ext cx="47625" cy="3810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9753600" y="4933950"/>
            <a:ext cx="47625" cy="3810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10125075" y="4695825"/>
            <a:ext cx="28098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等级校准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82150" y="5400675"/>
            <a:ext cx="3390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核对任务复杂度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449300" y="4514850"/>
            <a:ext cx="3886200" cy="1466850"/>
          </a:xfrm>
          <a:prstGeom prst="roundRect">
            <a:avLst>
              <a:gd name="adj" fmla="val 1038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3449300" y="4724400"/>
            <a:ext cx="38100" cy="1047749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3792200" y="4800600"/>
            <a:ext cx="114300" cy="1143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13735050" y="5019675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13735050" y="4972050"/>
            <a:ext cx="5715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13792200" y="4972050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13906500" y="4972050"/>
            <a:ext cx="5715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13963650" y="5019675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14239875" y="4695825"/>
            <a:ext cx="28098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岗位对照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696950" y="5400675"/>
            <a:ext cx="3390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选择最熟悉岗位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34500" y="6172200"/>
            <a:ext cx="3886200" cy="1466850"/>
          </a:xfrm>
          <a:prstGeom prst="roundRect">
            <a:avLst>
              <a:gd name="adj" fmla="val 1038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34500" y="6381750"/>
            <a:ext cx="38100" cy="1047749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9610725" y="6705600"/>
            <a:ext cx="24765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9610725" y="6467475"/>
            <a:ext cx="0" cy="2381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9667875" y="6610350"/>
            <a:ext cx="0" cy="7620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9744075" y="6543675"/>
            <a:ext cx="0" cy="14287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9820275" y="6486525"/>
            <a:ext cx="0" cy="2000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10125075" y="6353175"/>
            <a:ext cx="28098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边界检验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82150" y="7058025"/>
            <a:ext cx="3390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识别交叉与遗漏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3449300" y="6172200"/>
            <a:ext cx="3886200" cy="1466850"/>
          </a:xfrm>
          <a:prstGeom prst="roundRect">
            <a:avLst>
              <a:gd name="adj" fmla="val 1038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449300" y="6381750"/>
            <a:ext cx="38100" cy="1047749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716000" y="6457950"/>
            <a:ext cx="266700" cy="2667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3782675" y="6524625"/>
            <a:ext cx="133350" cy="13335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 flipV="1">
            <a:off x="13849350" y="6457950"/>
            <a:ext cx="133350" cy="13335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88" name="TextBox 87"/>
          <p:cNvSpPr txBox="1"/>
          <p:nvPr/>
        </p:nvSpPr>
        <p:spPr>
          <a:xfrm>
            <a:off x="14239875" y="6353175"/>
            <a:ext cx="28098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修改建议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696950" y="7058025"/>
            <a:ext cx="33909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提出可执行调整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52500" y="8248650"/>
            <a:ext cx="16383000" cy="609600"/>
          </a:xfrm>
          <a:prstGeom prst="roundRect">
            <a:avLst>
              <a:gd name="adj" fmla="val 25000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52500" y="8458200"/>
            <a:ext cx="38100" cy="1905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00150" y="8305800"/>
            <a:ext cx="158591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请选择最熟悉岗位，对照模型判断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491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请现场评分，专家判断将直接指向模型修订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16</a:t>
            </a:r>
          </a:p>
        </p:txBody>
      </p:sp>
      <p:sp>
        <p:nvSpPr>
          <p:cNvPr id="13" name="Oval 12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52500" y="2667000"/>
          <a:ext cx="16383000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5715000"/>
                <a:gridCol w="1905000"/>
                <a:gridCol w="6858000"/>
              </a:tblGrid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验证维度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核心问题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1—5分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修改建议 / 岗位案例</a:t>
                      </a:r>
                    </a:p>
                  </a:txBody>
                  <a:tcPr marL="190500" marR="142875" marT="28575" marB="28575" anchor="ctr">
                    <a:solidFill>
                      <a:srgbClr val="1A73E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人才分类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五类是否完整，边界是否清楚？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能力维度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硬 / 软 / 元能否解释岗位表现？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三级人才与行为等级是否合理？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产业差异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新 / 旧能力侧重是否符合实际？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模型总图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整体框架能否用于评价与培养？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缺失项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关键能力、岗位、情境是否遗漏？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52500" y="8591550"/>
            <a:ext cx="16383000" cy="55245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2500" y="8801100"/>
            <a:ext cx="38100" cy="13335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150" y="8648700"/>
            <a:ext cx="1585912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3A4A"/>
                </a:solidFill>
                <a:latin typeface="Noto Sans CJK SC"/>
                <a:ea typeface="Noto Sans CJK SC"/>
              </a:rPr>
              <a:t>1 不成立 · 2 大幅修改 · 3 基本成立 · 4 较适用 · 5 高度适用 · N/A 不适用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1500"/>
            <a:ext cx="18288000" cy="9715500"/>
          </a:xfrm>
          <a:gradFill>
            <a:gsLst>
              <a:gs pos="0">
                <a:srgbClr val="0A2540"/>
              </a:gs>
              <a:gs pos="100000">
                <a:srgbClr val="123A5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257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评分形成修订依据，3 工作日汇总、10 工作日反馈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35516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17</a:t>
            </a:r>
          </a:p>
        </p:txBody>
      </p:sp>
      <p:sp>
        <p:nvSpPr>
          <p:cNvPr id="14" name="Oval 13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52500" y="3019425"/>
            <a:ext cx="3086100" cy="2105025"/>
          </a:xfrm>
          <a:prstGeom prst="roundRect">
            <a:avLst>
              <a:gd name="adj" fmla="val 723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66950" y="3276600"/>
            <a:ext cx="457200" cy="457200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62200" y="3371850"/>
            <a:ext cx="266700" cy="2667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419350" y="3505200"/>
            <a:ext cx="57150" cy="5715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2476500" y="3448050"/>
            <a:ext cx="104775" cy="1143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123950" y="3933824"/>
            <a:ext cx="2743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现场评分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4581525"/>
            <a:ext cx="27432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7D7E4"/>
                </a:solidFill>
                <a:latin typeface="Noto Sans CJK SC"/>
                <a:ea typeface="Noto Sans CJK SC"/>
              </a:rPr>
              <a:t>记录判断与案例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67175" y="4067175"/>
            <a:ext cx="161925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24" name="Rounded Rectangle 23"/>
          <p:cNvSpPr/>
          <p:nvPr/>
        </p:nvSpPr>
        <p:spPr>
          <a:xfrm>
            <a:off x="4276725" y="3019425"/>
            <a:ext cx="3086100" cy="2105025"/>
          </a:xfrm>
          <a:prstGeom prst="roundRect">
            <a:avLst>
              <a:gd name="adj" fmla="val 723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91175" y="3276600"/>
            <a:ext cx="457200" cy="457200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734050" y="3371850"/>
            <a:ext cx="14287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5876925" y="3371850"/>
            <a:ext cx="47625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5924550" y="3419475"/>
            <a:ext cx="0" cy="21907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5734050" y="3638550"/>
            <a:ext cx="1905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5734050" y="3371850"/>
            <a:ext cx="0" cy="2667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876925" y="3371850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876925" y="3419475"/>
            <a:ext cx="476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772150" y="3476625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5772150" y="3533775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5772150" y="3590925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4448175" y="3933824"/>
            <a:ext cx="2743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3 工作日汇总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8175" y="4581525"/>
            <a:ext cx="27432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7D7E4"/>
                </a:solidFill>
                <a:latin typeface="Noto Sans CJK SC"/>
                <a:ea typeface="Noto Sans CJK SC"/>
              </a:rPr>
              <a:t>整理六维度意见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91400" y="4067175"/>
            <a:ext cx="161924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39" name="Rounded Rectangle 38"/>
          <p:cNvSpPr/>
          <p:nvPr/>
        </p:nvSpPr>
        <p:spPr>
          <a:xfrm>
            <a:off x="7600950" y="3019425"/>
            <a:ext cx="3086100" cy="2105025"/>
          </a:xfrm>
          <a:prstGeom prst="roundRect">
            <a:avLst>
              <a:gd name="adj" fmla="val 723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15400" y="3276600"/>
            <a:ext cx="457200" cy="457200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86850" y="3371850"/>
            <a:ext cx="114300" cy="1143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029700" y="3590925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9029700" y="3543300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9086850" y="3543300"/>
            <a:ext cx="11430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9201150" y="3543300"/>
            <a:ext cx="5715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9258300" y="3590925"/>
            <a:ext cx="0" cy="4762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7772400" y="3933824"/>
            <a:ext cx="2743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团队研判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581525"/>
            <a:ext cx="27432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7D7E4"/>
                </a:solidFill>
                <a:latin typeface="Noto Sans CJK SC"/>
                <a:ea typeface="Noto Sans CJK SC"/>
              </a:rPr>
              <a:t>核对证据与条目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715625" y="4067175"/>
            <a:ext cx="161925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50" name="Rounded Rectangle 49"/>
          <p:cNvSpPr/>
          <p:nvPr/>
        </p:nvSpPr>
        <p:spPr>
          <a:xfrm>
            <a:off x="10925175" y="3019425"/>
            <a:ext cx="3086100" cy="2105025"/>
          </a:xfrm>
          <a:prstGeom prst="roundRect">
            <a:avLst>
              <a:gd name="adj" fmla="val 723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2239625" y="3276600"/>
            <a:ext cx="457200" cy="457200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325350" y="346710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534900" y="3467100"/>
            <a:ext cx="76200" cy="762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2401550" y="3505200"/>
            <a:ext cx="1333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2487275" y="346710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12487275" y="3505200"/>
            <a:ext cx="47625" cy="3810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1096625" y="3933824"/>
            <a:ext cx="2743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10 工作日反馈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96625" y="4581525"/>
            <a:ext cx="27432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7D7E4"/>
                </a:solidFill>
                <a:latin typeface="Noto Sans CJK SC"/>
                <a:ea typeface="Noto Sans CJK SC"/>
              </a:rPr>
              <a:t>反馈修订与理由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4039850" y="4067175"/>
            <a:ext cx="161925" cy="0"/>
          </a:xfrm>
          <a:prstGeom prst="line">
            <a:avLst/>
          </a:prstGeom>
          <a:ln w="1905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60" name="Rounded Rectangle 59"/>
          <p:cNvSpPr/>
          <p:nvPr/>
        </p:nvSpPr>
        <p:spPr>
          <a:xfrm>
            <a:off x="14249400" y="3019425"/>
            <a:ext cx="3086100" cy="2105025"/>
          </a:xfrm>
          <a:prstGeom prst="roundRect">
            <a:avLst>
              <a:gd name="adj" fmla="val 7239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5563849" y="3276600"/>
            <a:ext cx="457200" cy="457200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5659100" y="3371850"/>
            <a:ext cx="266700" cy="2667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725775" y="3438525"/>
            <a:ext cx="133350" cy="13335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15792449" y="3371850"/>
            <a:ext cx="133351" cy="13335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14420850" y="3933824"/>
            <a:ext cx="2743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待议复核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420850" y="4581525"/>
            <a:ext cx="27432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7D7E4"/>
                </a:solidFill>
                <a:latin typeface="Noto Sans CJK SC"/>
                <a:ea typeface="Noto Sans CJK SC"/>
              </a:rPr>
              <a:t>补充证据再确认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2500" y="5905500"/>
            <a:ext cx="16383000" cy="1457325"/>
          </a:xfrm>
          <a:prstGeom prst="roundRect">
            <a:avLst>
              <a:gd name="adj" fmla="val 10457"/>
            </a:avLst>
          </a:prstGeom>
          <a:solidFill>
            <a:srgbClr val="244864"/>
          </a:solidFill>
          <a:ln w="9525">
            <a:solidFill>
              <a:srgbClr val="3658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476375" y="6143625"/>
            <a:ext cx="3333750" cy="523874"/>
          </a:xfrm>
          <a:prstGeom prst="roundRect">
            <a:avLst>
              <a:gd name="adj" fmla="val 14545"/>
            </a:avLst>
          </a:prstGeom>
          <a:solidFill>
            <a:srgbClr val="3157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52575" y="6162675"/>
            <a:ext cx="31813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8E986"/>
                </a:solidFill>
                <a:latin typeface="Noto Sans CJK SC"/>
                <a:ea typeface="Noto Sans CJK SC"/>
              </a:rPr>
              <a:t>采纳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76875" y="6143625"/>
            <a:ext cx="3333750" cy="523874"/>
          </a:xfrm>
          <a:prstGeom prst="roundRect">
            <a:avLst>
              <a:gd name="adj" fmla="val 14545"/>
            </a:avLst>
          </a:prstGeom>
          <a:solidFill>
            <a:srgbClr val="3157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3075" y="6162675"/>
            <a:ext cx="31813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C2D1"/>
                </a:solidFill>
                <a:latin typeface="Noto Sans CJK SC"/>
                <a:ea typeface="Noto Sans CJK SC"/>
              </a:rPr>
              <a:t>部分采纳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77375" y="6143625"/>
            <a:ext cx="3333750" cy="523874"/>
          </a:xfrm>
          <a:prstGeom prst="roundRect">
            <a:avLst>
              <a:gd name="adj" fmla="val 14545"/>
            </a:avLst>
          </a:prstGeom>
          <a:solidFill>
            <a:srgbClr val="3157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53575" y="6162675"/>
            <a:ext cx="31813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8A3D"/>
                </a:solidFill>
                <a:latin typeface="Noto Sans CJK SC"/>
                <a:ea typeface="Noto Sans CJK SC"/>
              </a:rPr>
              <a:t>待议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477875" y="6143625"/>
            <a:ext cx="3333750" cy="523874"/>
          </a:xfrm>
          <a:prstGeom prst="roundRect">
            <a:avLst>
              <a:gd name="adj" fmla="val 14545"/>
            </a:avLst>
          </a:prstGeom>
          <a:solidFill>
            <a:srgbClr val="3157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554075" y="6162675"/>
            <a:ext cx="31813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ED0DF"/>
                </a:solidFill>
                <a:latin typeface="Noto Sans CJK SC"/>
                <a:ea typeface="Noto Sans CJK SC"/>
              </a:rPr>
              <a:t>不采纳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2500" y="6829425"/>
            <a:ext cx="163830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7E4"/>
                </a:solidFill>
                <a:latin typeface="Noto Sans CJK SC"/>
                <a:ea typeface="Noto Sans CJK SC"/>
              </a:rPr>
              <a:t>每项意见均附处理理由，并保留修订记录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749" y="8096249"/>
            <a:ext cx="146685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FFFF"/>
                </a:solidFill>
                <a:latin typeface="Ma Shan Zheng"/>
                <a:ea typeface="Ma Shan Zheng"/>
              </a:rPr>
              <a:t>感谢各位专家共同验证先进制造业人才标准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6192499" y="7962900"/>
            <a:ext cx="1143000" cy="1143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306799" y="8162925"/>
            <a:ext cx="9144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问卷链接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待补充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7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7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8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5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5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E8F0FE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5900" y="542925"/>
            <a:ext cx="914400" cy="190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57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8900" y="47625"/>
            <a:ext cx="3048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54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049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Noto Sans CJK SC"/>
                <a:ea typeface="Noto Sans CJK SC"/>
              </a:rPr>
              <a:t>按专家追问展开：归属规则、分级示例与三层清单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324100"/>
            <a:ext cx="762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5499" y="2190750"/>
            <a:ext cx="1524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备用索引 · 详细证据与完整 90 项清单见本页备注及配套备查资料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9525">
            <a:solidFill>
              <a:srgbClr val="E5E9F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18</a:t>
            </a:r>
          </a:p>
        </p:txBody>
      </p:sp>
      <p:sp>
        <p:nvSpPr>
          <p:cNvPr id="14" name="Oval 13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52500" y="2952750"/>
            <a:ext cx="5181600" cy="522922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9200" y="3171825"/>
            <a:ext cx="933449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475" y="327660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三问判定与争议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3200" y="2952750"/>
            <a:ext cx="5181600" cy="522922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9900" y="3171825"/>
            <a:ext cx="933449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7175" y="327660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三维三层级示例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153900" y="2952750"/>
            <a:ext cx="5181600" cy="522922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20600" y="3171825"/>
            <a:ext cx="933449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77875" y="327660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三层完整清单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4219575"/>
            <a:ext cx="4648200" cy="1133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问1：成果直接验证 → 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问2：人与人协同 → 软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问3：跨情境迁移 → 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9200" y="5667375"/>
            <a:ext cx="4648200" cy="47625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5400" y="5686425"/>
            <a:ext cx="44958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Noto Sans CJK SC"/>
                <a:ea typeface="Noto Sans CJK SC"/>
              </a:rPr>
              <a:t>多问为是：问3 ＞ 问2 ＞ 问1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6534150"/>
            <a:ext cx="46482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跨域项目管理：硬 ↔ 元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团队管理（旧·战略）：硬 ↔ 软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暂按词典归类，复核后回填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9900" y="4181475"/>
            <a:ext cx="46482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Noto Sans CJK SC"/>
                <a:ea typeface="Noto Sans CJK SC"/>
              </a:rPr>
              <a:t>新型：操作 / 协作 / 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9900" y="4781550"/>
            <a:ext cx="26860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硬 · 设备操作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63100" y="4781550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9300" y="4800600"/>
            <a:ext cx="1752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Noto Sans CJK SC"/>
                <a:ea typeface="Noto Sans CJK SC"/>
              </a:rPr>
              <a:t>3 / 4 /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9900" y="5362575"/>
            <a:ext cx="26860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软 · 班组协作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63100" y="5362575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9300" y="5381625"/>
            <a:ext cx="1752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Noto Sans CJK SC"/>
                <a:ea typeface="Noto Sans CJK SC"/>
              </a:rPr>
              <a:t>2 / 3 /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9900" y="5943600"/>
            <a:ext cx="26860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元 · 实操学习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63100" y="5943600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9300" y="5962650"/>
            <a:ext cx="1752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Noto Sans CJK SC"/>
                <a:ea typeface="Noto Sans CJK SC"/>
              </a:rPr>
              <a:t>2 / 3 /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9900" y="6848475"/>
            <a:ext cx="46482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3A4A"/>
                </a:solidFill>
                <a:latin typeface="Noto Sans CJK SC"/>
                <a:ea typeface="Noto Sans CJK SC"/>
              </a:rPr>
              <a:t>旧型：Excel 1/1/2 · SOP 2/3/4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3A4A"/>
                </a:solidFill>
                <a:latin typeface="Noto Sans CJK SC"/>
                <a:ea typeface="Noto Sans CJK SC"/>
              </a:rPr>
              <a:t>组织协调 3/4/4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9900" y="7648575"/>
            <a:ext cx="4648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数值顺序：基础 / 骨干 / 高端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20600" y="4276725"/>
            <a:ext cx="981075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A2540"/>
                </a:solidFill>
                <a:latin typeface="Barlow Semi Condensed"/>
                <a:ea typeface="Noto Sans CJK SC"/>
              </a:rPr>
              <a:t>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20750" y="4362450"/>
            <a:ext cx="319087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通用层 · 跨岗位共有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20600" y="5267325"/>
            <a:ext cx="981075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A73E8"/>
                </a:solidFill>
                <a:latin typeface="Barlow Semi Condensed"/>
                <a:ea typeface="Noto Sans CJK SC"/>
              </a:rPr>
              <a:t>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20750" y="5353050"/>
            <a:ext cx="319087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产业背景层 · 同类产业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20600" y="6257925"/>
            <a:ext cx="981075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0C2D1"/>
                </a:solidFill>
                <a:latin typeface="Barlow Semi Condensed"/>
                <a:ea typeface="Noto Sans CJK SC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20750" y="6343650"/>
            <a:ext cx="319087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岗位专有层 · 特定任务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420600" y="7515225"/>
            <a:ext cx="4648200" cy="419100"/>
          </a:xfrm>
          <a:prstGeom prst="roundRect">
            <a:avLst>
              <a:gd name="adj" fmla="val 1818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496800" y="7534275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Noto Sans CJK SC"/>
                <a:ea typeface="Noto Sans CJK SC"/>
              </a:rPr>
              <a:t>22 + 48 + 20 = 90 项候选要素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本页为编码方法示例；矩阵和完整清单来自补充附件裁定后页，正式模型以主报告为准。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基于胜任力模型的先进制造业人才标准框架与体系——立白科技调研座谈会</dc:title>
  <dc:subject>18页明亮UI版 · 企业专家验证 · 2026年10月09日</dc:subject>
  <dc:creator>广东工业大学管理学院 | 粤来粤好队 | 罗琳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