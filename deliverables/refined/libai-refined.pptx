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66" r:id="rId18"/>
    <p:sldId id="263" r:id="rId15"/>
    <p:sldId id="264" r:id="rId16"/>
    <p:sldId id="265" r:id="rId17"/>
    <p:sldId id="262" r:id="rId14"/>
    <p:sldId id="259" r:id="rId11"/>
    <p:sldId id="260" r:id="rId12"/>
    <p:sldId id="261" r:id="rId13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8288000" cy="10287000" type="screen4x3"/>
  <p:notesSz cx="6858000" cy="9144000"/>
  <p:embeddedFontLst>
    <p:embeddedFont>
      <p:font typeface="Ma Shan Zheng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font" Target="fonts/font1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新型</c:v>
                </c:pt>
              </c:strCache>
            </c:strRef>
          </c:tx>
          <c:spPr>
            <a:solidFill>
              <a:srgbClr val="1A73E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招聘样本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290635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旧型</c:v>
                </c:pt>
              </c:strCache>
            </c:strRef>
          </c:tx>
          <c:spPr>
            <a:solidFill>
              <a:srgbClr val="00C2D1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招聘样本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49059</c:v>
                </c:pt>
              </c:numCache>
            </c:numRef>
          </c:val>
        </c:ser>
        <c:gapWidth val="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9694.0"/>
          <c:min val="0.0"/>
        </c:scaling>
        <c:delete val="0"/>
        <c:axPos val="b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基础</c:v>
                </c:pt>
              </c:strCache>
            </c:strRef>
          </c:tx>
          <c:spPr>
            <a:solidFill>
              <a:srgbClr val="7FE0E8">
                <a:alpha val="9000"/>
              </a:srgbClr>
            </a:solidFill>
            <a:ln w="25400">
              <a:solidFill>
                <a:srgbClr val="7FE0E8"/>
              </a:solidFill>
            </a:ln>
          </c:spPr>
          <c:marker>
            <c:symbol val="circle"/>
            <c:size val="6"/>
            <c:spPr>
              <a:solidFill>
                <a:srgbClr val="7FE0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</c:v>
                </c:pt>
              </c:strCache>
            </c:strRef>
          </c:tx>
          <c:spPr>
            <a:solidFill>
              <a:srgbClr val="1A73E8">
                <a:alpha val="9000"/>
              </a:srgbClr>
            </a:solidFill>
            <a:ln w="25400">
              <a:solidFill>
                <a:srgbClr val="1A73E8"/>
              </a:solidFill>
            </a:ln>
          </c:spPr>
          <c:marker>
            <c:symbol val="circle"/>
            <c:size val="6"/>
            <c:spPr>
              <a:solidFill>
                <a:srgbClr val="1A73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0A2540">
                <a:alpha val="9000"/>
              </a:srgbClr>
            </a:solidFill>
            <a:ln w="25400">
              <a:solidFill>
                <a:srgbClr val="0A2540"/>
              </a:solidFill>
            </a:ln>
          </c:spPr>
          <c:marker>
            <c:symbol val="circle"/>
            <c:size val="6"/>
            <c:spPr>
              <a:solidFill>
                <a:srgbClr val="0A2540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设备操作</c:v>
                </c:pt>
                <c:pt idx="1">
                  <c:v>ERP操作</c:v>
                </c:pt>
                <c:pt idx="2">
                  <c:v>CAD解读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8A9BB0"/>
                </a:solidFill>
                <a:latin typeface="Noto Sans CJK SC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4.0"/>
          <c:min val="0.0"/>
        </c:scaling>
        <c:delete val="0"/>
        <c:axPos val="l"/>
        <c:majorGridlines>
          <c:spPr>
            <a:ln w="9525">
              <a:solidFill>
                <a:srgbClr val="E5E9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A9BB0"/>
                </a:solidFill>
                <a:latin typeface="Noto Sans CJK SC"/>
              </a:defRPr>
            </a:pPr>
          </a:p>
        </c:txPr>
        <c:crossAx val="2073612648"/>
        <c:crosses val="autoZero"/>
        <c:crossBetween val="between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latin typeface="Noto Sans CJK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基础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7FE0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GMP合规</c:v>
                </c:pt>
                <c:pt idx="1">
                  <c:v>SOP执行</c:v>
                </c:pt>
                <c:pt idx="2">
                  <c:v>经验积累
待验证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骨干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1A73E8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GMP合规</c:v>
                </c:pt>
                <c:pt idx="1">
                  <c:v>SOP执行</c:v>
                </c:pt>
                <c:pt idx="2">
                  <c:v>经验积累
待验证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高端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6"/>
            <c:spPr>
              <a:solidFill>
                <a:srgbClr val="0A2540"/>
              </a:solidFill>
              <a:ln>
                <a:noFill/>
              </a:ln>
            </c:spPr>
          </c:marker>
          <c:cat>
            <c:strRef>
              <c:f>Sheet1!$A$2:$A$4</c:f>
              <c:strCache>
                <c:ptCount val="3"/>
                <c:pt idx="0">
                  <c:v>GMP合规</c:v>
                </c:pt>
                <c:pt idx="1">
                  <c:v>SOP执行</c:v>
                </c:pt>
                <c:pt idx="2">
                  <c:v>经验积累
待验证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8A9BB0"/>
                </a:solidFill>
                <a:latin typeface="Noto Sans CJK SC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4.0"/>
          <c:min val="0.0"/>
        </c:scaling>
        <c:delete val="0"/>
        <c:axPos val="l"/>
        <c:majorGridlines>
          <c:spPr>
            <a:ln w="9525">
              <a:solidFill>
                <a:srgbClr val="E5E9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A9BB0"/>
                </a:solidFill>
                <a:latin typeface="Noto Sans CJK SC"/>
              </a:defRPr>
            </a:pPr>
          </a:p>
        </c:txPr>
        <c:crossAx val="2073612648"/>
        <c:crosses val="autoZero"/>
        <c:crossBetween val="between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latin typeface="Noto Sans CJK S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【第1页】基于胜任力模型的先进制造业人才标准框架与体系</a:t>
            </a:r>
          </a:p>
          <a:p>
            <a:r>
              <a:t>建议时长：1分钟</a:t>
            </a:r>
          </a:p>
          <a:p>
            <a:r>
              <a:t>开场问候。先说明本次不是公布最终模型效度，而是邀请专家以真实岗位校验分类、配置与行为标准。</a:t>
            </a:r>
          </a:p>
          <a:p/>
          <a:p>
            <a:r>
              <a:t>资料来源与核验说明：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【第2页】今天请您判断：模型能否解释立白的真实岗位</a:t>
            </a:r>
          </a:p>
          <a:p>
            <a:r>
              <a:t>建议时长：2分钟</a:t>
            </a:r>
          </a:p>
          <a:p>
            <a:r>
              <a:t>今天需要的是判断依据，而非只给印象分。选熟悉岗位，核对分类、能力、层级、产业差异、总图及遗漏项。</a:t>
            </a:r>
          </a:p>
          <a:p/>
          <a:p>
            <a:r>
              <a:t>资料来源与核验说明：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【第3页】人才标准成为竞争变量，四类瓶颈需要系统回应</a:t>
            </a:r>
          </a:p>
          <a:p>
            <a:r>
              <a:t>建议时长：2分钟</a:t>
            </a:r>
          </a:p>
          <a:p>
            <a:r>
              <a:t>请立白专家对照实际选出最突出的一项，并给出具体岗位案例。</a:t>
            </a:r>
          </a:p>
          <a:p/>
          <a:p>
            <a:r>
              <a:t>资料来源与核验说明：</a:t>
            </a:r>
          </a:p>
          <a:p>
            <a:r>
              <a:t>主报告§3.4人才队伍建设短板。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【第9页】339,694 条招聘文本，为能力提取提供市场证据</a:t>
            </a:r>
          </a:p>
          <a:p>
            <a:r>
              <a:t>建议时长：2分钟</a:t>
            </a:r>
          </a:p>
          <a:p>
            <a:r>
              <a:t>主报告招聘数据来自2025年公开需求；招聘表达是能力需求线索，不能直接证明高绩效或模型效度。五类方法交叉补充。</a:t>
            </a:r>
          </a:p>
          <a:p/>
          <a:p>
            <a:r>
              <a:t>资料来源与核验说明：</a:t>
            </a:r>
          </a:p>
          <a:p>
            <a:r>
              <a:t>核心来源：《202602优化版本-先进制造业人才标准项目报告0201》§4.2.1；《智造人才画像》仅作佐证。2025年公开招聘文本：总计339,694，新型290,635，旧型49,059。招聘表达不等同于实际录用、岗位绩效或因果验证。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【第10页】一致性检验回答“编码是否可靠”，不是“模型是否成立”</a:t>
            </a:r>
          </a:p>
          <a:p>
            <a:r>
              <a:t>建议时长：3分钟</a:t>
            </a:r>
          </a:p>
          <a:p>
            <a:r>
              <a:t>这些量来自补充附件的编码方法示例。Kappa=.900是编码者扣除随机一致性后的统计一致性，不能证明整个模型有效。正式模型核心口径仍取主报告。</a:t>
            </a:r>
          </a:p>
          <a:p/>
          <a:p>
            <a:r>
              <a:t>资料来源与核验说明：</a:t>
            </a:r>
          </a:p>
          <a:p>
            <a:r>
              <a:t>补充附件仅为编码示例，不能替代《202602优化版本项目报告0201》的正式研究结论。示例来源07_总体Kappa、第三人裁定与最终编码及10_分歧清单第三人裁判结果：N=12,416×90=1,117,440，A命中11,473，B命中12,551，交集10,824；Po=0.9978737113、Pe=0.9787315003、Kappa=0.9000263916（显示0.900）；分歧2,376，裁定命中553，最终命中11,377。示例工作簿说明页标注模拟研究，用户已明确补充附件用于编码示例。展示表内核验结果用于讲解流程，不声称正式样本完成这些编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【第11页】收敛回答“留下什么”，分层回答“适用于哪里”</a:t>
            </a:r>
          </a:p>
          <a:p>
            <a:r>
              <a:t>建议时长：3分钟</a:t>
            </a:r>
          </a:p>
          <a:p>
            <a:r>
              <a:t>90项初始池剔除17项保留73项，是收敛操作；通用22、产业48、岗位20是对初始90项的适用范围分类，不能当作73项的分层。90行单调性检验只对应补充示例，不能证明正式矩阵无倒挂。</a:t>
            </a:r>
          </a:p>
          <a:p/>
          <a:p>
            <a:r>
              <a:t>资料来源与核验说明：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【第8页】产业背景决定能力侧重，不应把企业机械归入单一标签</a:t>
            </a:r>
          </a:p>
          <a:p>
            <a:r>
              <a:t>建议时长：2分钟</a:t>
            </a:r>
          </a:p>
          <a:p>
            <a:r>
              <a:t>沿用主报告新旧分组，但新旧不是企业先进程度排名。请立白专家检验不同业务和岗位应采用哪些能力侧重，而非强行将整家企业归为一个类别。</a:t>
            </a:r>
          </a:p>
          <a:p/>
          <a:p>
            <a:r>
              <a:t>资料来源与核验说明：</a:t>
            </a:r>
          </a:p>
          <a:p>
            <a:r>
              <a:t>主报告§3.2—3.3、§4.6；企业适配为本次待验证问题。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【第5页】五类人才按工作功能区分，不是五级晋升阶梯</a:t>
            </a:r>
          </a:p>
          <a:p>
            <a:r>
              <a:t>建议时长：3分钟</a:t>
            </a:r>
          </a:p>
          <a:p>
            <a:r>
              <a:t>五类是职能分类，不是每人从操作晋升至战略的唯一通道。复合岗位可指定主职能并兼具其他能力。请判断边界与缺失岗位。</a:t>
            </a:r>
          </a:p>
          <a:p/>
          <a:p>
            <a:r>
              <a:t>资料来源与核验说明：</a:t>
            </a:r>
          </a:p>
          <a:p>
            <a:r>
              <a:t>主报告§4.2；认知展开不等于晋升路径。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【第6页】三维能力分别回答：会做、协同、适应变化</a:t>
            </a:r>
          </a:p>
          <a:p>
            <a:r>
              <a:t>建议时长：3分钟</a:t>
            </a:r>
          </a:p>
          <a:p>
            <a:r>
              <a:t>三维来自主报告。三问是补充附件中的归属校验方法，不可误作正式模型效度。90/90与两项争议见备用页；本页先解释专家应检验的能力构成。</a:t>
            </a:r>
          </a:p>
          <a:p/>
          <a:p>
            <a:r>
              <a:t>资料来源与核验说明：</a:t>
            </a:r>
          </a:p>
          <a:p>
            <a:r>
              <a:t>主报告三维结构；三问规则参考补充08。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【第7页】三级描述任务角色，四级描述单项能力行为</a:t>
            </a:r>
          </a:p>
          <a:p>
            <a:r>
              <a:t>建议时长：3分钟</a:t>
            </a:r>
          </a:p>
          <a:p>
            <a:r>
              <a:t>人才层级为基础、骨干、高端；能力行为为1—4级，不能把人才层级与行为等级简单一一对应。三层标准适用范围在模型总览中另行表达。主报告设备操作4/3/2与递进文字之间需要专家澄清。</a:t>
            </a:r>
          </a:p>
          <a:p/>
          <a:p>
            <a:r>
              <a:t>资料来源与核验说明：</a:t>
            </a:r>
          </a:p>
          <a:p>
            <a:r>
              <a:t>主报告§5.1—5.3；原报告矩阵的角色配置差异待核对。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【第4页】模型把岗位任务转化为可观察、可评价的能力标准</a:t>
            </a:r>
          </a:p>
          <a:p>
            <a:r>
              <a:t>建议时长：3分钟</a:t>
            </a:r>
          </a:p>
          <a:p>
            <a:r>
              <a:t>先确认产业情境与五类工作功能，再提取硬软元能力，组合通用/产业/岗位三个适用层；按基础/骨干/高端角色配置每项能力的1—4级行为要求。连接表达形成标准的组合逻辑，不是已验证因果。</a:t>
            </a:r>
          </a:p>
          <a:p/>
          <a:p>
            <a:r>
              <a:t>资料来源与核验说明：</a:t>
            </a:r>
          </a:p>
          <a:p>
            <a:r>
              <a:t>主报告摘要、§4.1、§4.6和§5。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【第12页】模型的价值，要看能否补充并衔接立白现有实践</a:t>
            </a:r>
          </a:p>
          <a:p>
            <a:r>
              <a:t>建议时长：3分钟</a:t>
            </a:r>
          </a:p>
          <a:p>
            <a:r>
              <a:t>现有做法为典型局限概括，不是立白现状诊断。请专家逐行判断适用性，提出与企业现有制度衔接的方式。</a:t>
            </a:r>
          </a:p>
          <a:p/>
          <a:p>
            <a:r>
              <a:t>资料来源与核验说明：</a:t>
            </a:r>
          </a:p>
          <a:p>
            <a:r>
              <a:t>主报告§5—§7及用户方案。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【第13页】智能制造操作能力，从“会操作”走向“能主导”</a:t>
            </a:r>
          </a:p>
          <a:p>
            <a:r>
              <a:t>建议时长：2分钟</a:t>
            </a:r>
          </a:p>
          <a:p>
            <a:r>
              <a:t>请判断行为是否可观察、可评价。新型主报告原值为设备4/3/2、ERP4/4/3、CAD3/4/3，保留非单调配置，现场确认它表达角色专业要求还是最低等级。</a:t>
            </a:r>
          </a:p>
          <a:p/>
          <a:p>
            <a:r>
              <a:t>资料来源与核验说明：</a:t>
            </a:r>
          </a:p>
          <a:p>
            <a:r>
              <a:t>行为描述逐字引自主报告；雷达配置取主报告表4-11/4-16。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【第14页】旧型产业能力，更强调合规、流程与经验传承</a:t>
            </a:r>
          </a:p>
          <a:p>
            <a:r>
              <a:t>建议时长：2分钟</a:t>
            </a:r>
          </a:p>
          <a:p>
            <a:r>
              <a:t>请判断产业差异是否成立。GMP、SOP三级配置均1/2/4；经验积累有完整行为锚点但无三级配置，不能补0或虚构。GMP适用性按立白具体业务判断。</a:t>
            </a:r>
          </a:p>
          <a:p/>
          <a:p>
            <a:r>
              <a:t>资料来源与核验说明：</a:t>
            </a:r>
          </a:p>
          <a:p>
            <a:r>
              <a:t>行为描述逐字引自主报告；雷达配置取主报告表4-11/4-16。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【第15页】请用一个熟悉岗位，把模型从头检验一遍</a:t>
            </a:r>
          </a:p>
          <a:p>
            <a:r>
              <a:t>建议时长：3分钟</a:t>
            </a:r>
          </a:p>
          <a:p>
            <a:r>
              <a:t>请选择熟悉岗位：说明核心任务，确定工作功能与产业情境，对照能力与标准层，核对人才角色、行为要求及真实证据。最后回到分类、能力、分级、差异、总图、缺失六维度评分。该流程为座谈建议，不是立白已经采用的标准。</a:t>
            </a:r>
          </a:p>
          <a:p/>
          <a:p>
            <a:r>
              <a:t>资料来源与核验说明：</a:t>
            </a:r>
          </a:p>
          <a:p>
            <a:r>
              <a:t>用户座谈目标；主报告企业实施思路。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【第16页】请现场评分，专家判断将直接指向模型修订</a:t>
            </a:r>
          </a:p>
          <a:p>
            <a:r>
              <a:t>建议时长：15分钟评分</a:t>
            </a:r>
          </a:p>
          <a:p>
            <a:r>
              <a:t>独立评分15分钟。1不成立、2需大幅修改、3基本成立但需调整、4较适用、5高度适用。不熟悉或不适用记N/A，不计入均值。修改建议写具体岗位、行为证据与修改条目。</a:t>
            </a:r>
          </a:p>
          <a:p/>
          <a:p>
            <a:r>
              <a:t>资料来源与核验说明：</a:t>
            </a:r>
          </a:p>
          <a:p>
            <a:r>
              <a:t>用户指定专家验证表；现场1—5分不同于能力行为1—4级。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【第17页】每项反馈都有处理结果，形成可追踪的修订闭环</a:t>
            </a:r>
          </a:p>
          <a:p>
            <a:r>
              <a:t>建议时长：3分钟</a:t>
            </a:r>
          </a:p>
          <a:p>
            <a:r>
              <a:t>拟定机制：现场评分，3工作日汇总，团队研判，10工作日反馈，待议复核。每项采纳状态附理由。无问卷链接，保留待补充而不生成虚假二维码。</a:t>
            </a:r>
          </a:p>
          <a:p/>
          <a:p>
            <a:r>
              <a:t>资料来源与核验说明：</a:t>
            </a:r>
          </a:p>
          <a:p>
            <a:r>
              <a:t>用户指定反馈机制；工作日期限为拟定安排。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【第18页】按专家追问展开：归属规则、分级示例与三层清单</a:t>
            </a:r>
          </a:p>
          <a:p>
            <a:r>
              <a:t>建议时长：按需展开</a:t>
            </a:r>
          </a:p>
          <a:p>
            <a:r>
              <a:t>三问判定：问1看证书/作品/参数；问2看人与人互动协同；问3看跨任务跨情境迁移。多问同时为是，按问3&gt;问2&gt;问1；与种子词典不一致的条目暂按词典、提请复核。</a:t>
            </a:r>
          </a:p>
          <a:p>
            <a:r>
              <a:t>新-跨界-02｜新｜跨界复合人才｜跨域项目管理能力｜是｜是｜是｜元技能｜硬技能｜不一致｜硬技能｜⚠ 与种子词典"硬技能"不一致：跨域项目管理须与他人协商协同（问2=是）且需跨情境判断（问3=是），三问判定为元技能，建议团队复核。</a:t>
            </a:r>
          </a:p>
          <a:p>
            <a:r>
              <a:t>旧-战略-03｜旧｜战略引领人才｜团队管理能力｜否｜是｜否｜软技能｜硬技能｜不一致｜硬技能｜⚠ 与种子词典"硬技能"不一致：团队管理须与他人互动（问2=是），三问判定为软技能；且同名要素"旧-数字-05 团队管理能力"在词典中即为软技能，建议统一。</a:t>
            </a:r>
          </a:p>
          <a:p/>
          <a:p>
            <a:r>
              <a:t>三维三层级矩阵示例（补充附件、裁定后口径）：</a:t>
            </a:r>
          </a:p>
          <a:p>
            <a:r>
              <a:t>新-智能-01 智能化设备操作能力｜硬技能｜基础/骨干/高端=3/4/4｜E06792：主导隔膜陶瓷涂覆、PVDF 涂覆等涂覆工艺配套自动化产线的设备调试、问题排查，解决项目现场技术异常；</a:t>
            </a:r>
          </a:p>
          <a:p>
            <a:r>
              <a:t>新-智能-05 班组协作能力｜软技能｜基础/骨干/高端=2/3/4｜E03814：与软件、硬件、测试团队协作，推动算法能力落地</a:t>
            </a:r>
          </a:p>
          <a:p>
            <a:r>
              <a:t>新-智能-08 实操学习能力｜元技能｜基础/骨干/高端=2/3/4｜E00227：行业迭代学习：主动学习香氛行业新原料、新包材、新工艺及行业新规、市场新趋势，快速吸收专业知识并落地应用，适配产品快速迭代需求，助力产品优化创新。</a:t>
            </a:r>
          </a:p>
          <a:p>
            <a:r>
              <a:t>旧-智能-01 Excel操作能力｜硬技能｜基础/骨干/高端=1/1/2｜—：—</a:t>
            </a:r>
          </a:p>
          <a:p>
            <a:r>
              <a:t>旧-智能-04 SOP执行能力｜软技能｜基础/骨干/高端=2/3/4｜E05019：编制材料测试SOP,优化实验流程测试周期缩短20%</a:t>
            </a:r>
          </a:p>
          <a:p>
            <a:r>
              <a:t>旧-智能-09 组织协调能力｜元技能｜基础/骨干/高端=3/4/4｜E05285：制定项目规划，分派项目任务，及时跟催进度，协调解决项目异常,完善建立项目资料；</a:t>
            </a:r>
          </a:p>
          <a:p/>
          <a:p>
            <a:r>
              <a:t>三层完整90项清单：</a:t>
            </a:r>
          </a:p>
          <a:p>
            <a:r>
              <a:t>圆心·通用层（22项）</a:t>
            </a:r>
          </a:p>
          <a:p>
            <a:r>
              <a:t>定义：命中该要素的条目覆盖 ≥4 个人才类别（跨岗位通用）</a:t>
            </a:r>
          </a:p>
          <a:p>
            <a:r>
              <a:t>新-智能-05 班组协作能力(覆盖4类)；新-技术-02 CAD三维建模与仿真能力(覆盖4类)；新-技术-04 技术方案落地能力(覆盖5类)；新-技术-05 研发项目推进能力(覆盖4类)；新-技术-07 技术创新能力(覆盖5类)；新-数字-05 跨部门数字化协同能力(覆盖4类)；新-数字-06 数字化需求挖掘能力(覆盖4类)；新-跨界-02 跨域项目管理能力(覆盖4类)；新-跨界-07 跨域问题协调能力(覆盖5类)；旧-智能-06 团队协作能力(覆盖5类)；旧-智能-08 沟通表达能力(覆盖5类)；旧-智能-09 组织协调能力(覆盖5类)；旧-技术-06 项目管理能力(覆盖4类)；旧-技术-07 方案设计能力(覆盖5类)；旧-技术-08 分析能力(覆盖5类)；旧-技术-09 设计能力(覆盖5类)；旧-数字-09 统筹规划能力(覆盖5类)；旧-跨界-05 项目管理能力(覆盖4类)；旧-跨界-09 统筹规划能力(覆盖5类)；旧-战略-04 项目管理能力(覆盖4类)；旧-战略-05 部门协作能力(覆盖4类)；旧-战略-07 组织协调能力(覆盖5类)</a:t>
            </a:r>
          </a:p>
          <a:p/>
          <a:p>
            <a:r>
              <a:t>中间·产业背景层（48项）</a:t>
            </a:r>
          </a:p>
          <a:p>
            <a:r>
              <a:t>定义：命中该要素的条目覆盖 2—3 个人才类别</a:t>
            </a:r>
          </a:p>
          <a:p>
            <a:r>
              <a:t>新-智能-01 智能化设备操作能力(覆盖2类)；新-智能-02 ERP生产模块操作能力(覆盖3类)；新-智能-03 CAD图纸解读能力(覆盖3类)；新-智能-04 生产数据复盘能力(覆盖2类)；新-智能-06 现场沟通能力(覆盖2类)；新-智能-07 设备适配能力(覆盖3类)；新-智能-08 实操学习能力(覆盖3类)；新-智能-09 现场应变能力(覆盖3类)；新-技术-01 Python研发数据分析能力(覆盖3类)；新-技术-06 技术沟通能力(覆盖3类)；新-技术-08 复杂问题拆解能力(覆盖2类)；新-技术-09 技术沉淀能力(覆盖2类)；新-数字-01 Excel高级数据建模能力(覆盖3类)；新-数字-03 数字化报表制作能力(覆盖3类)；新-数字-07 数字化统筹能力(覆盖2类)；新-数字-08 数据决策能力(覆盖3类)；新-跨界-04 跨域项目统筹能力(覆盖2类)；新-跨界-05 跨域沟通适配能力(覆盖3类)；新-跨界-09 跨域认知能力(覆盖2类)；新-战略-07 战略落地推动能力(覆盖3类)；新-战略-09 战略洞察能力(覆盖3类)；旧-智能-01 Excel操作能力(覆盖3类)；旧-智能-02 GMP合规能力(覆盖2类)；旧-智能-03 Office综合应用能力(覆盖3类)；旧-智能-04 SOP执行能力(覆盖3类)；旧-智能-07 知识培训能力(覆盖3类)；旧-技术-01 CAD设计能力(覆盖2类)；旧-技术-02 PLC编程能力(覆盖2类)；旧-技术-03 SolidWorks建模能力(覆盖2类)；旧-技术-04 GMP技术应用能力(覆盖2类)；旧-技术-05 技术支持能力(覆盖2类)；旧-数字-01 GMP管理能力(覆盖2类)；旧-数字-02 ERP操作能力(覆盖3类)；旧-数字-03 Excel数据分析能力(覆盖3类)；旧-数字-04 SOP管理能力(覆盖3类)；旧-数字-05 团队管理能力(覆盖3类)；旧-数字-07 市场调研能力(覆盖3类)；旧-数字-08 管理能力(覆盖3类)；旧-跨界-01 数控机床操作能力(覆盖2类)；旧-跨界-04 SOP执行能力(覆盖3类)；旧-跨界-06 市场推广能力(覆盖2类)；旧-跨界-08 管理能力(覆盖3类)；旧-战略-01 GMP战略管理能力(覆盖2类)；旧-战略-02 SOP体系建设能力(覆盖3类)；旧-战略-03 团队管理能力(覆盖3类)；旧-战略-06 领导力(覆盖3类)；旧-战略-08 开拓能力(覆盖2类)；旧-战略-09 问题解决能力(覆盖3类)</a:t>
            </a:r>
          </a:p>
          <a:p/>
          <a:p>
            <a:r>
              <a:t>外层·岗位专有层（20项）</a:t>
            </a:r>
          </a:p>
          <a:p>
            <a:r>
              <a:t>定义：命中该要素的条目仅覆盖 0—1 个人才类别</a:t>
            </a:r>
          </a:p>
          <a:p>
            <a:r>
              <a:t>新-技术-03 Linux研发环境搭建能力(覆盖1类)；新-数字-02 ERP系统深度应用能力(覆盖0类)；新-数字-04 数字化团队管理能力(覆盖0类)；新-数字-09 数字化工具推广能力(覆盖1类)；新-跨界-01 跨域视觉设计能力(覆盖0类)；新-跨界-03 Python跨域数据整合能力(覆盖0类)；新-跨界-06 跨域价值挖掘能力(覆盖0类)；新-跨界-08 资源整合能力(覆盖1类)；新-战略-01 机器人技术战略应用能力(覆盖1类)；新-战略-02 ERP系统战略优化能力(覆盖0类)；新-战略-03 数字化战略落地能力(覆盖0类)；新-战略-04 高层团队引领能力(覆盖0类)；新-战略-05 跨企业战略协同能力(覆盖0类)；新-战略-06 战略风险管控能力(覆盖0类)；新-战略-08 资源布局能力(覆盖0类)；旧-智能-05 学术推广能力(覆盖0类)；旧-数字-06 销售管理能力(覆盖0类)；旧-跨界-02 GCP合规能力(覆盖0类)；旧-跨界-03 PMP项目管理能力(覆盖1类)；旧-跨界-07 客户开发能力(覆盖1类)</a:t>
            </a:r>
          </a:p>
          <a:p/>
          <a:p>
            <a:r>
              <a:t>资料来源与核验说明：</a:t>
            </a:r>
          </a:p>
          <a:p>
            <a:r>
              <a:t>核心模型以《202602优化版本项目报告0201》为准；补充08、09、12仅为编码示例。示例采用裁定后页：剔除17项保留73项；候选矩阵90行均满足基础≤骨干≤高端，通用22+产业背景48+岗位专有20=90，数量不得移作主报告正式框架结论。示例三层按跨人才类别覆盖度分组；包括17项剔除候选与16项无证据占位行。示例08：90项有唯一维度，2项与种子词典不一致。示例的单调性由赋值规则保证，不证明主报告矩阵也已无倒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23900"/>
            <a:ext cx="18288000" cy="9563100"/>
          </a:xfrm>
          <a:gradFill>
            <a:gsLst>
              <a:gs pos="0">
                <a:srgbClr val="0A2540"/>
              </a:gs>
              <a:gs pos="100000">
                <a:srgbClr val="102D4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9C6E5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3425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183B5A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22415D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500" y="1905000"/>
            <a:ext cx="3314700" cy="457200"/>
          </a:xfrm>
          <a:prstGeom prst="roundRect">
            <a:avLst>
              <a:gd name="adj" fmla="val 16666"/>
            </a:avLst>
          </a:prstGeom>
          <a:solidFill>
            <a:srgbClr val="163B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" y="1924049"/>
            <a:ext cx="3162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FE0E8"/>
                </a:solidFill>
                <a:latin typeface="Noto Sans CJK SC"/>
                <a:ea typeface="Noto Sans CJK SC"/>
              </a:rPr>
              <a:t>企业专家验证 · 调研座谈会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2905125"/>
            <a:ext cx="981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A9C6E5"/>
                </a:solidFill>
                <a:latin typeface="Noto Sans CJK SC"/>
                <a:ea typeface="Noto Sans CJK SC"/>
              </a:rPr>
              <a:t>基于胜任力模型的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3867150"/>
            <a:ext cx="10287000" cy="1076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Noto Sans CJK SC"/>
                <a:ea typeface="Noto Sans CJK SC"/>
              </a:rPr>
              <a:t>先进制造业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2550"/>
            <a:ext cx="1028700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Noto Sans CJK SC"/>
                <a:ea typeface="Noto Sans CJK SC"/>
              </a:rPr>
              <a:t>人才标准框架与体系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500" y="6581775"/>
            <a:ext cx="904875" cy="47625"/>
          </a:xfrm>
          <a:prstGeom prst="rect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500" y="7067550"/>
            <a:ext cx="10096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C2D1"/>
                </a:solidFill>
                <a:latin typeface="Noto Sans CJK SC"/>
                <a:ea typeface="Noto Sans CJK SC"/>
              </a:rPr>
              <a:t>立白科技调研座谈会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8562975"/>
            <a:ext cx="124777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9C6E5"/>
                </a:solidFill>
                <a:latin typeface="Noto Sans CJK SC"/>
                <a:ea typeface="Noto Sans CJK SC"/>
              </a:rPr>
              <a:t>广东工业大学管理学院  |  粤来粤好队  |  汇报人：罗琳  |  2026年10月09日</a:t>
            </a:r>
          </a:p>
        </p:txBody>
      </p:sp>
      <p:sp>
        <p:nvSpPr>
          <p:cNvPr id="22" name="Oval 21"/>
          <p:cNvSpPr/>
          <p:nvPr/>
        </p:nvSpPr>
        <p:spPr>
          <a:xfrm>
            <a:off x="11525250" y="2400300"/>
            <a:ext cx="5143500" cy="5143500"/>
          </a:xfrm>
          <a:prstGeom prst="ellipse">
            <a:avLst/>
          </a:prstGeom>
          <a:solidFill>
            <a:srgbClr val="1A73E8">
              <a:alpha val="9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287250" y="3162300"/>
            <a:ext cx="3619500" cy="3619500"/>
          </a:xfrm>
          <a:prstGeom prst="ellipse">
            <a:avLst/>
          </a:prstGeom>
          <a:solidFill>
            <a:srgbClr val="1A73E8">
              <a:alpha val="13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030200" y="3905249"/>
            <a:ext cx="2133600" cy="2133600"/>
          </a:xfrm>
          <a:prstGeom prst="ellipse">
            <a:avLst/>
          </a:prstGeom>
          <a:solidFill>
            <a:srgbClr val="00C2D1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25250" y="2400300"/>
            <a:ext cx="5143500" cy="5143500"/>
          </a:xfrm>
          <a:prstGeom prst="ellipse">
            <a:avLst/>
          </a:prstGeom>
          <a:noFill/>
          <a:ln w="15240">
            <a:solidFill>
              <a:srgbClr val="2352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287250" y="3162300"/>
            <a:ext cx="3619500" cy="3619500"/>
          </a:xfrm>
          <a:prstGeom prst="ellipse">
            <a:avLst/>
          </a:prstGeom>
          <a:noFill/>
          <a:ln w="15240">
            <a:solidFill>
              <a:srgbClr val="3277B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030200" y="3905249"/>
            <a:ext cx="2133600" cy="2133600"/>
          </a:xfrm>
          <a:prstGeom prst="ellipse">
            <a:avLst/>
          </a:prstGeom>
          <a:noFill/>
          <a:ln w="1524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25450" y="4429125"/>
            <a:ext cx="19431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岗位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人才标准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992100" y="1990725"/>
            <a:ext cx="1695450" cy="695325"/>
          </a:xfrm>
          <a:prstGeom prst="roundRect">
            <a:avLst>
              <a:gd name="adj" fmla="val 24657"/>
            </a:avLst>
          </a:prstGeom>
          <a:solidFill>
            <a:srgbClr val="1744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077825" y="2066924"/>
            <a:ext cx="1524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能力</a:t>
            </a:r>
          </a:p>
        </p:txBody>
      </p:sp>
      <p:sp>
        <p:nvSpPr>
          <p:cNvPr id="31" name="Oval 30"/>
          <p:cNvSpPr/>
          <p:nvPr/>
        </p:nvSpPr>
        <p:spPr>
          <a:xfrm>
            <a:off x="12915900" y="2276475"/>
            <a:ext cx="123824" cy="12382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258550" y="5514975"/>
            <a:ext cx="1695450" cy="695325"/>
          </a:xfrm>
          <a:prstGeom prst="roundRect">
            <a:avLst>
              <a:gd name="adj" fmla="val 24657"/>
            </a:avLst>
          </a:prstGeom>
          <a:solidFill>
            <a:srgbClr val="1744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44275" y="5591175"/>
            <a:ext cx="1524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人才</a:t>
            </a:r>
          </a:p>
        </p:txBody>
      </p:sp>
      <p:sp>
        <p:nvSpPr>
          <p:cNvPr id="34" name="Oval 33"/>
          <p:cNvSpPr/>
          <p:nvPr/>
        </p:nvSpPr>
        <p:spPr>
          <a:xfrm>
            <a:off x="11182350" y="5800725"/>
            <a:ext cx="123824" cy="123824"/>
          </a:xfrm>
          <a:prstGeom prst="ellipse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144750" y="6800850"/>
            <a:ext cx="1695450" cy="695325"/>
          </a:xfrm>
          <a:prstGeom prst="roundRect">
            <a:avLst>
              <a:gd name="adj" fmla="val 24657"/>
            </a:avLst>
          </a:prstGeom>
          <a:solidFill>
            <a:srgbClr val="1744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230475" y="6877050"/>
            <a:ext cx="1524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标准</a:t>
            </a:r>
          </a:p>
        </p:txBody>
      </p:sp>
      <p:sp>
        <p:nvSpPr>
          <p:cNvPr id="37" name="Oval 36"/>
          <p:cNvSpPr/>
          <p:nvPr/>
        </p:nvSpPr>
        <p:spPr>
          <a:xfrm>
            <a:off x="15068550" y="7086600"/>
            <a:ext cx="123824" cy="123824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868650" y="8362950"/>
            <a:ext cx="676275" cy="67627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exec-7ea0c041-660a-4e39-951e-eb2d527afb9f.png"/>
          <p:cNvPicPr>
            <a:picLocks noChangeAspect="1"/>
          </p:cNvPicPr>
          <p:nvPr/>
        </p:nvPicPr>
        <p:blipFill>
          <a:blip r:embed="rId3"/>
          <a:srcRect l="55000" r="8300" t="3400" b="3800"/>
          <a:stretch>
            <a:fillRect/>
          </a:stretch>
        </p:blipFill>
        <p:spPr>
          <a:xfrm>
            <a:off x="15906749" y="8401050"/>
            <a:ext cx="600075" cy="600075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16725900" y="8362950"/>
            <a:ext cx="676275" cy="67627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exec-7ea0c041-660a-4e39-951e-eb2d527afb9f.png"/>
          <p:cNvPicPr>
            <a:picLocks noChangeAspect="1"/>
          </p:cNvPicPr>
          <p:nvPr/>
        </p:nvPicPr>
        <p:blipFill>
          <a:blip r:embed="rId3"/>
          <a:srcRect l="8800" r="54500" t="3400" b="3800"/>
          <a:stretch>
            <a:fillRect/>
          </a:stretch>
        </p:blipFill>
        <p:spPr>
          <a:xfrm>
            <a:off x="16763999" y="8401050"/>
            <a:ext cx="600075" cy="600075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500"/>
                      <p:tgtEl>
                        <p:spTgt spid="4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500"/>
                      <p:tgtEl>
                        <p:spTgt spid="6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500"/>
                      <p:tgtEl>
                        <p:spTgt spid="7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500"/>
                      <p:tgtEl>
                        <p:spTgt spid="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3425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02  /  项目背景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今天请您判断：模型能否解释立白的真实岗位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371725"/>
            <a:ext cx="16383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介绍模型  →  岗位检验  →  形成修订意见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02</a:t>
            </a:r>
          </a:p>
        </p:txBody>
      </p:sp>
      <p:sp>
        <p:nvSpPr>
          <p:cNvPr id="16" name="Oval 15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52500" y="3238500"/>
            <a:ext cx="5181600" cy="314325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8725" y="3371850"/>
            <a:ext cx="8763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1A73E8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20" name="Oval 19"/>
          <p:cNvSpPr/>
          <p:nvPr/>
        </p:nvSpPr>
        <p:spPr>
          <a:xfrm>
            <a:off x="5257800" y="35623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400675" y="3657600"/>
            <a:ext cx="1428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5543550" y="3657600"/>
            <a:ext cx="47625" cy="476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5591175" y="3705224"/>
            <a:ext cx="0" cy="21907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 flipH="1">
            <a:off x="5400675" y="3924300"/>
            <a:ext cx="1905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5400675" y="3657600"/>
            <a:ext cx="0" cy="2667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5543550" y="3657600"/>
            <a:ext cx="0" cy="476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5543550" y="3705224"/>
            <a:ext cx="4762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5438775" y="3762374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5438775" y="3819524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5438775" y="3876674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1238250" y="4362450"/>
            <a:ext cx="4591050" cy="657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2540"/>
                </a:solidFill>
                <a:latin typeface="Noto Sans CJK SC"/>
                <a:ea typeface="Noto Sans CJK SC"/>
              </a:rPr>
              <a:t>看懂模型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250" y="5267325"/>
            <a:ext cx="45910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理解分类、能力与标准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怎样组合为岗位要求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53200" y="3238500"/>
            <a:ext cx="5181600" cy="314325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9425" y="3371850"/>
            <a:ext cx="8763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1A73E8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35" name="Oval 34"/>
          <p:cNvSpPr/>
          <p:nvPr/>
        </p:nvSpPr>
        <p:spPr>
          <a:xfrm>
            <a:off x="10858500" y="35623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53750" y="3657600"/>
            <a:ext cx="266700" cy="2667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1010900" y="3790949"/>
            <a:ext cx="57150" cy="5715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1068050" y="3733799"/>
            <a:ext cx="104775" cy="1143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6838950" y="4362450"/>
            <a:ext cx="4591050" cy="657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2540"/>
                </a:solidFill>
                <a:latin typeface="Noto Sans CJK SC"/>
                <a:ea typeface="Noto Sans CJK SC"/>
              </a:rPr>
              <a:t>对照岗位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8950" y="5267325"/>
            <a:ext cx="45910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用实际任务与行为证据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判断模型是否适配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153900" y="3238500"/>
            <a:ext cx="5181600" cy="314325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430125" y="3371850"/>
            <a:ext cx="8763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1A73E8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43" name="Oval 42"/>
          <p:cNvSpPr/>
          <p:nvPr/>
        </p:nvSpPr>
        <p:spPr>
          <a:xfrm>
            <a:off x="16459200" y="35623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630650" y="3657600"/>
            <a:ext cx="114300" cy="1143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16573500" y="3876674"/>
            <a:ext cx="0" cy="4762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6573500" y="3829050"/>
            <a:ext cx="57150" cy="476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6630650" y="3829050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16744950" y="3829050"/>
            <a:ext cx="57150" cy="4762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6802100" y="3876674"/>
            <a:ext cx="0" cy="4762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12439650" y="4362450"/>
            <a:ext cx="4591050" cy="657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A2540"/>
                </a:solidFill>
                <a:latin typeface="Noto Sans CJK SC"/>
                <a:ea typeface="Noto Sans CJK SC"/>
              </a:rPr>
              <a:t>给出修订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439650" y="5267325"/>
            <a:ext cx="45910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现场评分 + 岗位案例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指出缺失与调整方向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2500" y="7124700"/>
            <a:ext cx="163830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验证记录 = 一个判断 + 一个案例 + 一条建议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2500" y="814387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8700" y="816292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分类  1—5分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52850" y="814387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29050" y="816292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能力  1—5分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53200" y="814387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816292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分级  1—5分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53550" y="814387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29750" y="816292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产业差异  1—5分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153900" y="814387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230100" y="816292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模型总图  1—5分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954250" y="8143875"/>
            <a:ext cx="2381250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030450" y="8162925"/>
            <a:ext cx="22288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B3A4A"/>
                </a:solidFill>
                <a:latin typeface="Noto Sans CJK SC"/>
                <a:ea typeface="Noto Sans CJK SC"/>
              </a:rPr>
              <a:t>缺失项  1—5分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31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2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4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3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39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0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3425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03  /  项目背景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人才标准成为竞争变量，四类瓶颈需要系统回应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03</a:t>
            </a:r>
          </a:p>
        </p:txBody>
      </p:sp>
      <p:sp>
        <p:nvSpPr>
          <p:cNvPr id="15" name="Oval 14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2952750"/>
            <a:ext cx="5334000" cy="4572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57300" y="32956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43025" y="3486150"/>
            <a:ext cx="76200" cy="762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2575" y="3486150"/>
            <a:ext cx="76200" cy="762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419225" y="3524250"/>
            <a:ext cx="13335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1504950" y="3486150"/>
            <a:ext cx="47625" cy="381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1504950" y="3524250"/>
            <a:ext cx="47625" cy="381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1257300" y="4171950"/>
            <a:ext cx="4667250" cy="1238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A2540"/>
                </a:solidFill>
                <a:latin typeface="Noto Sans CJK SC"/>
                <a:ea typeface="Noto Sans CJK SC"/>
              </a:rPr>
              <a:t>技术迭代加速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A2540"/>
                </a:solidFill>
                <a:latin typeface="Noto Sans CJK SC"/>
                <a:ea typeface="Noto Sans CJK SC"/>
              </a:rPr>
              <a:t>人才能力同步重构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5981700"/>
            <a:ext cx="4667250" cy="904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B3A4A"/>
                </a:solidFill>
                <a:latin typeface="Noto Sans CJK SC"/>
                <a:ea typeface="Noto Sans CJK SC"/>
              </a:rPr>
              <a:t>从“岗位有人”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B3A4A"/>
                </a:solidFill>
                <a:latin typeface="Noto Sans CJK SC"/>
                <a:ea typeface="Noto Sans CJK SC"/>
              </a:rPr>
              <a:t>走向“能力匹配”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952750"/>
            <a:ext cx="5124450" cy="21717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43750" y="32194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0" y="3314700"/>
            <a:ext cx="114300" cy="114300"/>
          </a:xfrm>
          <a:prstGeom prst="ellipse">
            <a:avLst/>
          </a:prstGeom>
          <a:noFill/>
          <a:ln w="19050">
            <a:solidFill>
              <a:srgbClr val="FF8A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7258050" y="3533775"/>
            <a:ext cx="0" cy="476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7258050" y="3486150"/>
            <a:ext cx="57150" cy="476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7315200" y="3486150"/>
            <a:ext cx="114300" cy="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7429500" y="3486150"/>
            <a:ext cx="57150" cy="476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7486650" y="3533775"/>
            <a:ext cx="0" cy="476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7820025" y="3190875"/>
            <a:ext cx="3895725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关键人才不足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3750" y="3943350"/>
            <a:ext cx="45529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高端领军 · 核心技术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供给速度跟不上业务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11050" y="2952750"/>
            <a:ext cx="5124450" cy="21717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496800" y="32194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2601575" y="3562350"/>
            <a:ext cx="247650" cy="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12601575" y="3324225"/>
            <a:ext cx="0" cy="2381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12658725" y="3467100"/>
            <a:ext cx="0" cy="7620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12734925" y="3400425"/>
            <a:ext cx="0" cy="14287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2811125" y="3343275"/>
            <a:ext cx="0" cy="20002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13173075" y="3190875"/>
            <a:ext cx="3895725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能力结构错配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96800" y="3943350"/>
            <a:ext cx="45529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岗位升级 · 技能滞后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数字能力与工艺脱节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5353050"/>
            <a:ext cx="5124450" cy="21717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43750" y="56197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39000" y="5715000"/>
            <a:ext cx="266700" cy="266700"/>
          </a:xfrm>
          <a:prstGeom prst="ellipse">
            <a:avLst/>
          </a:prstGeom>
          <a:noFill/>
          <a:ln w="19050">
            <a:solidFill>
              <a:srgbClr val="FF8A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7296150" y="5848350"/>
            <a:ext cx="57149" cy="5715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7353299" y="5791200"/>
            <a:ext cx="104776" cy="11430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7820025" y="5591175"/>
            <a:ext cx="3895725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评价依据不足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43750" y="6343650"/>
            <a:ext cx="45529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重学历资历 · 轻行为证据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绩效与能力缺少连接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211050" y="5353050"/>
            <a:ext cx="5124450" cy="21717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496800" y="56197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2582525" y="5810250"/>
            <a:ext cx="76200" cy="76200"/>
          </a:xfrm>
          <a:prstGeom prst="ellipse">
            <a:avLst/>
          </a:prstGeom>
          <a:noFill/>
          <a:ln w="19050">
            <a:solidFill>
              <a:srgbClr val="FF8A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792075" y="5810250"/>
            <a:ext cx="76200" cy="76200"/>
          </a:xfrm>
          <a:prstGeom prst="ellipse">
            <a:avLst/>
          </a:prstGeom>
          <a:noFill/>
          <a:ln w="19050">
            <a:solidFill>
              <a:srgbClr val="FF8A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2658725" y="5848350"/>
            <a:ext cx="133350" cy="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12744450" y="5810250"/>
            <a:ext cx="47625" cy="3810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12744450" y="5848350"/>
            <a:ext cx="47625" cy="38100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13173075" y="5591175"/>
            <a:ext cx="3895725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培养对接不足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496800" y="6343650"/>
            <a:ext cx="4552950" cy="1009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课程更新慢 · 实践不足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培养到上岗存在断层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2500" y="8248650"/>
            <a:ext cx="16383000" cy="609600"/>
          </a:xfrm>
          <a:prstGeom prst="roundRect">
            <a:avLst>
              <a:gd name="adj" fmla="val 18750"/>
            </a:avLst>
          </a:prstGeom>
          <a:solidFill>
            <a:srgbClr val="EC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09675" y="8515350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95425" y="8305800"/>
            <a:ext cx="155162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2540"/>
                </a:solidFill>
                <a:latin typeface="Noto Sans CJK SC"/>
                <a:ea typeface="Noto Sans CJK SC"/>
              </a:rPr>
              <a:t>请立白专家：选出最突出的一项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4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5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4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5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50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3475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09  /  调研发现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339,694 条招聘文本，为能力提取提供市场证据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371725"/>
            <a:ext cx="16383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数据用于提取需求；岗位适配性仍需专家与真实行为检验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09</a:t>
            </a:r>
          </a:p>
        </p:txBody>
      </p:sp>
      <p:sp>
        <p:nvSpPr>
          <p:cNvPr id="16" name="Oval 15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52500" y="3095625"/>
            <a:ext cx="10287000" cy="4981575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5400" y="3362325"/>
            <a:ext cx="9372600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BB0"/>
                </a:solidFill>
                <a:latin typeface="Noto Sans CJK SC"/>
                <a:ea typeface="Noto Sans CJK SC"/>
              </a:rPr>
              <a:t>有效招聘信息 · 总样本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50" y="3943350"/>
            <a:ext cx="9620250" cy="1381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300" b="1">
                <a:solidFill>
                  <a:srgbClr val="1A73E8"/>
                </a:solidFill>
                <a:latin typeface="Barlow Semi Condensed"/>
                <a:ea typeface="Noto Sans CJK SC"/>
              </a:rPr>
              <a:t>339,694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400" y="5781675"/>
            <a:ext cx="44196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1A73E8"/>
                </a:solidFill>
                <a:latin typeface="Barlow Semi Condensed"/>
                <a:ea typeface="Noto Sans CJK SC"/>
              </a:rPr>
              <a:t>290,635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400" y="6724650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新型先进制造业 · 85.6%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7450" y="5781675"/>
            <a:ext cx="44196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00C2D1"/>
                </a:solidFill>
                <a:latin typeface="Barlow Semi Condensed"/>
                <a:ea typeface="Noto Sans CJK SC"/>
              </a:rPr>
              <a:t>49,059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7450" y="6724650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旧型先进制造业 · 14.4%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1228725" y="7496174"/>
          <a:ext cx="9648825" cy="27622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1906250" y="3152775"/>
            <a:ext cx="5429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五类方法，交叉取证</a:t>
            </a:r>
          </a:p>
        </p:txBody>
      </p:sp>
      <p:sp>
        <p:nvSpPr>
          <p:cNvPr id="27" name="Oval 26"/>
          <p:cNvSpPr/>
          <p:nvPr/>
        </p:nvSpPr>
        <p:spPr>
          <a:xfrm>
            <a:off x="11906250" y="39814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2049125" y="4076699"/>
            <a:ext cx="1428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2192000" y="4076699"/>
            <a:ext cx="47625" cy="4762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2239625" y="4124325"/>
            <a:ext cx="0" cy="21907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H="1">
            <a:off x="12049125" y="4343400"/>
            <a:ext cx="1905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12049125" y="4076699"/>
            <a:ext cx="0" cy="266701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2192000" y="4076699"/>
            <a:ext cx="0" cy="4762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2192000" y="4124325"/>
            <a:ext cx="4762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2087225" y="4181475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12087225" y="4238625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2087225" y="4295775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12573000" y="3933824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文献研究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73000" y="4343400"/>
            <a:ext cx="4572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BB0"/>
                </a:solidFill>
                <a:latin typeface="Noto Sans CJK SC"/>
                <a:ea typeface="Noto Sans CJK SC"/>
              </a:rPr>
              <a:t>建立理论与政策依据</a:t>
            </a:r>
          </a:p>
        </p:txBody>
      </p:sp>
      <p:sp>
        <p:nvSpPr>
          <p:cNvPr id="40" name="Oval 39"/>
          <p:cNvSpPr/>
          <p:nvPr/>
        </p:nvSpPr>
        <p:spPr>
          <a:xfrm>
            <a:off x="11906250" y="48196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077700" y="4914900"/>
            <a:ext cx="114300" cy="1143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12020550" y="5133975"/>
            <a:ext cx="0" cy="476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12020550" y="5086350"/>
            <a:ext cx="57150" cy="476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12077700" y="5086350"/>
            <a:ext cx="11430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2192000" y="5086350"/>
            <a:ext cx="57150" cy="476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12249150" y="5133975"/>
            <a:ext cx="0" cy="476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12573000" y="4772025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行为事件访谈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573000" y="5181600"/>
            <a:ext cx="4572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BB0"/>
                </a:solidFill>
                <a:latin typeface="Noto Sans CJK SC"/>
                <a:ea typeface="Noto Sans CJK SC"/>
              </a:rPr>
              <a:t>提取任务与关键行为</a:t>
            </a:r>
          </a:p>
        </p:txBody>
      </p:sp>
      <p:sp>
        <p:nvSpPr>
          <p:cNvPr id="49" name="Oval 48"/>
          <p:cNvSpPr/>
          <p:nvPr/>
        </p:nvSpPr>
        <p:spPr>
          <a:xfrm>
            <a:off x="11906250" y="56578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001500" y="5753100"/>
            <a:ext cx="266700" cy="2667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2058650" y="5886450"/>
            <a:ext cx="57150" cy="5715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2115800" y="5829300"/>
            <a:ext cx="104775" cy="1143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12573000" y="5610225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德尔菲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573000" y="6019800"/>
            <a:ext cx="4572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BB0"/>
                </a:solidFill>
                <a:latin typeface="Noto Sans CJK SC"/>
                <a:ea typeface="Noto Sans CJK SC"/>
              </a:rPr>
              <a:t>专家判断与迭代修订</a:t>
            </a:r>
          </a:p>
        </p:txBody>
      </p:sp>
      <p:sp>
        <p:nvSpPr>
          <p:cNvPr id="55" name="Oval 54"/>
          <p:cNvSpPr/>
          <p:nvPr/>
        </p:nvSpPr>
        <p:spPr>
          <a:xfrm>
            <a:off x="11906250" y="64960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991975" y="6686550"/>
            <a:ext cx="76200" cy="762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201525" y="6686550"/>
            <a:ext cx="76200" cy="76200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2068175" y="6724650"/>
            <a:ext cx="13335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12153900" y="6686550"/>
            <a:ext cx="47625" cy="381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12153900" y="6724650"/>
            <a:ext cx="47625" cy="3810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12573000" y="6448425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比较分析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73000" y="6858000"/>
            <a:ext cx="4572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BB0"/>
                </a:solidFill>
                <a:latin typeface="Noto Sans CJK SC"/>
                <a:ea typeface="Noto Sans CJK SC"/>
              </a:rPr>
              <a:t>识别产业共性与差异</a:t>
            </a:r>
          </a:p>
        </p:txBody>
      </p:sp>
      <p:sp>
        <p:nvSpPr>
          <p:cNvPr id="63" name="Oval 62"/>
          <p:cNvSpPr/>
          <p:nvPr/>
        </p:nvSpPr>
        <p:spPr>
          <a:xfrm>
            <a:off x="11906250" y="7334250"/>
            <a:ext cx="457200" cy="4572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12011025" y="7677150"/>
            <a:ext cx="247650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12011025" y="7439024"/>
            <a:ext cx="0" cy="238126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12068175" y="7581899"/>
            <a:ext cx="0" cy="76201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12144375" y="7515225"/>
            <a:ext cx="0" cy="14287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12220575" y="7458075"/>
            <a:ext cx="0" cy="20002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12573000" y="7286625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A2540"/>
                </a:solidFill>
                <a:latin typeface="Noto Sans CJK SC"/>
                <a:ea typeface="Noto Sans CJK SC"/>
              </a:rPr>
              <a:t>大数据分析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573000" y="7696199"/>
            <a:ext cx="4572000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BB0"/>
                </a:solidFill>
                <a:latin typeface="Noto Sans CJK SC"/>
                <a:ea typeface="Noto Sans CJK SC"/>
              </a:rPr>
              <a:t>形成需求要素初始池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2500" y="8486775"/>
            <a:ext cx="16383000" cy="609600"/>
          </a:xfrm>
          <a:prstGeom prst="roundRect">
            <a:avLst>
              <a:gd name="adj" fmla="val 18750"/>
            </a:avLst>
          </a:prstGeom>
          <a:solidFill>
            <a:srgbClr val="EC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209675" y="8753475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95425" y="8543925"/>
            <a:ext cx="155162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Noto Sans CJK SC"/>
                <a:ea typeface="Noto Sans CJK SC"/>
              </a:rPr>
              <a:t>需求频次说明市场表达，不能直接代替对岗位绩效与适配性的验证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6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23900"/>
            <a:ext cx="18288000" cy="9563100"/>
          </a:xfrm>
          <a:gradFill>
            <a:gsLst>
              <a:gs pos="0">
                <a:srgbClr val="0A2540"/>
              </a:gs>
              <a:gs pos="100000">
                <a:srgbClr val="102D4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9C6E5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3475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183B5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C2D1"/>
                </a:solidFill>
                <a:latin typeface="Noto Sans CJK SC"/>
                <a:ea typeface="Noto Sans CJK SC"/>
              </a:rPr>
              <a:t>10  /  调研发现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Noto Sans CJK SC"/>
                <a:ea typeface="Noto Sans CJK SC"/>
              </a:rPr>
              <a:t>一致性检验回答“编码是否可靠”，不是“模型是否成立”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22415D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10</a:t>
            </a:r>
          </a:p>
        </p:txBody>
      </p:sp>
      <p:sp>
        <p:nvSpPr>
          <p:cNvPr id="16" name="Oval 15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2905125"/>
            <a:ext cx="8096249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C2D1"/>
                </a:solidFill>
                <a:latin typeface="Noto Sans CJK SC"/>
                <a:ea typeface="Noto Sans CJK SC"/>
              </a:rPr>
              <a:t>编码方法示意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3714750"/>
            <a:ext cx="8763000" cy="1152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Barlow Semi Condensed"/>
                <a:ea typeface="Noto Sans CJK SC"/>
              </a:rPr>
              <a:t>12,416  ×  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991100"/>
            <a:ext cx="8429625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C6E5"/>
                </a:solidFill>
                <a:latin typeface="Noto Sans CJK SC"/>
                <a:ea typeface="Noto Sans CJK SC"/>
              </a:rPr>
              <a:t>能力条目          候选要素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500" y="5791200"/>
            <a:ext cx="7943850" cy="0"/>
          </a:xfrm>
          <a:prstGeom prst="line">
            <a:avLst/>
          </a:prstGeom>
          <a:ln w="12700">
            <a:solidFill>
              <a:srgbClr val="315675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85825" y="6210300"/>
            <a:ext cx="8763000" cy="1209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Barlow Semi Condensed"/>
                <a:ea typeface="Noto Sans CJK SC"/>
              </a:rPr>
              <a:t>1,117,440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7600950"/>
            <a:ext cx="8429625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9C6E5"/>
                </a:solidFill>
                <a:latin typeface="Noto Sans CJK SC"/>
                <a:ea typeface="Noto Sans CJK SC"/>
              </a:rPr>
              <a:t>编码单元 · 每个判断均可追溯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20250" y="3095625"/>
            <a:ext cx="7715250" cy="4981575"/>
          </a:xfrm>
          <a:prstGeom prst="roundRect">
            <a:avLst>
              <a:gd name="adj" fmla="val 3441"/>
            </a:avLst>
          </a:prstGeom>
          <a:solidFill>
            <a:srgbClr val="1637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4100" y="3419475"/>
            <a:ext cx="70675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Kappa · 编码一致性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275" y="4238625"/>
            <a:ext cx="7343775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100" b="1">
                <a:solidFill>
                  <a:srgbClr val="FF8A3D"/>
                </a:solidFill>
                <a:latin typeface="Barlow Semi Condensed"/>
                <a:ea typeface="Noto Sans CJK SC"/>
              </a:rPr>
              <a:t>0.900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3625" y="6229350"/>
            <a:ext cx="69532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9C6E5"/>
                </a:solidFill>
                <a:latin typeface="Barlow Semi Condensed"/>
                <a:ea typeface="Noto Sans CJK SC"/>
              </a:rPr>
              <a:t>Po 0.9979   /   Pe 0.9787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3625" y="7124700"/>
            <a:ext cx="6953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C6E5"/>
                </a:solidFill>
                <a:latin typeface="Noto Sans CJK SC"/>
                <a:ea typeface="Noto Sans CJK SC"/>
              </a:rPr>
              <a:t>检验编码一致性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C6E5"/>
                </a:solidFill>
                <a:latin typeface="Noto Sans CJK SC"/>
                <a:ea typeface="Noto Sans CJK SC"/>
              </a:rPr>
              <a:t>模型适用性仍需专家验证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" y="8562975"/>
            <a:ext cx="7715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C2D1"/>
                </a:solidFill>
                <a:latin typeface="Noto Sans CJK SC"/>
                <a:ea typeface="Noto Sans CJK SC"/>
              </a:rPr>
              <a:t>2,376 对分歧  →  第三人裁定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0250" y="8562975"/>
            <a:ext cx="7715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C2D1"/>
                </a:solidFill>
                <a:latin typeface="Noto Sans CJK SC"/>
                <a:ea typeface="Noto Sans CJK SC"/>
              </a:rPr>
              <a:t>11,377 对最终命中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补充附件编码方法示意，正式结果以主报告为准。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6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23900"/>
            <a:ext cx="18288000" cy="9563100"/>
          </a:xfrm>
          <a:gradFill>
            <a:gsLst>
              <a:gs pos="0">
                <a:srgbClr val="0A2540"/>
              </a:gs>
              <a:gs pos="100000">
                <a:srgbClr val="102D4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9C6E5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3475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183B5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C2D1"/>
                </a:solidFill>
                <a:latin typeface="Noto Sans CJK SC"/>
                <a:ea typeface="Noto Sans CJK SC"/>
              </a:rPr>
              <a:t>11  /  调研发现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Noto Sans CJK SC"/>
                <a:ea typeface="Noto Sans CJK SC"/>
              </a:rPr>
              <a:t>收敛回答“留下什么”，分层回答“适用于哪里”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22415D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11</a:t>
            </a:r>
          </a:p>
        </p:txBody>
      </p:sp>
      <p:sp>
        <p:nvSpPr>
          <p:cNvPr id="16" name="Oval 15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2952750"/>
            <a:ext cx="8096249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01  要素收敛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229100"/>
            <a:ext cx="2876550" cy="1209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Barlow Semi Condensed"/>
                <a:ea typeface="Noto Sans CJK SC"/>
              </a:rPr>
              <a:t>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4229100"/>
            <a:ext cx="2876550" cy="1209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C2D1"/>
                </a:solidFill>
                <a:latin typeface="Barlow Semi Condensed"/>
                <a:ea typeface="Noto Sans CJK SC"/>
              </a:rPr>
              <a:t>73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38500" y="5057775"/>
            <a:ext cx="2762250" cy="0"/>
          </a:xfrm>
          <a:prstGeom prst="line">
            <a:avLst/>
          </a:prstGeom>
          <a:ln w="25400">
            <a:solidFill>
              <a:srgbClr val="00C2D1"/>
            </a:solidFill>
            <a:tailEnd type="triangle" w="sm" len="sm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952500" y="5610225"/>
            <a:ext cx="28765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9C6E5"/>
                </a:solidFill>
                <a:latin typeface="Noto Sans CJK SC"/>
                <a:ea typeface="Noto Sans CJK SC"/>
              </a:rPr>
              <a:t>初始候选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5610225"/>
            <a:ext cx="28765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9C6E5"/>
                </a:solidFill>
                <a:latin typeface="Noto Sans CJK SC"/>
                <a:ea typeface="Noto Sans CJK SC"/>
              </a:rPr>
              <a:t>最终保留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29150" y="5105400"/>
            <a:ext cx="0" cy="1514475"/>
          </a:xfrm>
          <a:prstGeom prst="line">
            <a:avLst/>
          </a:prstGeom>
          <a:ln w="19050">
            <a:solidFill>
              <a:srgbClr val="FF8A3D"/>
            </a:solidFill>
          </a:ln>
          <a:effectLst/>
        </p:spPr>
      </p:cxnSp>
      <p:sp>
        <p:nvSpPr>
          <p:cNvPr id="25" name="Rounded Rectangle 24"/>
          <p:cNvSpPr/>
          <p:nvPr/>
        </p:nvSpPr>
        <p:spPr>
          <a:xfrm>
            <a:off x="3114675" y="6686550"/>
            <a:ext cx="3038475" cy="657225"/>
          </a:xfrm>
          <a:prstGeom prst="roundRect">
            <a:avLst>
              <a:gd name="adj" fmla="val 11594"/>
            </a:avLst>
          </a:prstGeom>
          <a:solidFill>
            <a:srgbClr val="4938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0875" y="6705600"/>
            <a:ext cx="2886075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8A3D"/>
                </a:solidFill>
                <a:latin typeface="Noto Sans CJK SC"/>
                <a:ea typeface="Noto Sans CJK SC"/>
              </a:rPr>
              <a:t>剔除 17 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" y="7829550"/>
            <a:ext cx="8096249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Barlow Semi Condensed"/>
                <a:ea typeface="Noto Sans CJK SC"/>
              </a:rPr>
              <a:t>90 − 17 = 73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53550" y="3257550"/>
            <a:ext cx="0" cy="4991100"/>
          </a:xfrm>
          <a:prstGeom prst="line">
            <a:avLst/>
          </a:prstGeom>
          <a:ln w="12700">
            <a:solidFill>
              <a:srgbClr val="244A6C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10096500" y="2952750"/>
            <a:ext cx="72390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02  初始池适用范围分层</a:t>
            </a:r>
          </a:p>
        </p:txBody>
      </p:sp>
      <p:sp>
        <p:nvSpPr>
          <p:cNvPr id="30" name="Oval 29"/>
          <p:cNvSpPr/>
          <p:nvPr/>
        </p:nvSpPr>
        <p:spPr>
          <a:xfrm>
            <a:off x="11972925" y="3895725"/>
            <a:ext cx="3676649" cy="3676649"/>
          </a:xfrm>
          <a:prstGeom prst="ellipse">
            <a:avLst/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524422" y="4447222"/>
            <a:ext cx="2573655" cy="2573655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075919" y="4998719"/>
            <a:ext cx="1470660" cy="1470660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094303" y="5410200"/>
            <a:ext cx="143389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通用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61189" y="4594288"/>
            <a:ext cx="2500122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</a:rPr>
              <a:t>产业背景 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290" y="7057644"/>
            <a:ext cx="3161918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Noto Sans CJK SC"/>
                <a:ea typeface="Noto Sans CJK SC"/>
              </a:rPr>
              <a:t>岗位专有 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6500" y="7896224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Barlow Semi Condensed"/>
                <a:ea typeface="Noto Sans CJK SC"/>
              </a:rPr>
              <a:t>22 + 48 + 20 = 90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2500" y="8639175"/>
            <a:ext cx="16383000" cy="504825"/>
          </a:xfrm>
          <a:prstGeom prst="roundRect">
            <a:avLst>
              <a:gd name="adj" fmla="val 22641"/>
            </a:avLst>
          </a:prstGeom>
          <a:solidFill>
            <a:srgbClr val="1637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09675" y="8853487"/>
            <a:ext cx="76200" cy="76200"/>
          </a:xfrm>
          <a:prstGeom prst="ellipse">
            <a:avLst/>
          </a:prstGeom>
          <a:solidFill>
            <a:srgbClr val="00C2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95425" y="8696325"/>
            <a:ext cx="1551622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示例的 90 行单调性校验通过；此结论不外推至主报告正式矩阵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补充附件方法示意：73项保留池与90项候选分层是不同口径。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3450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08  /  模型介绍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产业背景决定能力侧重，不应把企业机械归入单一标签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08</a:t>
            </a:r>
          </a:p>
        </p:txBody>
      </p:sp>
      <p:sp>
        <p:nvSpPr>
          <p:cNvPr id="15" name="Oval 14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3238500"/>
            <a:ext cx="8001000" cy="4686300"/>
          </a:xfrm>
          <a:prstGeom prst="roundRect">
            <a:avLst>
              <a:gd name="adj" fmla="val 3658"/>
            </a:avLst>
          </a:prstGeom>
          <a:solidFill>
            <a:srgbClr val="EDF4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5875" y="3505200"/>
            <a:ext cx="7286625" cy="933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A2540"/>
                </a:solidFill>
                <a:latin typeface="Noto Sans CJK SC"/>
                <a:ea typeface="Noto Sans CJK SC"/>
              </a:rPr>
              <a:t>新型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5875" y="4705350"/>
            <a:ext cx="72866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73E8"/>
                </a:solidFill>
                <a:latin typeface="Noto Sans CJK SC"/>
                <a:ea typeface="Noto Sans CJK SC"/>
              </a:rPr>
              <a:t>数字技术融合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5875" y="5676900"/>
            <a:ext cx="728662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BB0"/>
                </a:solidFill>
                <a:latin typeface="Noto Sans CJK SC"/>
                <a:ea typeface="Noto Sans CJK SC"/>
              </a:rPr>
              <a:t>技术内核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5875" y="6076950"/>
            <a:ext cx="7286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B3A4A"/>
                </a:solidFill>
                <a:latin typeface="Noto Sans CJK SC"/>
                <a:ea typeface="Noto Sans CJK SC"/>
              </a:rPr>
              <a:t>信息技术 / 自动化 / 软件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5875" y="6858000"/>
            <a:ext cx="728662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BB0"/>
                </a:solidFill>
                <a:latin typeface="Noto Sans CJK SC"/>
                <a:ea typeface="Noto Sans CJK SC"/>
              </a:rPr>
              <a:t>能力侧重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5875" y="7210425"/>
            <a:ext cx="7286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数字化 / 系统整合 / 跨域协同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4500" y="3238500"/>
            <a:ext cx="8001000" cy="4686300"/>
          </a:xfrm>
          <a:prstGeom prst="roundRect">
            <a:avLst>
              <a:gd name="adj" fmla="val 3658"/>
            </a:avLst>
          </a:prstGeom>
          <a:solidFill>
            <a:srgbClr val="EDFAFB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7875" y="3505200"/>
            <a:ext cx="7286625" cy="9334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A2540"/>
                </a:solidFill>
                <a:latin typeface="Noto Sans CJK SC"/>
                <a:ea typeface="Noto Sans CJK SC"/>
              </a:rPr>
              <a:t>旧型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7875" y="4705350"/>
            <a:ext cx="728662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C2D1"/>
                </a:solidFill>
                <a:latin typeface="Noto Sans CJK SC"/>
                <a:ea typeface="Noto Sans CJK SC"/>
              </a:rPr>
              <a:t>工艺与材料内核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7875" y="5676900"/>
            <a:ext cx="728662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BB0"/>
                </a:solidFill>
                <a:latin typeface="Noto Sans CJK SC"/>
                <a:ea typeface="Noto Sans CJK SC"/>
              </a:rPr>
              <a:t>技术内核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7875" y="6076950"/>
            <a:ext cx="7286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B3A4A"/>
                </a:solidFill>
                <a:latin typeface="Noto Sans CJK SC"/>
                <a:ea typeface="Noto Sans CJK SC"/>
              </a:rPr>
              <a:t>物理 / 生物 / 化学 / 新材料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7875" y="6858000"/>
            <a:ext cx="728662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BB0"/>
                </a:solidFill>
                <a:latin typeface="Noto Sans CJK SC"/>
                <a:ea typeface="Noto Sans CJK SC"/>
              </a:rPr>
              <a:t>能力侧重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7875" y="7210425"/>
            <a:ext cx="7286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3A4A"/>
                </a:solidFill>
                <a:latin typeface="Noto Sans CJK SC"/>
                <a:ea typeface="Noto Sans CJK SC"/>
              </a:rPr>
              <a:t>工艺积累 / 流程合规 / 数字化吸收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500" y="8477250"/>
            <a:ext cx="16383000" cy="609600"/>
          </a:xfrm>
          <a:prstGeom prst="roundRect">
            <a:avLst>
              <a:gd name="adj" fmla="val 18750"/>
            </a:avLst>
          </a:prstGeom>
          <a:solidFill>
            <a:srgbClr val="EC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09675" y="8743950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95425" y="8534400"/>
            <a:ext cx="155162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Noto Sans CJK SC"/>
                <a:ea typeface="Noto Sans CJK SC"/>
              </a:rPr>
              <a:t>请专家判断：主报告的新 / 旧分组，能否解释立白不同业务与岗位的能力差异？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5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3450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05  /  模型介绍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五类人才按工作功能区分，不是五级晋升阶梯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05</a:t>
            </a:r>
          </a:p>
        </p:txBody>
      </p:sp>
      <p:sp>
        <p:nvSpPr>
          <p:cNvPr id="15" name="Oval 14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3248025"/>
            <a:ext cx="16383000" cy="4581525"/>
          </a:xfrm>
          <a:prstGeom prst="roundRect">
            <a:avLst>
              <a:gd name="adj" fmla="val 3742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9675" y="3514725"/>
            <a:ext cx="25717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1A73E8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9675" y="4600575"/>
            <a:ext cx="2571750" cy="981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智能制造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9675" y="5867400"/>
            <a:ext cx="2571750" cy="1057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设备操作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参数控制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现场协作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9675" y="7200900"/>
            <a:ext cx="2524125" cy="400050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5875" y="7219950"/>
            <a:ext cx="23717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Noto Sans CJK SC"/>
                <a:ea typeface="Noto Sans CJK SC"/>
              </a:rPr>
              <a:t>技术应用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81475" y="3676649"/>
            <a:ext cx="0" cy="3714751"/>
          </a:xfrm>
          <a:prstGeom prst="line">
            <a:avLst/>
          </a:prstGeom>
          <a:ln w="11430">
            <a:solidFill>
              <a:srgbClr val="E5E9F0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533900" y="3514725"/>
            <a:ext cx="25717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1A73E8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3900" y="4600575"/>
            <a:ext cx="2571750" cy="981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技术研发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3900" y="5867400"/>
            <a:ext cx="2571750" cy="1057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技术创新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研发验证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成果转化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33900" y="7200900"/>
            <a:ext cx="2524125" cy="400050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0100" y="7219950"/>
            <a:ext cx="23717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Noto Sans CJK SC"/>
                <a:ea typeface="Noto Sans CJK SC"/>
              </a:rPr>
              <a:t>创新研发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05700" y="3676649"/>
            <a:ext cx="0" cy="3714751"/>
          </a:xfrm>
          <a:prstGeom prst="line">
            <a:avLst/>
          </a:prstGeom>
          <a:ln w="11430">
            <a:solidFill>
              <a:srgbClr val="E5E9F0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7858125" y="3514725"/>
            <a:ext cx="25717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1A73E8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8125" y="4600575"/>
            <a:ext cx="2571750" cy="981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数字化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8125" y="5867400"/>
            <a:ext cx="2571750" cy="1057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数据治理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系统协同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流程优化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58125" y="7200900"/>
            <a:ext cx="2524125" cy="400050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34325" y="7219950"/>
            <a:ext cx="23717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Noto Sans CJK SC"/>
                <a:ea typeface="Noto Sans CJK SC"/>
              </a:rPr>
              <a:t>系统管理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829925" y="3676649"/>
            <a:ext cx="0" cy="3714751"/>
          </a:xfrm>
          <a:prstGeom prst="line">
            <a:avLst/>
          </a:prstGeom>
          <a:ln w="11430">
            <a:solidFill>
              <a:srgbClr val="E5E9F0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11182350" y="3514725"/>
            <a:ext cx="25717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1A73E8"/>
                </a:solidFill>
                <a:latin typeface="Barlow Semi Condensed"/>
                <a:ea typeface="Noto Sans CJK SC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2350" y="4600575"/>
            <a:ext cx="2571750" cy="981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跨界复合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2350" y="5867400"/>
            <a:ext cx="2571750" cy="1057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需求转译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跨域融合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项目协同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182350" y="7200900"/>
            <a:ext cx="2524125" cy="400050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58550" y="7219950"/>
            <a:ext cx="23717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Noto Sans CJK SC"/>
                <a:ea typeface="Noto Sans CJK SC"/>
              </a:rPr>
              <a:t>跨界融合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154150" y="3676649"/>
            <a:ext cx="0" cy="3714751"/>
          </a:xfrm>
          <a:prstGeom prst="line">
            <a:avLst/>
          </a:prstGeom>
          <a:ln w="11430">
            <a:solidFill>
              <a:srgbClr val="E5E9F0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14506575" y="3514725"/>
            <a:ext cx="2571750" cy="790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>
                <a:solidFill>
                  <a:srgbClr val="1A73E8"/>
                </a:solidFill>
                <a:latin typeface="Barlow Semi Condensed"/>
                <a:ea typeface="Noto Sans CJK SC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506575" y="4600575"/>
            <a:ext cx="2571750" cy="981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战略引领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506575" y="5867400"/>
            <a:ext cx="2571750" cy="1057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方向判断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资源配置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3A4A"/>
                </a:solidFill>
                <a:latin typeface="Noto Sans CJK SC"/>
                <a:ea typeface="Noto Sans CJK SC"/>
              </a:rPr>
              <a:t>战略落地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506575" y="7200900"/>
            <a:ext cx="2524125" cy="400050"/>
          </a:xfrm>
          <a:prstGeom prst="roundRect">
            <a:avLst>
              <a:gd name="adj" fmla="val 19047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582775" y="7219950"/>
            <a:ext cx="237172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Noto Sans CJK SC"/>
                <a:ea typeface="Noto Sans CJK SC"/>
              </a:rPr>
              <a:t>战略引领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500" y="8543925"/>
            <a:ext cx="16383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540"/>
                </a:solidFill>
                <a:latin typeface="Noto Sans CJK SC"/>
                <a:ea typeface="Noto Sans CJK SC"/>
              </a:rPr>
              <a:t>按主任务识别类别；跨界岗位可组合能力，人才层级另行确定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6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3450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06  /  模型介绍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三维能力分别回答：会做、协同、适应变化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06</a:t>
            </a:r>
          </a:p>
        </p:txBody>
      </p:sp>
      <p:sp>
        <p:nvSpPr>
          <p:cNvPr id="15" name="Oval 14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52500" y="3238500"/>
            <a:ext cx="5181600" cy="4476750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57300" y="3552825"/>
            <a:ext cx="571500" cy="5715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435893" y="3671887"/>
            <a:ext cx="178594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1614487" y="3671887"/>
            <a:ext cx="59531" cy="59531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1674018" y="3731418"/>
            <a:ext cx="0" cy="273844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H="1">
            <a:off x="1435893" y="4005262"/>
            <a:ext cx="23812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1435893" y="3671887"/>
            <a:ext cx="0" cy="333375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1614487" y="3671887"/>
            <a:ext cx="0" cy="59531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1614487" y="3731418"/>
            <a:ext cx="59531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1483518" y="3802856"/>
            <a:ext cx="1428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1483518" y="3874293"/>
            <a:ext cx="1428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1483518" y="3945731"/>
            <a:ext cx="142875" cy="0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1257300" y="4457700"/>
            <a:ext cx="4572000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A2540"/>
                </a:solidFill>
                <a:latin typeface="Noto Sans CJK SC"/>
                <a:ea typeface="Noto Sans CJK SC"/>
              </a:rPr>
              <a:t>硬技能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7300" y="5534025"/>
            <a:ext cx="4572000" cy="923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3A4A"/>
                </a:solidFill>
                <a:latin typeface="Noto Sans CJK SC"/>
                <a:ea typeface="Noto Sans CJK SC"/>
              </a:rPr>
              <a:t>能否以作品、参数或成果验证？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7300" y="701992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BB0"/>
                </a:solidFill>
                <a:latin typeface="Noto Sans CJK SC"/>
                <a:ea typeface="Noto Sans CJK SC"/>
              </a:rPr>
              <a:t>工具使用 · 技术方法 · 操作技能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3200" y="3238500"/>
            <a:ext cx="5181600" cy="4476750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0" y="3552825"/>
            <a:ext cx="571500" cy="5715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2312" y="3671887"/>
            <a:ext cx="142875" cy="142875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7000875" y="3945731"/>
            <a:ext cx="0" cy="59531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7000875" y="3886200"/>
            <a:ext cx="71437" cy="59531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7072312" y="3886200"/>
            <a:ext cx="142875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7215187" y="3886200"/>
            <a:ext cx="71438" cy="59531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7286625" y="3945731"/>
            <a:ext cx="0" cy="59531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6858000" y="4457700"/>
            <a:ext cx="4572000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A2540"/>
                </a:solidFill>
                <a:latin typeface="Noto Sans CJK SC"/>
                <a:ea typeface="Noto Sans CJK SC"/>
              </a:rPr>
              <a:t>软技能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534025"/>
            <a:ext cx="4572000" cy="923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3A4A"/>
                </a:solidFill>
                <a:latin typeface="Noto Sans CJK SC"/>
                <a:ea typeface="Noto Sans CJK SC"/>
              </a:rPr>
              <a:t>是否依赖与他人的协作？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701992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BB0"/>
                </a:solidFill>
                <a:latin typeface="Noto Sans CJK SC"/>
                <a:ea typeface="Noto Sans CJK SC"/>
              </a:rPr>
              <a:t>沟通协调 · 团队协作 · 项目推进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153900" y="3238500"/>
            <a:ext cx="5181600" cy="4476750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458700" y="3552825"/>
            <a:ext cx="571500" cy="571500"/>
          </a:xfrm>
          <a:prstGeom prst="ellipse">
            <a:avLst/>
          </a:prstGeom>
          <a:solidFill>
            <a:srgbClr val="EAF2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577762" y="3671887"/>
            <a:ext cx="333375" cy="333375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661106" y="3755231"/>
            <a:ext cx="166687" cy="166687"/>
          </a:xfrm>
          <a:prstGeom prst="ellipse">
            <a:avLst/>
          </a:prstGeom>
          <a:noFill/>
          <a:ln w="1905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2744450" y="3671887"/>
            <a:ext cx="166687" cy="166688"/>
          </a:xfrm>
          <a:prstGeom prst="line">
            <a:avLst/>
          </a:prstGeom>
          <a:ln w="19050">
            <a:solidFill>
              <a:srgbClr val="1A73E8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12458700" y="4457700"/>
            <a:ext cx="4572000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0A2540"/>
                </a:solidFill>
                <a:latin typeface="Noto Sans CJK SC"/>
                <a:ea typeface="Noto Sans CJK SC"/>
              </a:rPr>
              <a:t>元技能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458700" y="5534025"/>
            <a:ext cx="4572000" cy="923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B3A4A"/>
                </a:solidFill>
                <a:latin typeface="Noto Sans CJK SC"/>
                <a:ea typeface="Noto Sans CJK SC"/>
              </a:rPr>
              <a:t>能否跨任务、跨情境迁移？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58700" y="701992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BB0"/>
                </a:solidFill>
                <a:latin typeface="Noto Sans CJK SC"/>
                <a:ea typeface="Noto Sans CJK SC"/>
              </a:rPr>
              <a:t>学习适应 · 复杂问题 · 认知迁移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2500" y="8486775"/>
            <a:ext cx="16383000" cy="609600"/>
          </a:xfrm>
          <a:prstGeom prst="roundRect">
            <a:avLst>
              <a:gd name="adj" fmla="val 18750"/>
            </a:avLst>
          </a:prstGeom>
          <a:solidFill>
            <a:srgbClr val="EC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09675" y="8753475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95425" y="8543925"/>
            <a:ext cx="155162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2540"/>
                </a:solidFill>
                <a:latin typeface="Noto Sans CJK SC"/>
                <a:ea typeface="Noto Sans CJK SC"/>
              </a:rPr>
              <a:t>请按真实工作任务检验归属；同一岗位需要三维能力组合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3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3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1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4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4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1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2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8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3450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07  /  模型介绍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三级描述任务角色，四级描述单项能力行为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07</a:t>
            </a:r>
          </a:p>
        </p:txBody>
      </p:sp>
      <p:sp>
        <p:nvSpPr>
          <p:cNvPr id="15" name="Oval 14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2500" y="3105150"/>
            <a:ext cx="7048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人才层级：由谁承担任务？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500" y="4019549"/>
            <a:ext cx="1885950" cy="942975"/>
          </a:xfrm>
          <a:prstGeom prst="roundRect">
            <a:avLst>
              <a:gd name="adj" fmla="val 14141"/>
            </a:avLst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4900" y="4162424"/>
            <a:ext cx="15811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1825" y="4162424"/>
            <a:ext cx="52387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3A4A"/>
                </a:solidFill>
                <a:latin typeface="Noto Sans CJK SC"/>
                <a:ea typeface="Noto Sans CJK SC"/>
              </a:rPr>
              <a:t>规范执行与基础任务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500" y="5219700"/>
            <a:ext cx="1885950" cy="942975"/>
          </a:xfrm>
          <a:prstGeom prst="roundRect">
            <a:avLst>
              <a:gd name="adj" fmla="val 14141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4900" y="5362575"/>
            <a:ext cx="15811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1825" y="5362575"/>
            <a:ext cx="52387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3A4A"/>
                </a:solidFill>
                <a:latin typeface="Noto Sans CJK SC"/>
                <a:ea typeface="Noto Sans CJK SC"/>
              </a:rPr>
              <a:t>独立解决问题与流程优化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500" y="6419850"/>
            <a:ext cx="1885950" cy="942975"/>
          </a:xfrm>
          <a:prstGeom prst="roundRect">
            <a:avLst>
              <a:gd name="adj" fmla="val 1414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4900" y="6562725"/>
            <a:ext cx="15811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1825" y="6562725"/>
            <a:ext cx="52387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B3A4A"/>
                </a:solidFill>
                <a:latin typeface="Noto Sans CJK SC"/>
                <a:ea typeface="Noto Sans CJK SC"/>
              </a:rPr>
              <a:t>系统构建与战略引领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0" y="3105150"/>
            <a:ext cx="762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540"/>
                </a:solidFill>
                <a:latin typeface="Noto Sans CJK SC"/>
                <a:ea typeface="Noto Sans CJK SC"/>
              </a:rPr>
              <a:t>行为刻度：能力做到什么程度？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0" y="3905249"/>
            <a:ext cx="723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A73E8"/>
                </a:solidFill>
                <a:latin typeface="Barlow Semi Condensed"/>
                <a:ea typeface="Noto Sans CJK S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63250" y="3905249"/>
            <a:ext cx="62103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指导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3250" y="4333875"/>
            <a:ext cx="62103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在规范或指导下完成任务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0" y="4848225"/>
            <a:ext cx="723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A73E8"/>
                </a:solidFill>
                <a:latin typeface="Barlow Semi Condensed"/>
                <a:ea typeface="Noto Sans CJK S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63250" y="4848225"/>
            <a:ext cx="62103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独立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63250" y="5276850"/>
            <a:ext cx="62103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处理常规任务与问题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0" y="5791200"/>
            <a:ext cx="723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A73E8"/>
                </a:solidFill>
                <a:latin typeface="Barlow Semi Condensed"/>
                <a:ea typeface="Noto Sans CJK S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3250" y="5791200"/>
            <a:ext cx="62103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63250" y="6219825"/>
            <a:ext cx="62103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优化流程、协调资源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5500" y="6734175"/>
            <a:ext cx="723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A73E8"/>
                </a:solidFill>
                <a:latin typeface="Barlow Semi Condensed"/>
                <a:ea typeface="Noto Sans CJK SC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63250" y="6734175"/>
            <a:ext cx="62103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540"/>
                </a:solidFill>
                <a:latin typeface="Noto Sans CJK SC"/>
                <a:ea typeface="Noto Sans CJK SC"/>
              </a:rPr>
              <a:t>主导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63250" y="7162800"/>
            <a:ext cx="62103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B3A4A"/>
                </a:solidFill>
                <a:latin typeface="Noto Sans CJK SC"/>
                <a:ea typeface="Noto Sans CJK SC"/>
              </a:rPr>
              <a:t>主导系统创新与标准构建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500" y="8543925"/>
            <a:ext cx="16383000" cy="609600"/>
          </a:xfrm>
          <a:prstGeom prst="roundRect">
            <a:avLst>
              <a:gd name="adj" fmla="val 18750"/>
            </a:avLst>
          </a:prstGeom>
          <a:solidFill>
            <a:srgbClr val="EC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09675" y="8810625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95425" y="8601075"/>
            <a:ext cx="155162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2540"/>
                </a:solidFill>
                <a:latin typeface="Noto Sans CJK SC"/>
                <a:ea typeface="Noto Sans CJK SC"/>
              </a:rPr>
              <a:t>待核对：设备操作 4 / 3 / 2，如何与基础—骨干—高端的递进说明一致？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6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23900"/>
            <a:ext cx="18288000" cy="9563100"/>
          </a:xfrm>
          <a:gradFill>
            <a:gsLst>
              <a:gs pos="0">
                <a:srgbClr val="0A2540"/>
              </a:gs>
              <a:gs pos="100000">
                <a:srgbClr val="102D4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9C6E5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3450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183B5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C2D1"/>
                </a:solidFill>
                <a:latin typeface="Noto Sans CJK SC"/>
                <a:ea typeface="Noto Sans CJK SC"/>
              </a:rPr>
              <a:t>04  /  模型介绍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Noto Sans CJK SC"/>
                <a:ea typeface="Noto Sans CJK SC"/>
              </a:rPr>
              <a:t>模型把岗位任务转化为可观察、可评价的能力标准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2371725"/>
            <a:ext cx="16383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EC4D9"/>
                </a:solidFill>
                <a:latin typeface="Noto Sans CJK SC"/>
                <a:ea typeface="Noto Sans CJK SC"/>
              </a:rPr>
              <a:t>产业情境  →  工作功能  →  能力与适用范围  →  分级行为标准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22415D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04</a:t>
            </a:r>
          </a:p>
        </p:txBody>
      </p:sp>
      <p:sp>
        <p:nvSpPr>
          <p:cNvPr id="17" name="Oval 16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52500" y="3048000"/>
            <a:ext cx="3086100" cy="628650"/>
          </a:xfrm>
          <a:prstGeom prst="roundRect">
            <a:avLst>
              <a:gd name="adj" fmla="val 18181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" y="3086100"/>
            <a:ext cx="28575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智能制造操作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6725" y="3048000"/>
            <a:ext cx="3086100" cy="628650"/>
          </a:xfrm>
          <a:prstGeom prst="roundRect">
            <a:avLst>
              <a:gd name="adj" fmla="val 18181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1025" y="3086100"/>
            <a:ext cx="28575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技术研发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00950" y="3048000"/>
            <a:ext cx="3086100" cy="628650"/>
          </a:xfrm>
          <a:prstGeom prst="roundRect">
            <a:avLst>
              <a:gd name="adj" fmla="val 18181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5250" y="3086100"/>
            <a:ext cx="28575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数字化管理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25175" y="3048000"/>
            <a:ext cx="3086100" cy="628650"/>
          </a:xfrm>
          <a:prstGeom prst="roundRect">
            <a:avLst>
              <a:gd name="adj" fmla="val 18181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39475" y="3086100"/>
            <a:ext cx="28575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跨界复合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249400" y="3048000"/>
            <a:ext cx="3086100" cy="628650"/>
          </a:xfrm>
          <a:prstGeom prst="roundRect">
            <a:avLst>
              <a:gd name="adj" fmla="val 18181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363700" y="3086100"/>
            <a:ext cx="285750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战略引领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54000" y="2371725"/>
            <a:ext cx="4381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C2D1"/>
                </a:solidFill>
                <a:latin typeface="Noto Sans CJK SC"/>
                <a:ea typeface="Noto Sans CJK SC"/>
              </a:rPr>
              <a:t>配置情境：新型 / 旧型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95550" y="3676649"/>
            <a:ext cx="0" cy="638176"/>
          </a:xfrm>
          <a:prstGeom prst="line">
            <a:avLst/>
          </a:prstGeom>
          <a:ln w="16510">
            <a:solidFill>
              <a:srgbClr val="397BBB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819775" y="3676649"/>
            <a:ext cx="0" cy="638176"/>
          </a:xfrm>
          <a:prstGeom prst="line">
            <a:avLst/>
          </a:prstGeom>
          <a:ln w="16510">
            <a:solidFill>
              <a:srgbClr val="397BBB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9144000" y="3676649"/>
            <a:ext cx="0" cy="638176"/>
          </a:xfrm>
          <a:prstGeom prst="line">
            <a:avLst/>
          </a:prstGeom>
          <a:ln w="16510">
            <a:solidFill>
              <a:srgbClr val="397BBB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2468225" y="3676649"/>
            <a:ext cx="0" cy="638176"/>
          </a:xfrm>
          <a:prstGeom prst="line">
            <a:avLst/>
          </a:prstGeom>
          <a:ln w="16510">
            <a:solidFill>
              <a:srgbClr val="397BBB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5792449" y="3676649"/>
            <a:ext cx="0" cy="638176"/>
          </a:xfrm>
          <a:prstGeom prst="line">
            <a:avLst/>
          </a:prstGeom>
          <a:ln w="16510">
            <a:solidFill>
              <a:srgbClr val="397BBB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2495550" y="4314825"/>
            <a:ext cx="13296899" cy="0"/>
          </a:xfrm>
          <a:prstGeom prst="line">
            <a:avLst/>
          </a:prstGeom>
          <a:ln w="16510">
            <a:solidFill>
              <a:srgbClr val="397BBB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3543300" y="4314825"/>
            <a:ext cx="0" cy="238125"/>
          </a:xfrm>
          <a:prstGeom prst="line">
            <a:avLst/>
          </a:prstGeom>
          <a:ln w="19050">
            <a:solidFill>
              <a:srgbClr val="00C2D1"/>
            </a:solidFill>
            <a:tailEnd type="triangle" w="sm" len="sm"/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9144000" y="4314825"/>
            <a:ext cx="0" cy="238125"/>
          </a:xfrm>
          <a:prstGeom prst="line">
            <a:avLst/>
          </a:prstGeom>
          <a:ln w="19050">
            <a:solidFill>
              <a:srgbClr val="00C2D1"/>
            </a:solidFill>
            <a:tailEnd type="triangle" w="sm" len="sm"/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14744700" y="4314825"/>
            <a:ext cx="0" cy="238125"/>
          </a:xfrm>
          <a:prstGeom prst="line">
            <a:avLst/>
          </a:prstGeom>
          <a:ln w="19050">
            <a:solidFill>
              <a:srgbClr val="00C2D1"/>
            </a:solidFill>
            <a:tailEnd type="triangle" w="sm" len="sm"/>
          </a:ln>
          <a:effectLst/>
        </p:spPr>
      </p:cxnSp>
      <p:sp>
        <p:nvSpPr>
          <p:cNvPr id="39" name="Rounded Rectangle 38"/>
          <p:cNvSpPr/>
          <p:nvPr/>
        </p:nvSpPr>
        <p:spPr>
          <a:xfrm>
            <a:off x="952500" y="4600575"/>
            <a:ext cx="5181600" cy="1790700"/>
          </a:xfrm>
          <a:prstGeom prst="roundRect">
            <a:avLst>
              <a:gd name="adj" fmla="val 9574"/>
            </a:avLst>
          </a:prstGeom>
          <a:solidFill>
            <a:srgbClr val="1637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9675" y="4791075"/>
            <a:ext cx="4667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能力构成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9675" y="5610225"/>
            <a:ext cx="466725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C6E5"/>
                </a:solidFill>
                <a:latin typeface="Noto Sans CJK SC"/>
                <a:ea typeface="Noto Sans CJK SC"/>
              </a:rPr>
              <a:t>硬技能 / 软技能 / 元技能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53200" y="4600575"/>
            <a:ext cx="5181600" cy="1790700"/>
          </a:xfrm>
          <a:prstGeom prst="roundRect">
            <a:avLst>
              <a:gd name="adj" fmla="val 9574"/>
            </a:avLst>
          </a:prstGeom>
          <a:solidFill>
            <a:srgbClr val="1637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0375" y="4791075"/>
            <a:ext cx="4667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适用范围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0375" y="5610225"/>
            <a:ext cx="466725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C6E5"/>
                </a:solidFill>
                <a:latin typeface="Noto Sans CJK SC"/>
                <a:ea typeface="Noto Sans CJK SC"/>
              </a:rPr>
              <a:t>通用 / 产业背景 / 岗位专有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153900" y="4600575"/>
            <a:ext cx="5181600" cy="1790700"/>
          </a:xfrm>
          <a:prstGeom prst="roundRect">
            <a:avLst>
              <a:gd name="adj" fmla="val 9574"/>
            </a:avLst>
          </a:prstGeom>
          <a:solidFill>
            <a:srgbClr val="1637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411075" y="4791075"/>
            <a:ext cx="46672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任务角色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11075" y="5610225"/>
            <a:ext cx="4667250" cy="5238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9C6E5"/>
                </a:solidFill>
                <a:latin typeface="Noto Sans CJK SC"/>
                <a:ea typeface="Noto Sans CJK SC"/>
              </a:rPr>
              <a:t>基础 / 骨干 / 高端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543300" y="6391275"/>
            <a:ext cx="0" cy="55245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9144000" y="6391275"/>
            <a:ext cx="0" cy="55245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14744700" y="6391275"/>
            <a:ext cx="0" cy="55245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3543300" y="6943725"/>
            <a:ext cx="112014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9144000" y="6943725"/>
            <a:ext cx="0" cy="495299"/>
          </a:xfrm>
          <a:prstGeom prst="line">
            <a:avLst/>
          </a:prstGeom>
          <a:ln w="22860">
            <a:solidFill>
              <a:srgbClr val="00C2D1"/>
            </a:solidFill>
            <a:tailEnd type="triangle" w="sm" len="sm"/>
          </a:ln>
          <a:effectLst/>
        </p:spPr>
      </p:cxnSp>
      <p:sp>
        <p:nvSpPr>
          <p:cNvPr id="53" name="Rounded Rectangle 52"/>
          <p:cNvSpPr/>
          <p:nvPr/>
        </p:nvSpPr>
        <p:spPr>
          <a:xfrm>
            <a:off x="952500" y="7524749"/>
            <a:ext cx="16383000" cy="1219200"/>
          </a:xfrm>
          <a:prstGeom prst="roundRect">
            <a:avLst>
              <a:gd name="adj" fmla="val 14062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57300" y="7715250"/>
            <a:ext cx="5305425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</a:rPr>
              <a:t>具体岗位人才标准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9000" y="7696199"/>
            <a:ext cx="9667875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</a:rPr>
              <a:t>每项能力：1—4 级可观察行为 + 评价证据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</a:rPr>
              <a:t>用于岗位对照、能力评价与培养衔接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0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1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3475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12  /  调研发现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模型的价值，要看能否补充并衔接立白现有实践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12</a:t>
            </a:r>
          </a:p>
        </p:txBody>
      </p:sp>
      <p:sp>
        <p:nvSpPr>
          <p:cNvPr id="15" name="Oval 14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52500" y="2781300"/>
          <a:ext cx="16383000" cy="491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/>
                <a:gridCol w="6715125"/>
                <a:gridCol w="7477125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比较维度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常见问题 · 待企业核实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本模型 · 提供的结构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人才分类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统一岗位标签，分类边界不清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五类人才，按工作功能区分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能力结构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重专业技能，协同与适应零散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硬技能 + 软技能 + 元技能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层级要求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经验判断，级别与行为关系模糊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三级人才 + 1—4级行为锚点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产业适配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统一标准，技术背景差异不足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新 / 旧产业差异化配置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证据来源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依赖经验，缺少可复核过程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招聘数据 + 访谈 + 专家校验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应用方式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评价、培养与岗位配置衔接弱</a:t>
                      </a:r>
                    </a:p>
                  </a:txBody>
                  <a:tcPr marL="190500" marR="142875" marT="28575" marB="28575" anchor="ctr">
                    <a:solidFill>
                      <a:srgbClr val="F8FAF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通用 / 产业 / 岗位三层组合</a:t>
                      </a:r>
                    </a:p>
                  </a:txBody>
                  <a:tcPr marL="190500" marR="142875" marT="28575" marB="28575" anchor="ctr">
                    <a:solidFill>
                      <a:srgbClr val="E8F0F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952500" y="8239124"/>
            <a:ext cx="16383000" cy="609600"/>
          </a:xfrm>
          <a:prstGeom prst="roundRect">
            <a:avLst>
              <a:gd name="adj" fmla="val 18750"/>
            </a:avLst>
          </a:prstGeom>
          <a:solidFill>
            <a:srgbClr val="EC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09675" y="8505825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5425" y="8296274"/>
            <a:ext cx="15516225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2540"/>
                </a:solidFill>
                <a:latin typeface="Noto Sans CJK SC"/>
                <a:ea typeface="Noto Sans CJK SC"/>
              </a:rPr>
              <a:t>请立白逐项核对：已有做法是什么，模型能补充什么？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0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3475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13  /  调研发现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智能制造操作能力，从“会操作”走向“能主导”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13</a:t>
            </a:r>
          </a:p>
        </p:txBody>
      </p:sp>
      <p:sp>
        <p:nvSpPr>
          <p:cNvPr id="15" name="Oval 14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52500" y="273367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设备操作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能操作基础智能化生产设备，完成简单加工任务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可熟练操作核心生产设备，精准控制生产参数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能优化设备运行参数，提升生产精度与效率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可主导设备智能化升级后的操作适配，培训团队操作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52500" y="469582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ERP操作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能使用ERP生产模块录入生产数据，查询订单进度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可独立通过ERP下达生产计划，跟踪物料需求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能通过ERP分析生产瓶颈，调整生产调度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可主导ERP生产模块与设备数据联动，实现数字化生产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52500" y="665797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CAD解读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能识别简单零件图纸，理解基础加工要求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可解读复杂装配图纸，明确关键加工节点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能根据图纸优化加工路径，提升加工效率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可结合图纸与设备特性，提出工艺优化建议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11715750" y="2733675"/>
            <a:ext cx="5619750" cy="573405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06250" y="2886075"/>
            <a:ext cx="52387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三级人才 · 配置待校核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11906250" y="3686175"/>
          <a:ext cx="5238750" cy="31813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12192000" y="7153275"/>
            <a:ext cx="266700" cy="0"/>
          </a:xfrm>
          <a:prstGeom prst="line">
            <a:avLst/>
          </a:prstGeom>
          <a:ln w="25400">
            <a:solidFill>
              <a:srgbClr val="7FE0E8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1253490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基础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747750" y="7153275"/>
            <a:ext cx="266699" cy="0"/>
          </a:xfrm>
          <a:prstGeom prst="line">
            <a:avLst/>
          </a:prstGeom>
          <a:ln w="25400">
            <a:solidFill>
              <a:srgbClr val="1A73E8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409065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骨干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303500" y="7153275"/>
            <a:ext cx="266700" cy="0"/>
          </a:xfrm>
          <a:prstGeom prst="line">
            <a:avLst/>
          </a:prstGeom>
          <a:ln w="25400">
            <a:solidFill>
              <a:srgbClr val="0A2540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1564640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25300" y="7658100"/>
            <a:ext cx="520065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线条：基础 / 骨干 / 高端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设备 4/3/2，请核对递进解释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行为取自主报告，雷达配置取表4-11；1—4级为行为刻度，不是现场评分。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9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3475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14  /  调研发现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旧型产业能力，更强调合规、流程与经验传承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14</a:t>
            </a:r>
          </a:p>
        </p:txBody>
      </p:sp>
      <p:sp>
        <p:nvSpPr>
          <p:cNvPr id="15" name="Oval 14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52500" y="273367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GMP合规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能了解GMP基础条款，遵守简单合规要求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可熟练掌握GMP核心条款，规范执行操作流程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能检查操作中的GMP合规性，纠正违规行为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可主导企业GMP体系优化，通过合规审核并降低风险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52500" y="469582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SOP执行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能阅读SOP文档，按指导完成基础操作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可独立严格执行SOP流程，记录操作过程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能发现SOP中的优化点，提出修订建议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可主导SOP体系修订与培训，推动全员规范执行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52500" y="6657975"/>
          <a:ext cx="10477500" cy="180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5"/>
                <a:gridCol w="9096375"/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经验积累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1—4级行为描述 · 报告原文</a:t>
                      </a:r>
                    </a:p>
                  </a:txBody>
                  <a:tcPr marL="190500" marR="142875" marT="28575" marB="28575" anchor="ctr">
                    <a:solidFill>
                      <a:srgbClr val="EAF2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1级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能记录基础操作经验，总结简单操作规律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2级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可整理个人操作经验，形成基础操作笔记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3级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能提炼班组共性经验，形成标准化操作建议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8A3D"/>
                          </a:solidFill>
                          <a:latin typeface="Noto Sans CJK SC"/>
                          <a:ea typeface="Noto Sans CJK SC"/>
                        </a:rPr>
                        <a:t>4级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可构建企业级操作经验库，指导全员提升技能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11715750" y="2733675"/>
            <a:ext cx="5619750" cy="573405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06250" y="2886075"/>
            <a:ext cx="52387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三级人才 · 配置待校核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11906250" y="3686175"/>
          <a:ext cx="5238750" cy="31813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Oval 22"/>
          <p:cNvSpPr/>
          <p:nvPr/>
        </p:nvSpPr>
        <p:spPr>
          <a:xfrm>
            <a:off x="12192000" y="7115175"/>
            <a:ext cx="85725" cy="85725"/>
          </a:xfrm>
          <a:prstGeom prst="ellipse">
            <a:avLst/>
          </a:prstGeom>
          <a:solidFill>
            <a:srgbClr val="7FE0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3490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基础</a:t>
            </a:r>
          </a:p>
        </p:txBody>
      </p:sp>
      <p:sp>
        <p:nvSpPr>
          <p:cNvPr id="25" name="Oval 24"/>
          <p:cNvSpPr/>
          <p:nvPr/>
        </p:nvSpPr>
        <p:spPr>
          <a:xfrm>
            <a:off x="13747750" y="7115175"/>
            <a:ext cx="85725" cy="85725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09065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骨干</a:t>
            </a:r>
          </a:p>
        </p:txBody>
      </p:sp>
      <p:sp>
        <p:nvSpPr>
          <p:cNvPr id="27" name="Oval 26"/>
          <p:cNvSpPr/>
          <p:nvPr/>
        </p:nvSpPr>
        <p:spPr>
          <a:xfrm>
            <a:off x="15303500" y="7115175"/>
            <a:ext cx="85725" cy="85725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646400" y="6924675"/>
            <a:ext cx="127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高端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25300" y="7658100"/>
            <a:ext cx="520065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经验积累待验证；缺失值不绘点、不连线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GMP适用性由立白业务确认；经验积累配置待验证。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1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9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23900"/>
            <a:ext cx="18288000" cy="9563100"/>
          </a:xfrm>
          <a:gradFill>
            <a:gsLst>
              <a:gs pos="0">
                <a:srgbClr val="0A2540"/>
              </a:gs>
              <a:gs pos="100000">
                <a:srgbClr val="102D4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9C6E5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183B5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C2D1"/>
                </a:solidFill>
                <a:latin typeface="Noto Sans CJK SC"/>
                <a:ea typeface="Noto Sans CJK SC"/>
              </a:rPr>
              <a:t>15  /  验证反馈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Noto Sans CJK SC"/>
                <a:ea typeface="Noto Sans CJK SC"/>
              </a:rPr>
              <a:t>请用一个熟悉岗位，把模型从头检验一遍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22415D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15</a:t>
            </a:r>
          </a:p>
        </p:txBody>
      </p:sp>
      <p:sp>
        <p:nvSpPr>
          <p:cNvPr id="16" name="Oval 15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52500" y="3238500"/>
            <a:ext cx="5181600" cy="2800350"/>
          </a:xfrm>
          <a:prstGeom prst="roundRect">
            <a:avLst>
              <a:gd name="adj" fmla="val 6122"/>
            </a:avLst>
          </a:prstGeom>
          <a:solidFill>
            <a:srgbClr val="1637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8725" y="3448050"/>
            <a:ext cx="809625" cy="809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00C2D1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20" name="Oval 19"/>
          <p:cNvSpPr/>
          <p:nvPr/>
        </p:nvSpPr>
        <p:spPr>
          <a:xfrm>
            <a:off x="5257800" y="3629025"/>
            <a:ext cx="457200" cy="457200"/>
          </a:xfrm>
          <a:prstGeom prst="ellipse">
            <a:avLst/>
          </a:prstGeom>
          <a:solidFill>
            <a:srgbClr val="193E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29250" y="3724275"/>
            <a:ext cx="114300" cy="1143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5372100" y="3943350"/>
            <a:ext cx="0" cy="47624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5372100" y="3895725"/>
            <a:ext cx="5715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5429250" y="3895725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5543550" y="3895725"/>
            <a:ext cx="5715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5600700" y="3943350"/>
            <a:ext cx="0" cy="47624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1228725" y="4400550"/>
            <a:ext cx="46291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选择真实岗位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8725" y="5305425"/>
            <a:ext cx="46291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9C6E5"/>
                </a:solidFill>
                <a:latin typeface="Noto Sans CJK SC"/>
                <a:ea typeface="Noto Sans CJK SC"/>
              </a:rPr>
              <a:t>说清任务与工作情境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3200" y="3238500"/>
            <a:ext cx="5181600" cy="2800350"/>
          </a:xfrm>
          <a:prstGeom prst="roundRect">
            <a:avLst>
              <a:gd name="adj" fmla="val 6122"/>
            </a:avLst>
          </a:prstGeom>
          <a:solidFill>
            <a:srgbClr val="1637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9425" y="3448050"/>
            <a:ext cx="809625" cy="809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00C2D1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31" name="Oval 30"/>
          <p:cNvSpPr/>
          <p:nvPr/>
        </p:nvSpPr>
        <p:spPr>
          <a:xfrm>
            <a:off x="10858500" y="3629025"/>
            <a:ext cx="457200" cy="457200"/>
          </a:xfrm>
          <a:prstGeom prst="ellipse">
            <a:avLst/>
          </a:prstGeom>
          <a:solidFill>
            <a:srgbClr val="193E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1001375" y="3724275"/>
            <a:ext cx="142875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1144250" y="3724275"/>
            <a:ext cx="47625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1191875" y="3771900"/>
            <a:ext cx="0" cy="219074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H="1">
            <a:off x="11001375" y="3990974"/>
            <a:ext cx="1905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1001375" y="3724275"/>
            <a:ext cx="0" cy="266699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1144250" y="3724275"/>
            <a:ext cx="0" cy="47625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11144250" y="3771900"/>
            <a:ext cx="47625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1039475" y="3829050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11039475" y="3886200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1039475" y="3943350"/>
            <a:ext cx="114300" cy="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6829425" y="4400550"/>
            <a:ext cx="46291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对照标准组合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29425" y="5305425"/>
            <a:ext cx="46291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9C6E5"/>
                </a:solidFill>
                <a:latin typeface="Noto Sans CJK SC"/>
                <a:ea typeface="Noto Sans CJK SC"/>
              </a:rPr>
              <a:t>检查类别、能力与分级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153900" y="3238500"/>
            <a:ext cx="5181600" cy="2800350"/>
          </a:xfrm>
          <a:prstGeom prst="roundRect">
            <a:avLst>
              <a:gd name="adj" fmla="val 6122"/>
            </a:avLst>
          </a:prstGeom>
          <a:solidFill>
            <a:srgbClr val="1637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430125" y="3448050"/>
            <a:ext cx="809625" cy="809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00C2D1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46" name="Oval 45"/>
          <p:cNvSpPr/>
          <p:nvPr/>
        </p:nvSpPr>
        <p:spPr>
          <a:xfrm>
            <a:off x="16459200" y="3629025"/>
            <a:ext cx="457200" cy="457200"/>
          </a:xfrm>
          <a:prstGeom prst="ellipse">
            <a:avLst/>
          </a:prstGeom>
          <a:solidFill>
            <a:srgbClr val="193E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554450" y="3724275"/>
            <a:ext cx="266700" cy="266700"/>
          </a:xfrm>
          <a:prstGeom prst="ellipse">
            <a:avLst/>
          </a:prstGeom>
          <a:noFill/>
          <a:ln w="19050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6611600" y="3857625"/>
            <a:ext cx="57150" cy="5715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16668750" y="3800475"/>
            <a:ext cx="104775" cy="114300"/>
          </a:xfrm>
          <a:prstGeom prst="line">
            <a:avLst/>
          </a:prstGeom>
          <a:ln w="19050">
            <a:solidFill>
              <a:srgbClr val="00C2D1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12430125" y="4400550"/>
            <a:ext cx="46291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提供行为证据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430125" y="5305425"/>
            <a:ext cx="46291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9C6E5"/>
                </a:solidFill>
                <a:latin typeface="Noto Sans CJK SC"/>
                <a:ea typeface="Noto Sans CJK SC"/>
              </a:rPr>
              <a:t>给出案例、评分与修改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2500" y="6715125"/>
            <a:ext cx="163830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六个判断，最终都回到同一个岗位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2500" y="7515225"/>
            <a:ext cx="5181600" cy="609600"/>
          </a:xfrm>
          <a:prstGeom prst="roundRect">
            <a:avLst>
              <a:gd name="adj" fmla="val 18750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0625" y="7572375"/>
            <a:ext cx="47053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Noto Sans CJK SC"/>
                <a:ea typeface="Noto Sans CJK SC"/>
              </a:rPr>
              <a:t>分类是否清楚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53200" y="7515225"/>
            <a:ext cx="5181600" cy="609600"/>
          </a:xfrm>
          <a:prstGeom prst="roundRect">
            <a:avLst>
              <a:gd name="adj" fmla="val 18750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91325" y="7572375"/>
            <a:ext cx="47053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Noto Sans CJK SC"/>
                <a:ea typeface="Noto Sans CJK SC"/>
              </a:rPr>
              <a:t>能力是否贴合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153900" y="7515225"/>
            <a:ext cx="5181600" cy="609600"/>
          </a:xfrm>
          <a:prstGeom prst="roundRect">
            <a:avLst>
              <a:gd name="adj" fmla="val 18750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392025" y="7572375"/>
            <a:ext cx="47053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Noto Sans CJK SC"/>
                <a:ea typeface="Noto Sans CJK SC"/>
              </a:rPr>
              <a:t>分级是否合理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2500" y="8286750"/>
            <a:ext cx="5181600" cy="609600"/>
          </a:xfrm>
          <a:prstGeom prst="roundRect">
            <a:avLst>
              <a:gd name="adj" fmla="val 18750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90625" y="8343900"/>
            <a:ext cx="47053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Noto Sans CJK SC"/>
                <a:ea typeface="Noto Sans CJK SC"/>
              </a:rPr>
              <a:t>产业差异是否成立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53200" y="8286750"/>
            <a:ext cx="5181600" cy="609600"/>
          </a:xfrm>
          <a:prstGeom prst="roundRect">
            <a:avLst>
              <a:gd name="adj" fmla="val 18750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91325" y="8343900"/>
            <a:ext cx="47053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Noto Sans CJK SC"/>
                <a:ea typeface="Noto Sans CJK SC"/>
              </a:rPr>
              <a:t>模型能否应用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153900" y="8286750"/>
            <a:ext cx="5181600" cy="609600"/>
          </a:xfrm>
          <a:prstGeom prst="roundRect">
            <a:avLst>
              <a:gd name="adj" fmla="val 18750"/>
            </a:avLst>
          </a:prstGeom>
          <a:solidFill>
            <a:srgbClr val="193B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392025" y="8343900"/>
            <a:ext cx="470535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Noto Sans CJK SC"/>
                <a:ea typeface="Noto Sans CJK SC"/>
              </a:rPr>
              <a:t>还有哪些缺失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7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8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0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2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3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4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45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16  /  验证反馈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请现场评分，专家判断将直接指向模型修订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16</a:t>
            </a:r>
          </a:p>
        </p:txBody>
      </p:sp>
      <p:sp>
        <p:nvSpPr>
          <p:cNvPr id="15" name="Oval 14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52500" y="2667000"/>
          <a:ext cx="16383000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5715000"/>
                <a:gridCol w="1905000"/>
                <a:gridCol w="6858000"/>
              </a:tblGrid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验证维度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核心问题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1—5分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修改建议 / 岗位案例</a:t>
                      </a:r>
                    </a:p>
                  </a:txBody>
                  <a:tcPr marL="190500" marR="142875" marT="28575" marB="28575" anchor="ctr">
                    <a:solidFill>
                      <a:srgbClr val="0A254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人才分类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五类是否完整，边界是否清楚？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能力维度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硬 / 软 / 元能否解释岗位表现？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人才分级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三级人才与行为等级是否合理？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产业差异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新 / 旧能力侧重是否符合实际？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模型总图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整体框架能否用于评价与培养？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A2540"/>
                          </a:solidFill>
                          <a:latin typeface="Noto Sans CJK SC"/>
                          <a:ea typeface="Noto Sans CJK SC"/>
                        </a:rPr>
                        <a:t>缺失项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关键能力、岗位、情境是否遗漏？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B3A4A"/>
                          </a:solidFill>
                          <a:latin typeface="Noto Sans CJK SC"/>
                          <a:ea typeface="Noto Sans CJK SC"/>
                        </a:rPr>
                        <a:t>____</a:t>
                      </a:r>
                    </a:p>
                  </a:txBody>
                  <a:tcPr marL="190500" marR="142875" marT="28575" marB="28575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190500" marR="142875" marT="28575" marB="28575" anchor="ctr">
                    <a:solidFill>
                      <a:srgbClr val="F5F7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5E9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952500" y="8591550"/>
            <a:ext cx="16383000" cy="552450"/>
          </a:xfrm>
          <a:prstGeom prst="roundRect">
            <a:avLst>
              <a:gd name="adj" fmla="val 20689"/>
            </a:avLst>
          </a:prstGeom>
          <a:solidFill>
            <a:srgbClr val="EC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09675" y="8829675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5425" y="8648700"/>
            <a:ext cx="1551622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540"/>
                </a:solidFill>
                <a:latin typeface="Noto Sans CJK SC"/>
                <a:ea typeface="Noto Sans CJK SC"/>
              </a:rPr>
              <a:t>1 不成立 · 2 大幅修改 · 3 基本成立 · 4 较适用 · 5 高度适用 · N/A 不适用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0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23900"/>
            <a:ext cx="18288000" cy="9563100"/>
          </a:xfrm>
          <a:gradFill>
            <a:gsLst>
              <a:gs pos="0">
                <a:srgbClr val="0A2540"/>
              </a:gs>
              <a:gs pos="100000">
                <a:srgbClr val="102D4C"/>
              </a:gs>
            </a:gsLst>
            <a:lin ang="2700000" scaled="1"/>
          </a:gradFill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9C6E5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5CA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335249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183B5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C2D1"/>
                </a:solidFill>
                <a:latin typeface="Noto Sans CJK SC"/>
                <a:ea typeface="Noto Sans CJK SC"/>
              </a:rPr>
              <a:t>17  /  未来展望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Noto Sans CJK SC"/>
                <a:ea typeface="Noto Sans CJK SC"/>
              </a:rPr>
              <a:t>每项反馈都有处理结果，形成可追踪的修订闭环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22415D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17</a:t>
            </a:r>
          </a:p>
        </p:txBody>
      </p:sp>
      <p:sp>
        <p:nvSpPr>
          <p:cNvPr id="16" name="Oval 15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cxnSp>
        <p:nvCxnSpPr>
          <p:cNvPr id="18" name="Connector 17"/>
          <p:cNvCxnSpPr/>
          <p:nvPr/>
        </p:nvCxnSpPr>
        <p:spPr>
          <a:xfrm>
            <a:off x="2476500" y="3981450"/>
            <a:ext cx="13335000" cy="0"/>
          </a:xfrm>
          <a:prstGeom prst="line">
            <a:avLst/>
          </a:prstGeom>
          <a:ln w="25400">
            <a:solidFill>
              <a:srgbClr val="2C6592"/>
            </a:solidFill>
          </a:ln>
          <a:effectLst/>
        </p:spPr>
      </p:cxnSp>
      <p:sp>
        <p:nvSpPr>
          <p:cNvPr id="19" name="Oval 18"/>
          <p:cNvSpPr/>
          <p:nvPr/>
        </p:nvSpPr>
        <p:spPr>
          <a:xfrm>
            <a:off x="2171700" y="3600450"/>
            <a:ext cx="762000" cy="762000"/>
          </a:xfrm>
          <a:prstGeom prst="ellipse">
            <a:avLst/>
          </a:prstGeom>
          <a:solidFill>
            <a:srgbClr val="1A73E8"/>
          </a:solidFill>
          <a:ln w="9525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94346" y="3823096"/>
            <a:ext cx="316706" cy="316706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462212" y="3981450"/>
            <a:ext cx="67866" cy="6786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2530078" y="3913584"/>
            <a:ext cx="124420" cy="135731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952500" y="4695825"/>
            <a:ext cx="30861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现场评分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5457825"/>
            <a:ext cx="30861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C6E5"/>
                </a:solidFill>
                <a:latin typeface="Noto Sans CJK SC"/>
                <a:ea typeface="Noto Sans CJK SC"/>
              </a:rPr>
              <a:t>记录判断与案例</a:t>
            </a:r>
          </a:p>
        </p:txBody>
      </p:sp>
      <p:sp>
        <p:nvSpPr>
          <p:cNvPr id="25" name="Oval 24"/>
          <p:cNvSpPr/>
          <p:nvPr/>
        </p:nvSpPr>
        <p:spPr>
          <a:xfrm>
            <a:off x="5495925" y="3600450"/>
            <a:ext cx="762000" cy="762000"/>
          </a:xfrm>
          <a:prstGeom prst="ellipse">
            <a:avLst/>
          </a:prstGeom>
          <a:solidFill>
            <a:srgbClr val="173B5E"/>
          </a:solidFill>
          <a:ln w="9525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775126" y="3823096"/>
            <a:ext cx="16966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5944790" y="3823096"/>
            <a:ext cx="56555" cy="5655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6001345" y="3879651"/>
            <a:ext cx="0" cy="26015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 flipH="1">
            <a:off x="5775126" y="4139803"/>
            <a:ext cx="226219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5775126" y="3823096"/>
            <a:ext cx="0" cy="31670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944790" y="3823096"/>
            <a:ext cx="0" cy="5655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944790" y="3879651"/>
            <a:ext cx="5655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820370" y="3947517"/>
            <a:ext cx="135731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5820370" y="4015382"/>
            <a:ext cx="135731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5820370" y="4083248"/>
            <a:ext cx="135731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4276725" y="4695825"/>
            <a:ext cx="30861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3 工作日汇总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6725" y="5457825"/>
            <a:ext cx="30861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C6E5"/>
                </a:solidFill>
                <a:latin typeface="Noto Sans CJK SC"/>
                <a:ea typeface="Noto Sans CJK SC"/>
              </a:rPr>
              <a:t>整理六维度意见</a:t>
            </a:r>
          </a:p>
        </p:txBody>
      </p:sp>
      <p:sp>
        <p:nvSpPr>
          <p:cNvPr id="38" name="Oval 37"/>
          <p:cNvSpPr/>
          <p:nvPr/>
        </p:nvSpPr>
        <p:spPr>
          <a:xfrm>
            <a:off x="8820150" y="3600450"/>
            <a:ext cx="762000" cy="762000"/>
          </a:xfrm>
          <a:prstGeom prst="ellipse">
            <a:avLst/>
          </a:prstGeom>
          <a:solidFill>
            <a:srgbClr val="173B5E"/>
          </a:solidFill>
          <a:ln w="9525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33284" y="3823096"/>
            <a:ext cx="135731" cy="135731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9065418" y="4083248"/>
            <a:ext cx="0" cy="5655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9065418" y="4026693"/>
            <a:ext cx="67866" cy="5655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9133284" y="4026693"/>
            <a:ext cx="135731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9269015" y="4026693"/>
            <a:ext cx="67866" cy="5655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9336881" y="4083248"/>
            <a:ext cx="0" cy="5655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7600950" y="4695825"/>
            <a:ext cx="30861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团队研判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0950" y="5457825"/>
            <a:ext cx="30861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C6E5"/>
                </a:solidFill>
                <a:latin typeface="Noto Sans CJK SC"/>
                <a:ea typeface="Noto Sans CJK SC"/>
              </a:rPr>
              <a:t>核对证据与条目</a:t>
            </a:r>
          </a:p>
        </p:txBody>
      </p:sp>
      <p:sp>
        <p:nvSpPr>
          <p:cNvPr id="47" name="Oval 46"/>
          <p:cNvSpPr/>
          <p:nvPr/>
        </p:nvSpPr>
        <p:spPr>
          <a:xfrm>
            <a:off x="12144375" y="3600450"/>
            <a:ext cx="762000" cy="762000"/>
          </a:xfrm>
          <a:prstGeom prst="ellipse">
            <a:avLst/>
          </a:prstGeom>
          <a:solidFill>
            <a:srgbClr val="1A73E8"/>
          </a:solidFill>
          <a:ln w="9525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355710" y="3936206"/>
            <a:ext cx="90487" cy="904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604551" y="3936206"/>
            <a:ext cx="90487" cy="904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2446198" y="3981450"/>
            <a:ext cx="158353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2547996" y="3936206"/>
            <a:ext cx="56555" cy="45244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2547996" y="3981450"/>
            <a:ext cx="56555" cy="4524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10925175" y="4695825"/>
            <a:ext cx="30861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10 工作日反馈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25175" y="5457825"/>
            <a:ext cx="30861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C6E5"/>
                </a:solidFill>
                <a:latin typeface="Noto Sans CJK SC"/>
                <a:ea typeface="Noto Sans CJK SC"/>
              </a:rPr>
              <a:t>反馈修订与理由</a:t>
            </a:r>
          </a:p>
        </p:txBody>
      </p:sp>
      <p:sp>
        <p:nvSpPr>
          <p:cNvPr id="55" name="Oval 54"/>
          <p:cNvSpPr/>
          <p:nvPr/>
        </p:nvSpPr>
        <p:spPr>
          <a:xfrm>
            <a:off x="15468600" y="3600450"/>
            <a:ext cx="762000" cy="762000"/>
          </a:xfrm>
          <a:prstGeom prst="ellipse">
            <a:avLst/>
          </a:prstGeom>
          <a:solidFill>
            <a:srgbClr val="173B5E"/>
          </a:solidFill>
          <a:ln w="9525">
            <a:solidFill>
              <a:srgbClr val="00C2D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5691246" y="3823096"/>
            <a:ext cx="316706" cy="316706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5770423" y="3902273"/>
            <a:ext cx="158353" cy="158353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15849599" y="3823096"/>
            <a:ext cx="158354" cy="158354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14249400" y="4695825"/>
            <a:ext cx="3086100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待议复核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249400" y="5457825"/>
            <a:ext cx="308610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C6E5"/>
                </a:solidFill>
                <a:latin typeface="Noto Sans CJK SC"/>
                <a:ea typeface="Noto Sans CJK SC"/>
              </a:rPr>
              <a:t>补充证据再确认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2500" y="6819900"/>
            <a:ext cx="3924300" cy="638175"/>
          </a:xfrm>
          <a:prstGeom prst="roundRect">
            <a:avLst>
              <a:gd name="adj" fmla="val 17910"/>
            </a:avLst>
          </a:prstGeom>
          <a:solidFill>
            <a:srgbClr val="163B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4900" y="6886575"/>
            <a:ext cx="36195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E986"/>
                </a:solidFill>
                <a:latin typeface="Noto Sans CJK SC"/>
                <a:ea typeface="Noto Sans CJK SC"/>
              </a:rPr>
              <a:t>采纳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05400" y="6819900"/>
            <a:ext cx="3924300" cy="638175"/>
          </a:xfrm>
          <a:prstGeom prst="roundRect">
            <a:avLst>
              <a:gd name="adj" fmla="val 17910"/>
            </a:avLst>
          </a:prstGeom>
          <a:solidFill>
            <a:srgbClr val="163B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57800" y="6886575"/>
            <a:ext cx="36195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C2D1"/>
                </a:solidFill>
                <a:latin typeface="Noto Sans CJK SC"/>
                <a:ea typeface="Noto Sans CJK SC"/>
              </a:rPr>
              <a:t>部分采纳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58300" y="6819900"/>
            <a:ext cx="3924300" cy="638175"/>
          </a:xfrm>
          <a:prstGeom prst="roundRect">
            <a:avLst>
              <a:gd name="adj" fmla="val 17910"/>
            </a:avLst>
          </a:prstGeom>
          <a:solidFill>
            <a:srgbClr val="163B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0700" y="6886575"/>
            <a:ext cx="36195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8A3D"/>
                </a:solidFill>
                <a:latin typeface="Noto Sans CJK SC"/>
                <a:ea typeface="Noto Sans CJK SC"/>
              </a:rPr>
              <a:t>待议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411200" y="6819900"/>
            <a:ext cx="3924300" cy="638175"/>
          </a:xfrm>
          <a:prstGeom prst="roundRect">
            <a:avLst>
              <a:gd name="adj" fmla="val 17910"/>
            </a:avLst>
          </a:prstGeom>
          <a:solidFill>
            <a:srgbClr val="163B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563600" y="6886575"/>
            <a:ext cx="36195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9C6E5"/>
                </a:solidFill>
                <a:latin typeface="Noto Sans CJK SC"/>
                <a:ea typeface="Noto Sans CJK SC"/>
              </a:rPr>
              <a:t>不采纳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2500" y="7715250"/>
            <a:ext cx="1638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9C6E5"/>
                </a:solidFill>
                <a:latin typeface="Noto Sans CJK SC"/>
                <a:ea typeface="Noto Sans CJK SC"/>
              </a:rPr>
              <a:t>均附处理理由，并保留修订记录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2500" y="8524875"/>
            <a:ext cx="14859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FFFFFF"/>
                </a:solidFill>
                <a:latin typeface="Ma Shan Zheng"/>
                <a:ea typeface="Ma Shan Zheng"/>
              </a:rPr>
              <a:t>感谢各位专家共同验证先进制造业人才标准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6363949" y="8343900"/>
            <a:ext cx="971550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49674" y="8448675"/>
            <a:ext cx="8001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BB0"/>
                </a:solidFill>
                <a:latin typeface="Noto Sans CJK SC"/>
                <a:ea typeface="Noto Sans CJK SC"/>
              </a:rPr>
              <a:t>问卷链接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BB0"/>
                </a:solidFill>
                <a:latin typeface="Noto Sans CJK SC"/>
                <a:ea typeface="Noto Sans CJK SC"/>
              </a:rPr>
              <a:t>待补充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4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3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36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3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37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4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45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4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4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5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5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23824"/>
            <a:ext cx="5286375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Noto Sans CJK SC"/>
                <a:ea typeface="Noto Sans CJK SC"/>
              </a:rPr>
              <a:t>立白科技  ·  人才标准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42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模型介绍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475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调研发现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0" y="161925"/>
            <a:ext cx="165735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0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73E8"/>
                </a:solidFill>
                <a:latin typeface="Noto Sans CJK SC"/>
                <a:ea typeface="Noto Sans CJK SC"/>
              </a:rPr>
              <a:t>验证反馈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35249" y="152400"/>
            <a:ext cx="16573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未来展望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2500" y="72390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52500" y="1000125"/>
            <a:ext cx="15240000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73E8"/>
                </a:solidFill>
                <a:latin typeface="Noto Sans CJK SC"/>
                <a:ea typeface="Noto Sans CJK SC"/>
              </a:rPr>
              <a:t>18  /  验证反馈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495425"/>
            <a:ext cx="16383000" cy="895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0A2540"/>
                </a:solidFill>
                <a:latin typeface="Noto Sans CJK SC"/>
                <a:ea typeface="Noto Sans CJK SC"/>
              </a:rPr>
              <a:t>按专家追问展开：归属规则、分级示例与三层清单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371725"/>
            <a:ext cx="16383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BB0"/>
                </a:solidFill>
                <a:latin typeface="Noto Sans CJK SC"/>
                <a:ea typeface="Noto Sans CJK SC"/>
              </a:rPr>
              <a:t>备用索引 · 详细证据与完整 90 项清单见本页备注及配套备查资料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2500" y="9315450"/>
            <a:ext cx="16383000" cy="0"/>
          </a:xfrm>
          <a:prstGeom prst="line">
            <a:avLst/>
          </a:prstGeom>
          <a:ln w="7620">
            <a:solidFill>
              <a:srgbClr val="E5E9F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2382500" y="9505950"/>
            <a:ext cx="4133849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先进制造业人才标准 | 18</a:t>
            </a:r>
          </a:p>
        </p:txBody>
      </p:sp>
      <p:sp>
        <p:nvSpPr>
          <p:cNvPr id="16" name="Oval 15"/>
          <p:cNvSpPr/>
          <p:nvPr/>
        </p:nvSpPr>
        <p:spPr>
          <a:xfrm>
            <a:off x="16878300" y="9410700"/>
            <a:ext cx="476250" cy="476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exec-7ea0c041-660a-4e39-951e-eb2d527afb9f.png"/>
          <p:cNvPicPr>
            <a:picLocks noChangeAspect="1"/>
          </p:cNvPicPr>
          <p:nvPr/>
        </p:nvPicPr>
        <p:blipFill>
          <a:blip r:embed="rId2"/>
          <a:srcRect l="8800" r="54500" t="3400" b="3800"/>
          <a:stretch>
            <a:fillRect/>
          </a:stretch>
        </p:blipFill>
        <p:spPr>
          <a:xfrm>
            <a:off x="16916400" y="9448800"/>
            <a:ext cx="400050" cy="4000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52500" y="2952750"/>
            <a:ext cx="5181600" cy="5229225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9200" y="3171825"/>
            <a:ext cx="933449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A73E8"/>
                </a:solidFill>
                <a:latin typeface="Barlow Semi Condensed"/>
                <a:ea typeface="Noto Sans CJK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76475" y="327660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三问判定与争议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200" y="2952750"/>
            <a:ext cx="5181600" cy="5229225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9900" y="3171825"/>
            <a:ext cx="933449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A73E8"/>
                </a:solidFill>
                <a:latin typeface="Barlow Semi Condensed"/>
                <a:ea typeface="Noto Sans CJK S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7175" y="327660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三维三层级示例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53900" y="2952750"/>
            <a:ext cx="5181600" cy="5229225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>
            <a:outerShdw blurRad="76200" dist="19050" dir="5400000" algn="ctr" rotWithShape="0">
              <a:srgbClr val="1A73E8">
                <a:alpha val="6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20600" y="3171825"/>
            <a:ext cx="933449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A73E8"/>
                </a:solidFill>
                <a:latin typeface="Barlow Semi Condensed"/>
                <a:ea typeface="Noto Sans CJK S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77875" y="3276600"/>
            <a:ext cx="35623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2540"/>
                </a:solidFill>
                <a:latin typeface="Noto Sans CJK SC"/>
                <a:ea typeface="Noto Sans CJK SC"/>
              </a:rPr>
              <a:t>三层完整清单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4219575"/>
            <a:ext cx="4648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90 / 90 纳入校验 · 2 项争议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问1：成果直接验证 → 硬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问2：人与人协同 → 软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B3A4A"/>
                </a:solidFill>
                <a:latin typeface="Noto Sans CJK SC"/>
                <a:ea typeface="Noto Sans CJK SC"/>
              </a:rPr>
              <a:t>问3：跨情境迁移 → 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19200" y="5667375"/>
            <a:ext cx="4648200" cy="476250"/>
          </a:xfrm>
          <a:prstGeom prst="roundRect">
            <a:avLst>
              <a:gd name="adj" fmla="val 16000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5400" y="5686425"/>
            <a:ext cx="44958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73E8"/>
                </a:solidFill>
                <a:latin typeface="Noto Sans CJK SC"/>
                <a:ea typeface="Noto Sans CJK SC"/>
              </a:rPr>
              <a:t>多问为是：问3 ＞ 问2 ＞ 问1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6534150"/>
            <a:ext cx="46482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跨域项目管理：硬 ↔ 元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团队管理（旧·战略）：硬 ↔ 软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暂按词典归类，复核后回填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9900" y="4181475"/>
            <a:ext cx="4648200" cy="4952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Noto Sans CJK SC"/>
                <a:ea typeface="Noto Sans CJK SC"/>
              </a:rPr>
              <a:t>新型：操作 / 协作 / 学习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9900" y="4781550"/>
            <a:ext cx="26860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硬 · 设备操作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63100" y="4781550"/>
            <a:ext cx="1905000" cy="438150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39300" y="4800600"/>
            <a:ext cx="1752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Noto Sans CJK SC"/>
                <a:ea typeface="Noto Sans CJK SC"/>
              </a:rPr>
              <a:t>3 / 4 /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9900" y="5362575"/>
            <a:ext cx="26860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软 · 班组协作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63100" y="5362575"/>
            <a:ext cx="1905000" cy="438150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9300" y="5381625"/>
            <a:ext cx="1752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Noto Sans CJK SC"/>
                <a:ea typeface="Noto Sans CJK SC"/>
              </a:rPr>
              <a:t>2 / 3 /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9900" y="5943600"/>
            <a:ext cx="26860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元 · 实操学习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63100" y="5943600"/>
            <a:ext cx="1905000" cy="438150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39300" y="5962650"/>
            <a:ext cx="1752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73E8"/>
                </a:solidFill>
                <a:latin typeface="Noto Sans CJK SC"/>
                <a:ea typeface="Noto Sans CJK SC"/>
              </a:rPr>
              <a:t>2 / 3 /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9900" y="6848475"/>
            <a:ext cx="46482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B3A4A"/>
                </a:solidFill>
                <a:latin typeface="Noto Sans CJK SC"/>
                <a:ea typeface="Noto Sans CJK SC"/>
              </a:rPr>
              <a:t>旧型：Excel 1/1/2 · SOP 2/3/4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B3A4A"/>
                </a:solidFill>
                <a:latin typeface="Noto Sans CJK SC"/>
                <a:ea typeface="Noto Sans CJK SC"/>
              </a:rPr>
              <a:t>组织协调 3/4/4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9900" y="7648575"/>
            <a:ext cx="4648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BB0"/>
                </a:solidFill>
                <a:latin typeface="Noto Sans CJK SC"/>
                <a:ea typeface="Noto Sans CJK SC"/>
              </a:rPr>
              <a:t>数值顺序：基础 / 骨干 / 高端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420600" y="4276725"/>
            <a:ext cx="981075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A2540"/>
                </a:solidFill>
                <a:latin typeface="Barlow Semi Condensed"/>
                <a:ea typeface="Noto Sans CJK SC"/>
              </a:rPr>
              <a:t>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20750" y="4362450"/>
            <a:ext cx="319087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通用层 · 跨岗位共有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20600" y="5267325"/>
            <a:ext cx="981075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A73E8"/>
                </a:solidFill>
                <a:latin typeface="Barlow Semi Condensed"/>
                <a:ea typeface="Noto Sans CJK SC"/>
              </a:rPr>
              <a:t>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20750" y="5353050"/>
            <a:ext cx="319087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产业背景层 · 同类产业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20600" y="6257925"/>
            <a:ext cx="981075" cy="733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0C2D1"/>
                </a:solidFill>
                <a:latin typeface="Barlow Semi Condensed"/>
                <a:ea typeface="Noto Sans CJK SC"/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620750" y="6343650"/>
            <a:ext cx="319087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B3A4A"/>
                </a:solidFill>
                <a:latin typeface="Noto Sans CJK SC"/>
                <a:ea typeface="Noto Sans CJK SC"/>
              </a:rPr>
              <a:t>岗位专有层 · 特定任务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420600" y="7515225"/>
            <a:ext cx="4648200" cy="419100"/>
          </a:xfrm>
          <a:prstGeom prst="roundRect">
            <a:avLst>
              <a:gd name="adj" fmla="val 18181"/>
            </a:avLst>
          </a:prstGeom>
          <a:solidFill>
            <a:srgbClr val="E8F0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496800" y="7534275"/>
            <a:ext cx="4495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73E8"/>
                </a:solidFill>
                <a:latin typeface="Noto Sans CJK SC"/>
                <a:ea typeface="Noto Sans CJK SC"/>
              </a:rPr>
              <a:t>22 + 48 + 20 = 90 项候选要素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500" y="9525000"/>
            <a:ext cx="11620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BB0"/>
                </a:solidFill>
                <a:latin typeface="Noto Sans CJK SC"/>
                <a:ea typeface="Noto Sans CJK SC"/>
              </a:rPr>
              <a:t>本页为编码方法示例；矩阵和完整清单来自补充附件裁定后页，正式模型以主报告为准。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par>
              <p:cTn id="10" fill="hold" presetID="10" presetClass="entr" presetSubtype="0" nodeType="withEffect">
                <p:stCondLst>
                  <p:cond delay="0"/>
                </p:stCondLst>
                <p:childTnLst>
                  <p:set>
                    <p:cBhvr>
                      <p:cTn id="11" dur="1" fill="hold"/>
                      <p:tgtEl>
                        <p:spTgt spid="19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12" dur="400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20" fill="hold" presetID="10" presetClass="entr" presetSubtype="0" nodeType="withEffect">
                <p:stCondLst>
                  <p:cond delay="150"/>
                </p:stCondLst>
                <p:childTnLst>
                  <p:set>
                    <p:cBhvr>
                      <p:cTn id="21" dur="1" fill="hold"/>
                      <p:tgtEl>
                        <p:spTgt spid="20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22" dur="400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30" fill="hold" presetID="10" presetClass="entr" presetSubtype="0" nodeType="withEffect">
                <p:stCondLst>
                  <p:cond delay="300"/>
                </p:stCondLst>
                <p:childTnLst>
                  <p:set>
                    <p:cBhvr>
                      <p:cTn id="31" dur="1" fill="hold"/>
                      <p:tgtEl>
                        <p:spTgt spid="22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32" dur="400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40" fill="hold" presetID="10" presetClass="entr" presetSubtype="0" nodeType="withEffect">
                <p:stCondLst>
                  <p:cond delay="450"/>
                </p:stCondLst>
                <p:childTnLst>
                  <p:set>
                    <p:cBhvr>
                      <p:cTn id="41" dur="1" fill="hold"/>
                      <p:tgtEl>
                        <p:spTgt spid="23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42" dur="400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50" fill="hold" presetID="10" presetClass="entr" presetSubtype="0" nodeType="withEffect">
                <p:stCondLst>
                  <p:cond delay="600"/>
                </p:stCondLst>
                <p:childTnLst>
                  <p:set>
                    <p:cBhvr>
                      <p:cTn id="51" dur="1" fill="hold"/>
                      <p:tgtEl>
                        <p:spTgt spid="25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52" dur="400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60" fill="hold" presetID="10" presetClass="entr" presetSubtype="0" nodeType="withEffect">
                <p:stCondLst>
                  <p:cond delay="750"/>
                </p:stCondLst>
                <p:childTnLst>
                  <p:set>
                    <p:cBhvr>
                      <p:cTn id="61" dur="1" fill="hold"/>
                      <p:tgtEl>
                        <p:spTgt spid="26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62" dur="400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70" fill="hold" presetID="10" presetClass="entr" presetSubtype="0" nodeType="withEffect">
                <p:stCondLst>
                  <p:cond delay="900"/>
                </p:stCondLst>
                <p:childTnLst>
                  <p:set>
                    <p:cBhvr>
                      <p:cTn id="71" dur="1" fill="hold"/>
                      <p:tgtEl>
                        <p:spTgt spid="27"/>
                      </p:tgtEl>
                      <p:attrNameLst>
                        <p:attrName>style.visibility</p:attrName>
                      </p:attrNameLst>
                    </p:cBhvr>
                    <p:to>
                      <p:strVal val="visible"/>
                    </p:to>
                  </p:set>
                  <p:animEffect transition="in" filter="fade">
                    <p:cBhvr>
                      <p:cTn id="72" dur="400"/>
                      <p:tgtEl>
                        <p:spTgt spid="27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基于胜任力模型的先进制造业人才标准框架与体系——立白科技调研座谈会</dc:title>
  <dc:subject>18页明亮UI版 · 企业专家验证 · 2026年10月09日</dc:subject>
  <dc:creator>广东工业大学管理学院 | 粤来粤好队 | 罗琳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