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8288000" cy="10287000" type="screen4x3"/>
  <p:notesSz cx="6858000" cy="9144000"/>
  <p:embeddedFontLst>
    <p:embeddedFont>
      <p:font typeface="Ma Shan Zheng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font" Target="fonts/font1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新型</c:v>
                </c:pt>
              </c:strCache>
            </c:strRef>
          </c:tx>
          <c:spPr>
            <a:solidFill>
              <a:srgbClr val="1A73E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样本构成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290635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旧型</c:v>
                </c:pt>
              </c:strCache>
            </c:strRef>
          </c:tx>
          <c:spPr>
            <a:solidFill>
              <a:srgbClr val="00C2D1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样本构成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49059</c:v>
                </c:pt>
              </c:numCache>
            </c:numRef>
          </c:val>
        </c:ser>
        <c:gapWidth val="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9694.0"/>
          <c:min val="0.0"/>
        </c:scaling>
        <c:delete/>
        <c:axPos val="b"/>
        <c:majorGridlines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solidFill>
              <a:srgbClr val="7FE0E8">
                <a:alpha val="9000"/>
              </a:srgbClr>
            </a:solidFill>
            <a:ln w="25400">
              <a:solidFill>
                <a:srgbClr val="7FE0E8"/>
              </a:solidFill>
            </a:ln>
          </c:spPr>
          <c:marker>
            <c:symbol val="circle"/>
            <c:size val="6"/>
            <c:spPr>
              <a:solidFill>
                <a:srgbClr val="7FE0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solidFill>
              <a:srgbClr val="1A73E8">
                <a:alpha val="9000"/>
              </a:srgbClr>
            </a:solidFill>
            <a:ln w="25400">
              <a:solidFill>
                <a:srgbClr val="1A73E8"/>
              </a:solidFill>
            </a:ln>
          </c:spPr>
          <c:marker>
            <c:symbol val="circle"/>
            <c:size val="6"/>
            <c:spPr>
              <a:solidFill>
                <a:srgbClr val="1A73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0A2540">
                <a:alpha val="9000"/>
              </a:srgbClr>
            </a:solidFill>
            <a:ln w="25400">
              <a:solidFill>
                <a:srgbClr val="0A2540"/>
              </a:solidFill>
            </a:ln>
          </c:spPr>
          <c:marker>
            <c:symbol val="circle"/>
            <c:size val="6"/>
            <c:spPr>
              <a:solidFill>
                <a:srgbClr val="0A2540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A9BB0"/>
                </a:solidFill>
                <a:latin typeface="Noto Sans CJK SC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4.0"/>
          <c:min val="0.0"/>
        </c:scaling>
        <c:delete val="0"/>
        <c:axPos val="l"/>
        <c:majorGridlines>
          <c:spPr>
            <a:ln w="9525">
              <a:solidFill>
                <a:srgbClr val="E5E9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A9BB0"/>
                </a:solidFill>
                <a:latin typeface="Noto Sans CJK SC"/>
              </a:defRPr>
            </a:pPr>
          </a:p>
        </c:txPr>
        <c:crossAx val="2073612648"/>
        <c:crosses val="autoZero"/>
        <c:crossBetween val="between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Noto Sans CJK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solidFill>
              <a:srgbClr val="7FE0E8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700" b="1">
                    <a:solidFill>
                      <a:srgbClr val="0A2540"/>
                    </a:solidFill>
                    <a:latin typeface="Barlow Semi Condense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GMP合规</c:v>
                </c:pt>
                <c:pt idx="1">
                  <c:v>SOP执行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solidFill>
              <a:srgbClr val="1A73E8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700" b="1">
                    <a:solidFill>
                      <a:srgbClr val="FFFFFF"/>
                    </a:solidFill>
                    <a:latin typeface="Barlow Semi Condense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GMP合规</c:v>
                </c:pt>
                <c:pt idx="1">
                  <c:v>SOP执行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0A2540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1700" b="1">
                    <a:solidFill>
                      <a:srgbClr val="FFFFFF"/>
                    </a:solidFill>
                    <a:latin typeface="Barlow Semi Condensed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GMP合规</c:v>
                </c:pt>
                <c:pt idx="1">
                  <c:v>SOP执行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A9BB0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A9BB0"/>
                </a:solidFill>
                <a:latin typeface="Noto Sans CJK SC"/>
              </a:defRPr>
            </a:pPr>
          </a:p>
        </c:txPr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latin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【第1页】基于胜任力模型的先进制造业人才标准框架与体系</a:t>
            </a:r>
          </a:p>
          <a:p>
            <a:r>
              <a:t>建议时长：1分钟</a:t>
            </a:r>
          </a:p>
          <a:p>
            <a:r>
              <a:t>开场问候。今天我们带来一套候选模型，请立白专家用真实岗位验证分类、能力、等级与应用，并指出需要修订之处。</a:t>
            </a:r>
          </a:p>
          <a:p/>
          <a:p>
            <a:r>
              <a:t>来源与口径：</a:t>
            </a:r>
          </a:p>
          <a:p>
            <a:r>
              <a:t>主题、团队、汇报人与日期按用户指定；制造业场景取用户提供模板PDF的独立背景图片。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【第2页】今天请您验证：模型能否解释立白的真实岗位</a:t>
            </a:r>
          </a:p>
          <a:p>
            <a:r>
              <a:t>建议时长：2分钟</a:t>
            </a:r>
          </a:p>
          <a:p>
            <a:r>
              <a:t>今天不是单向介绍。先让专家理解模型，再选熟悉岗位判断，最终留下判断、案例、建议三类记录。请分别评价完整性、边界清晰度、行为可观察性与企业适配性。</a:t>
            </a:r>
          </a:p>
          <a:p/>
          <a:p>
            <a:r>
              <a:t>来源与口径：</a:t>
            </a:r>
          </a:p>
          <a:p>
            <a:r>
              <a:t>用户指定会议目的、六维度验证与三种反馈。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【第3页】四类人才瓶颈，指向同一个问题：能力如何匹配岗位</a:t>
            </a:r>
          </a:p>
          <a:p>
            <a:r>
              <a:t>建议时长：2分钟</a:t>
            </a:r>
          </a:p>
          <a:p>
            <a:r>
              <a:t>四类痛点来自主报告归纳，不预设立白已经存在这些问题。请专家选择最突出的一项，用一个具体岗位讲清“任务变化、人员表现、现有评价依据”。</a:t>
            </a:r>
          </a:p>
          <a:p/>
          <a:p>
            <a:r>
              <a:t>来源与口径：</a:t>
            </a:r>
          </a:p>
          <a:p>
            <a:r>
              <a:t>主报告§1.1、§3.4人才短板；第四类培养对接由主报告培养机制与用户要求整合。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【第4页】模型形成能力要求，标准连接资格、行为与业绩</a:t>
            </a:r>
          </a:p>
          <a:p>
            <a:r>
              <a:t>建议时长：3分钟</a:t>
            </a:r>
          </a:p>
          <a:p>
            <a:r>
              <a:t>先说明模型和人才标准之间的关系。五类按岗位功能识别；在产业背景下选择硬软元能力、人才角色与三层要求，并给单项能力配置1—4级行为。能力素质之外，人才标准还包含资格条件和业绩贡献。图示为依据主报告整合的结构，不表示各分类机械相乘或各类互不重叠。</a:t>
            </a:r>
          </a:p>
          <a:p/>
          <a:p>
            <a:r>
              <a:t>来源与口径：</a:t>
            </a:r>
          </a:p>
          <a:p>
            <a:r>
              <a:t>主报告摘要、§4.4—4.6、§5及§6.2；综合评价采用资格条件、能力素质、业绩贡献。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【第5页】五类人才按工作功能区分，覆盖操作到战略</a:t>
            </a:r>
          </a:p>
          <a:p>
            <a:r>
              <a:t>建议时长：3分钟</a:t>
            </a:r>
          </a:p>
          <a:p>
            <a:r>
              <a:t>五类是岗位主功能标签。一个岗位可能需要多个功能，按主要任务和价值贡献判断主类，跨界能力可以作为复合要求。请专家检验是否有遗漏、边界是否可判断；不把五类解释为五级晋升阶梯。</a:t>
            </a:r>
          </a:p>
          <a:p/>
          <a:p>
            <a:r>
              <a:t>来源与口径：</a:t>
            </a:r>
          </a:p>
          <a:p>
            <a:r>
              <a:t>主报告§1.3.3、§4.2—4.4人才分类；五类名称按用户统一表述。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【第6页】硬、软、元三维能力，分别解释做事、协同与适应</a:t>
            </a:r>
          </a:p>
          <a:p>
            <a:r>
              <a:t>建议时长：3分钟</a:t>
            </a:r>
          </a:p>
          <a:p>
            <a:r>
              <a:t>三维结构以主报告为准。三问作为补充编码方法，在第18页备查。本页示意同一生产异常任务如何同时需要操作能力、协同沟通和迁移学习；这个任务是解释示例，不声称是立白已访谈事实。</a:t>
            </a:r>
          </a:p>
          <a:p/>
          <a:p>
            <a:r>
              <a:t>来源与口径：</a:t>
            </a:r>
          </a:p>
          <a:p>
            <a:r>
              <a:t>主报告§4.3—4.4；补充08三问仅用于归属校验示例。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【第7页】三级描述人才角色，四级描述单项能力行为</a:t>
            </a:r>
          </a:p>
          <a:p>
            <a:r>
              <a:t>建议时长：3分钟</a:t>
            </a:r>
          </a:p>
          <a:p>
            <a:r>
              <a:t>三级人才是基础、骨干、高端。一般分别以1—2、2—3、3—4级能力为主，但具体岗位的各单项能力可以差异配置，不做简单一一对应。主报告设备操作4/3/2与文字递进关系需校核，保留原表，并在第13页提出。</a:t>
            </a:r>
          </a:p>
          <a:p/>
          <a:p>
            <a:r>
              <a:t>来源与口径：</a:t>
            </a:r>
          </a:p>
          <a:p>
            <a:r>
              <a:t>主报告§5.1、§5.2、§5.3；一般行为锚点采用指导、独立、优化、主导，具体行为以各要素评价表为准。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【第8页】三层标准共享基准，产业背景决定差异化要求</a:t>
            </a:r>
          </a:p>
          <a:p>
            <a:r>
              <a:t>建议时长：3分钟</a:t>
            </a:r>
          </a:p>
          <a:p>
            <a:r>
              <a:t>三层回答标准的适用广度：通用、类型共性（产业背景）、岗位专有。新旧产业是一种技术内核分析，不是先进或落后的排名，同一企业可以有不同岗位技术背景。请立白专家按核心工艺与业务任务判断，不将GMP等行业限定要素套用于所有岗位。</a:t>
            </a:r>
          </a:p>
          <a:p/>
          <a:p>
            <a:r>
              <a:t>来源与口径：</a:t>
            </a:r>
          </a:p>
          <a:p>
            <a:r>
              <a:t>主报告§2.2.3、§4.6、§5标准框架；三层正式名称为通用要素层、类型共性层、岗位专有层。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【第9页】339,694条招聘信息，为能力提取提供市场证据</a:t>
            </a:r>
          </a:p>
          <a:p>
            <a:r>
              <a:t>建议时长：2分钟</a:t>
            </a:r>
          </a:p>
          <a:p>
            <a:r>
              <a:t>样本为2025年公开招聘信息，新型290635、旧型49059；展示的是样本构成，不解释为产业规模或绩效效度。五种方法的作用分别是理论、关键行为、专家共识、产业差异与市场能力表达。今天的企业案例继续检验适用性。</a:t>
            </a:r>
          </a:p>
          <a:p/>
          <a:p>
            <a:r>
              <a:t>来源与口径：</a:t>
            </a:r>
          </a:p>
          <a:p>
            <a:r>
              <a:t>核心来源：《202602优化版本-先进制造业人才标准项目报告0201》§4.2.1；《智造人才画像》仅作佐证。2025年公开招聘文本：总计339,694，新型290,635，旧型49,059。招聘表达不等同于实际录用、岗位绩效或因果验证。 主报告§2.4五种方法。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【第10页】双人编码与分歧裁定，让方法可追溯、可复核</a:t>
            </a:r>
          </a:p>
          <a:p>
            <a:r>
              <a:t>建议时长：3分钟</a:t>
            </a:r>
          </a:p>
          <a:p>
            <a:r>
              <a:t>本页所有统计属于补充Excel的编码方法示例。1117440是12416条×90项的编码单元，不是招聘总样本。Kappa扣除随机一致性，反映编码者一致程度；不能证明分类完整、行为有效或立白岗位适配。详细实际交叉表与裁定结果见补充07与10。</a:t>
            </a:r>
          </a:p>
          <a:p/>
          <a:p>
            <a:r>
              <a:t>来源与口径：</a:t>
            </a:r>
          </a:p>
          <a:p>
            <a:r>
              <a:t>补充附件仅为编码示例，不能替代《202602优化版本项目报告0201》的正式研究结论。示例来源07_总体Kappa、第三人裁定与最终编码及10_分歧清单第三人裁判结果：N=12,416×90=1,117,440，A命中11,473，B命中12,551，交集10,824；Po=0.9978737113、Pe=0.9787315003、Kappa=0.9000263916（显示0.900）；分歧2,376，裁定命中553，最终命中11,377。示例工作簿说明页标注模拟研究，用户已明确补充附件用于编码示例。展示表内核验结果用于讲解流程，不声称正式样本完成这些编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【第11页】要素收敛与范围分层，回答两个不同问题</a:t>
            </a:r>
          </a:p>
          <a:p>
            <a:r>
              <a:t>建议时长：3分钟</a:t>
            </a:r>
          </a:p>
          <a:p>
            <a:r>
              <a:t>90初始、剔除17、保留73为补充09；22通用48产业20岗位共90为补充12初始候选池分层，不等于73正式框架的分布。90行通过单调性是示例矩阵赋值结果；不声称主报告全部通过。低频阈值小于5、每类每维至多3等规则请专家判断是否合理。</a:t>
            </a:r>
          </a:p>
          <a:p/>
          <a:p>
            <a:r>
              <a:t>来源与口径：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【第12页】模型是否有价值，要看能否补充立白现有实践</a:t>
            </a:r>
          </a:p>
          <a:p>
            <a:r>
              <a:t>建议时长：3分钟</a:t>
            </a:r>
          </a:p>
          <a:p>
            <a:r>
              <a:t>先请专家说明企业已有方法，再比较模型能提供什么。现有问题列是讨论提示，不断言企业存在这些局限。验证每个拟升级方向是否必要、可操作、可与现有制度衔接。尤其资格、能力、业绩的三部分应一并讨论。</a:t>
            </a:r>
          </a:p>
          <a:p/>
          <a:p>
            <a:r>
              <a:t>来源与口径：</a:t>
            </a:r>
          </a:p>
          <a:p>
            <a:r>
              <a:t>主报告§4—6框架与实施机制；企业现有制度待专家核实。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【第13页】智能制造操作能力，从基础应用走向独立主导</a:t>
            </a:r>
          </a:p>
          <a:p>
            <a:r>
              <a:t>建议时长：2分钟</a:t>
            </a:r>
          </a:p>
          <a:p>
            <a:r>
              <a:t>左侧逐条保留主报告行为原文，备注也保留完整证据。请判断描述能否现场观察、评价，哪些表述需按立白实际任务修订。</a:t>
            </a:r>
          </a:p>
          <a:p>
            <a:r>
              <a:t>雷达图按主报告新型操作矩阵：基础4/4/3、骨干3/4/4、高端2/3/3。设备操作4/3/2保留原值，不擅改为递增；请解释角色分工与行为递进的关系。</a:t>
            </a:r>
          </a:p>
          <a:p/>
          <a:p>
            <a:r>
              <a:t>逐条证据：</a:t>
            </a:r>
          </a:p>
          <a:p>
            <a:r>
              <a:t>智能化设备操作能力</a:t>
            </a:r>
          </a:p>
          <a:p>
            <a:r>
              <a:t>等级1｜原文：能操作基础智能化生产设备，完成简单加工任务</a:t>
            </a:r>
          </a:p>
          <a:p>
            <a:r>
              <a:t>等级2｜原文：可熟练操作核心生产设备，精准控制生产参数</a:t>
            </a:r>
          </a:p>
          <a:p>
            <a:r>
              <a:t>等级3｜原文：能优化设备运行参数，提升生产精度与效率</a:t>
            </a:r>
          </a:p>
          <a:p>
            <a:r>
              <a:t>等级4｜原文：可主导设备智能化升级后的操作适配，培训团队操作</a:t>
            </a:r>
          </a:p>
          <a:p/>
          <a:p>
            <a:r>
              <a:t>ERP生产模块操作能力</a:t>
            </a:r>
          </a:p>
          <a:p>
            <a:r>
              <a:t>等级1｜原文：能使用ERP生产模块录入生产数据，查询订单进度</a:t>
            </a:r>
          </a:p>
          <a:p>
            <a:r>
              <a:t>等级2｜原文：可独立通过ERP下达生产计划，跟踪物料需求</a:t>
            </a:r>
          </a:p>
          <a:p>
            <a:r>
              <a:t>等级3｜原文：能通过ERP分析生产瓶颈，调整生产调度</a:t>
            </a:r>
          </a:p>
          <a:p>
            <a:r>
              <a:t>等级4｜原文：可主导ERP生产模块与设备数据联动，实现数字化生产</a:t>
            </a:r>
          </a:p>
          <a:p/>
          <a:p>
            <a:r>
              <a:t>CAD图纸解读能力</a:t>
            </a:r>
          </a:p>
          <a:p>
            <a:r>
              <a:t>等级1｜原文：能识别简单零件图纸，理解基础加工要求</a:t>
            </a:r>
          </a:p>
          <a:p>
            <a:r>
              <a:t>等级2｜原文：可解读复杂装配图纸，明确关键加工节点</a:t>
            </a:r>
          </a:p>
          <a:p>
            <a:r>
              <a:t>等级3｜原文：能根据图纸优化加工路径，提升加工效率</a:t>
            </a:r>
          </a:p>
          <a:p>
            <a:r>
              <a:t>等级4｜原文：可结合图纸与设备特性，提出工艺优化建议</a:t>
            </a:r>
          </a:p>
          <a:p/>
          <a:p>
            <a:r>
              <a:t>来源与口径：</a:t>
            </a:r>
          </a:p>
          <a:p>
            <a:r>
              <a:t>主报告行为评价表（Word table index 32）及胜任力配置矩阵；行为原文逐项保留。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【第14页】旧型产业能力，更强调合规、流程与经验传承</a:t>
            </a:r>
          </a:p>
          <a:p>
            <a:r>
              <a:t>建议时长：2分钟</a:t>
            </a:r>
          </a:p>
          <a:p>
            <a:r>
              <a:t>左侧逐条保留主报告行为原文，备注也保留完整证据。请判断描述能否现场观察、评价，哪些表述需按立白实际任务修订。</a:t>
            </a:r>
          </a:p>
          <a:p>
            <a:r>
              <a:t>GMP和SOP的基础/骨干/高端原表配置均为1/2/4。经验积累在主报告没有三级配置值，不补0。GMP适用范围须由立白具体业务确认。本页以两维分组柱状图替代缺轴雷达，保证缺失值不被误解为曲线。</a:t>
            </a:r>
          </a:p>
          <a:p/>
          <a:p>
            <a:r>
              <a:t>逐条证据：</a:t>
            </a:r>
          </a:p>
          <a:p>
            <a:r>
              <a:t>GMP合规能力</a:t>
            </a:r>
          </a:p>
          <a:p>
            <a:r>
              <a:t>等级1｜原文：能了解GMP基础条款，遵守简单合规要求</a:t>
            </a:r>
          </a:p>
          <a:p>
            <a:r>
              <a:t>等级2｜原文：可熟练掌握GMP核心条款，规范执行操作流程</a:t>
            </a:r>
          </a:p>
          <a:p>
            <a:r>
              <a:t>等级3｜原文：能检查操作中的GMP合规性，纠正违规行为</a:t>
            </a:r>
          </a:p>
          <a:p>
            <a:r>
              <a:t>等级4｜原文：可主导企业GMP体系优化，通过合规审核并降低风险</a:t>
            </a:r>
          </a:p>
          <a:p/>
          <a:p>
            <a:r>
              <a:t>SOP执行能力</a:t>
            </a:r>
          </a:p>
          <a:p>
            <a:r>
              <a:t>等级1｜原文：能阅读SOP文档，按指导完成基础操作</a:t>
            </a:r>
          </a:p>
          <a:p>
            <a:r>
              <a:t>等级2｜原文：可独立严格执行SOP流程，记录操作过程</a:t>
            </a:r>
          </a:p>
          <a:p>
            <a:r>
              <a:t>等级3｜原文：能发现SOP中的优化点，提出修订建议</a:t>
            </a:r>
          </a:p>
          <a:p>
            <a:r>
              <a:t>等级4｜原文：可主导SOP体系修订与培训，推动全员规范执行</a:t>
            </a:r>
          </a:p>
          <a:p/>
          <a:p>
            <a:r>
              <a:t>经验积累能力</a:t>
            </a:r>
          </a:p>
          <a:p>
            <a:r>
              <a:t>等级1｜原文：能记录基础操作经验，总结简单操作规律</a:t>
            </a:r>
          </a:p>
          <a:p>
            <a:r>
              <a:t>等级2｜原文：可整理个人操作经验，形成基础操作笔记</a:t>
            </a:r>
          </a:p>
          <a:p>
            <a:r>
              <a:t>等级3｜原文：能提炼班组共性经验，形成标准化操作建议</a:t>
            </a:r>
          </a:p>
          <a:p>
            <a:r>
              <a:t>等级4｜原文：可构建企业级操作经验库，指导全员提升技能</a:t>
            </a:r>
          </a:p>
          <a:p/>
          <a:p>
            <a:r>
              <a:t>来源与口径：</a:t>
            </a:r>
          </a:p>
          <a:p>
            <a:r>
              <a:t>主报告行为评价表（Word table index 38）及胜任力配置矩阵；行为原文逐项保留。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【第15页】选择一个真实岗位，把模型从头检验一遍</a:t>
            </a:r>
          </a:p>
          <a:p>
            <a:r>
              <a:t>建议时长：3分钟</a:t>
            </a:r>
          </a:p>
          <a:p>
            <a:r>
              <a:t>请选择最熟悉岗位。先描述关键任务，再检查人才主功能、产业背景、硬软元要求、人才角色、三层组合与行为证据。六种验证方法分别是现场评分、案例佐证、等级校准、岗位对照、边界检验、修改建议。意见尽量指向一个条目、一种情境和一个证据。</a:t>
            </a:r>
          </a:p>
          <a:p/>
          <a:p>
            <a:r>
              <a:t>来源与口径：</a:t>
            </a:r>
          </a:p>
          <a:p>
            <a:r>
              <a:t>用户指定六维度与六方法；应用程序为会议验证设计，不声称已完成立白调研。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【第16页】请独立评分，具体建议将直接指向模型修订</a:t>
            </a:r>
          </a:p>
          <a:p>
            <a:r>
              <a:t>建议时长：15分钟评分</a:t>
            </a:r>
          </a:p>
          <a:p>
            <a:r>
              <a:t>独立填写15分钟，记录熟悉岗位。1不成立、2大幅修改、3基本成立、4较适用、5高度适用，不适用或不熟悉写N/A且不计入均值。缺失项高分表示覆盖较充分、遗漏较少；避免反向评分混淆。建议记录对应条目、岗位任务与证据。</a:t>
            </a:r>
          </a:p>
          <a:p/>
          <a:p>
            <a:r>
              <a:t>来源与口径：</a:t>
            </a:r>
          </a:p>
          <a:p>
            <a:r>
              <a:t>用户六维度评分；评分含义为会议收集方法，不是单项能力1—4级行为。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【第17页】修订模型后，用同一标准连接人才培养、评价与配置</a:t>
            </a:r>
          </a:p>
          <a:p>
            <a:r>
              <a:t>建议时长：3分钟</a:t>
            </a:r>
          </a:p>
          <a:p>
            <a:r>
              <a:t>拟定反馈机制：现场记录、3工作日汇总、团队研判、10工作日反馈、待议复核。采纳、部分采纳、待议、不采纳均附理由。经过修订的岗位标准用于培养、评价、激励与人才配置，形成标准更新闭环；这些是应用方向，不声称立白已采用。</a:t>
            </a:r>
          </a:p>
          <a:p/>
          <a:p>
            <a:r>
              <a:t>来源与口径：</a:t>
            </a:r>
          </a:p>
          <a:p>
            <a:r>
              <a:t>主报告§6落地机制与§7标准体系；反馈期限按用户拟定安排。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【第18页】专家追问时，按归属规则、分级证据与要素清单展开</a:t>
            </a:r>
          </a:p>
          <a:p>
            <a:r>
              <a:t>建议时长：按需展开</a:t>
            </a:r>
          </a:p>
          <a:p>
            <a:r>
              <a:t>三问：成果直接验证→硬；人与人协同→软；跨任务跨情境迁移→元。多问为是时问3&gt;问2&gt;问1。与种子词典不一致的条目暂按词典、提请复核。</a:t>
            </a:r>
          </a:p>
          <a:p>
            <a:r>
              <a:t>新-跨界-02｜新｜跨界复合人才｜跨域项目管理能力｜是｜是｜是｜元技能｜硬技能｜不一致｜硬技能｜⚠ 与种子词典"硬技能"不一致：跨域项目管理须与他人协商协同（问2=是）且需跨情境判断（问3=是），三问判定为元技能，建议团队复核。</a:t>
            </a:r>
          </a:p>
          <a:p>
            <a:r>
              <a:t>旧-战略-03｜旧｜战略引领人才｜团队管理能力｜否｜是｜否｜软技能｜硬技能｜不一致｜硬技能｜⚠ 与种子词典"硬技能"不一致：团队管理须与他人互动（问2=是），三问判定为软技能；且同名要素"旧-数字-05 团队管理能力"在词典中即为软技能，建议统一。</a:t>
            </a:r>
          </a:p>
          <a:p/>
          <a:p>
            <a:r>
              <a:t>三维三层级矩阵（补充附件示例）：</a:t>
            </a:r>
          </a:p>
          <a:p>
            <a:r>
              <a:t>新-智能-01 智能化设备操作能力｜硬技能｜基础/骨干/高端=3/4/4｜E06792：主导隔膜陶瓷涂覆、PVDF 涂覆等涂覆工艺配套自动化产线的设备调试、问题排查，解决项目现场技术异常；</a:t>
            </a:r>
          </a:p>
          <a:p>
            <a:r>
              <a:t>新-智能-05 班组协作能力｜软技能｜基础/骨干/高端=2/3/4｜E03814：与软件、硬件、测试团队协作，推动算法能力落地</a:t>
            </a:r>
          </a:p>
          <a:p>
            <a:r>
              <a:t>新-智能-08 实操学习能力｜元技能｜基础/骨干/高端=2/3/4｜E00227：行业迭代学习：主动学习香氛行业新原料、新包材、新工艺及行业新规、市场新趋势，快速吸收专业知识并落地应用，适配产品快速迭代需求，助力产品优化创新。</a:t>
            </a:r>
          </a:p>
          <a:p>
            <a:r>
              <a:t>旧-智能-01 Excel操作能力｜硬技能｜基础/骨干/高端=1/1/2｜—：—</a:t>
            </a:r>
          </a:p>
          <a:p>
            <a:r>
              <a:t>旧-智能-04 SOP执行能力｜软技能｜基础/骨干/高端=2/3/4｜E05019：编制材料测试SOP,优化实验流程测试周期缩短20%</a:t>
            </a:r>
          </a:p>
          <a:p>
            <a:r>
              <a:t>旧-智能-09 组织协调能力｜元技能｜基础/骨干/高端=3/4/4｜E05285：制定项目规划，分派项目任务，及时跟催进度，协调解决项目异常,完善建立项目资料；</a:t>
            </a:r>
          </a:p>
          <a:p/>
          <a:p>
            <a:r>
              <a:t>三层完整清单：</a:t>
            </a:r>
          </a:p>
          <a:p>
            <a:r>
              <a:t>圆心·通用层（22项）</a:t>
            </a:r>
          </a:p>
          <a:p>
            <a:r>
              <a:t>定义：命中该要素的条目覆盖 ≥4 个人才类别（跨岗位通用）</a:t>
            </a:r>
          </a:p>
          <a:p>
            <a:r>
              <a:t>新-智能-05 班组协作能力(覆盖4类)；新-技术-02 CAD三维建模与仿真能力(覆盖4类)；新-技术-04 技术方案落地能力(覆盖5类)；新-技术-05 研发项目推进能力(覆盖4类)；新-技术-07 技术创新能力(覆盖5类)；新-数字-05 跨部门数字化协同能力(覆盖4类)；新-数字-06 数字化需求挖掘能力(覆盖4类)；新-跨界-02 跨域项目管理能力(覆盖4类)；新-跨界-07 跨域问题协调能力(覆盖5类)；旧-智能-06 团队协作能力(覆盖5类)；旧-智能-08 沟通表达能力(覆盖5类)；旧-智能-09 组织协调能力(覆盖5类)；旧-技术-06 项目管理能力(覆盖4类)；旧-技术-07 方案设计能力(覆盖5类)；旧-技术-08 分析能力(覆盖5类)；旧-技术-09 设计能力(覆盖5类)；旧-数字-09 统筹规划能力(覆盖5类)；旧-跨界-05 项目管理能力(覆盖4类)；旧-跨界-09 统筹规划能力(覆盖5类)；旧-战略-04 项目管理能力(覆盖4类)；旧-战略-05 部门协作能力(覆盖4类)；旧-战略-07 组织协调能力(覆盖5类)</a:t>
            </a:r>
          </a:p>
          <a:p/>
          <a:p>
            <a:r>
              <a:t>中间·产业背景层（48项）</a:t>
            </a:r>
          </a:p>
          <a:p>
            <a:r>
              <a:t>定义：命中该要素的条目覆盖 2—3 个人才类别</a:t>
            </a:r>
          </a:p>
          <a:p>
            <a:r>
              <a:t>新-智能-01 智能化设备操作能力(覆盖2类)；新-智能-02 ERP生产模块操作能力(覆盖3类)；新-智能-03 CAD图纸解读能力(覆盖3类)；新-智能-04 生产数据复盘能力(覆盖2类)；新-智能-06 现场沟通能力(覆盖2类)；新-智能-07 设备适配能力(覆盖3类)；新-智能-08 实操学习能力(覆盖3类)；新-智能-09 现场应变能力(覆盖3类)；新-技术-01 Python研发数据分析能力(覆盖3类)；新-技术-06 技术沟通能力(覆盖3类)；新-技术-08 复杂问题拆解能力(覆盖2类)；新-技术-09 技术沉淀能力(覆盖2类)；新-数字-01 Excel高级数据建模能力(覆盖3类)；新-数字-03 数字化报表制作能力(覆盖3类)；新-数字-07 数字化统筹能力(覆盖2类)；新-数字-08 数据决策能力(覆盖3类)；新-跨界-04 跨域项目统筹能力(覆盖2类)；新-跨界-05 跨域沟通适配能力(覆盖3类)；新-跨界-09 跨域认知能力(覆盖2类)；新-战略-07 战略落地推动能力(覆盖3类)；新-战略-09 战略洞察能力(覆盖3类)；旧-智能-01 Excel操作能力(覆盖3类)；旧-智能-02 GMP合规能力(覆盖2类)；旧-智能-03 Office综合应用能力(覆盖3类)；旧-智能-04 SOP执行能力(覆盖3类)；旧-智能-07 知识培训能力(覆盖3类)；旧-技术-01 CAD设计能力(覆盖2类)；旧-技术-02 PLC编程能力(覆盖2类)；旧-技术-03 SolidWorks建模能力(覆盖2类)；旧-技术-04 GMP技术应用能力(覆盖2类)；旧-技术-05 技术支持能力(覆盖2类)；旧-数字-01 GMP管理能力(覆盖2类)；旧-数字-02 ERP操作能力(覆盖3类)；旧-数字-03 Excel数据分析能力(覆盖3类)；旧-数字-04 SOP管理能力(覆盖3类)；旧-数字-05 团队管理能力(覆盖3类)；旧-数字-07 市场调研能力(覆盖3类)；旧-数字-08 管理能力(覆盖3类)；旧-跨界-01 数控机床操作能力(覆盖2类)；旧-跨界-04 SOP执行能力(覆盖3类)；旧-跨界-06 市场推广能力(覆盖2类)；旧-跨界-08 管理能力(覆盖3类)；旧-战略-01 GMP战略管理能力(覆盖2类)；旧-战略-02 SOP体系建设能力(覆盖3类)；旧-战略-03 团队管理能力(覆盖3类)；旧-战略-06 领导力(覆盖3类)；旧-战略-08 开拓能力(覆盖2类)；旧-战略-09 问题解决能力(覆盖3类)</a:t>
            </a:r>
          </a:p>
          <a:p/>
          <a:p>
            <a:r>
              <a:t>外层·岗位专有层（20项）</a:t>
            </a:r>
          </a:p>
          <a:p>
            <a:r>
              <a:t>定义：命中该要素的条目仅覆盖 0—1 个人才类别</a:t>
            </a:r>
          </a:p>
          <a:p>
            <a:r>
              <a:t>新-技术-03 Linux研发环境搭建能力(覆盖1类)；新-数字-02 ERP系统深度应用能力(覆盖0类)；新-数字-04 数字化团队管理能力(覆盖0类)；新-数字-09 数字化工具推广能力(覆盖1类)；新-跨界-01 跨域视觉设计能力(覆盖0类)；新-跨界-03 Python跨域数据整合能力(覆盖0类)；新-跨界-06 跨域价值挖掘能力(覆盖0类)；新-跨界-08 资源整合能力(覆盖1类)；新-战略-01 机器人技术战略应用能力(覆盖1类)；新-战略-02 ERP系统战略优化能力(覆盖0类)；新-战略-03 数字化战略落地能力(覆盖0类)；新-战略-04 高层团队引领能力(覆盖0类)；新-战略-05 跨企业战略协同能力(覆盖0类)；新-战略-06 战略风险管控能力(覆盖0类)；新-战略-08 资源布局能力(覆盖0类)；旧-智能-05 学术推广能力(覆盖0类)；旧-数字-06 销售管理能力(覆盖0类)；旧-跨界-02 GCP合规能力(覆盖0类)；旧-跨界-03 PMP项目管理能力(覆盖1类)；旧-跨界-07 客户开发能力(覆盖1类)</a:t>
            </a:r>
          </a:p>
          <a:p/>
          <a:p>
            <a:r>
              <a:t>来源与口径：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Relationship Id="rId4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Relationship Id="rId4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6750"/>
            <a:ext cx="18288000" cy="9620250"/>
          </a:xfrm>
          <a:gradFill>
            <a:gsLst>
              <a:gs pos="0">
                <a:srgbClr val="0A2540"/>
              </a:gs>
              <a:gs pos="100000">
                <a:srgbClr val="153D60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0B27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D1E3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3374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31516E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01</a:t>
            </a:r>
          </a:p>
        </p:txBody>
      </p:sp>
      <p:pic>
        <p:nvPicPr>
          <p:cNvPr id="13" name="Picture 12" descr="manufacturing-cov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6750"/>
            <a:ext cx="18288000" cy="86677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6750"/>
            <a:ext cx="10572750" cy="8667750"/>
          </a:xfrm>
          <a:prstGeom prst="rect">
            <a:avLst/>
          </a:prstGeom>
          <a:solidFill>
            <a:srgbClr val="0A2540">
              <a:alpha val="6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500" y="1504950"/>
            <a:ext cx="3238500" cy="438150"/>
          </a:xfrm>
          <a:prstGeom prst="roundRect">
            <a:avLst>
              <a:gd name="adj" fmla="val 17391"/>
            </a:avLst>
          </a:prstGeom>
          <a:solidFill>
            <a:srgbClr val="1B4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1524000"/>
            <a:ext cx="30861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FE0E8"/>
                </a:solidFill>
                <a:latin typeface="Noto Sans CJK SC"/>
                <a:ea typeface="Noto Sans CJK SC"/>
              </a:rPr>
              <a:t>企业专家验证  /  调研座谈会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2905125"/>
            <a:ext cx="100012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6D9EC"/>
                </a:solidFill>
                <a:latin typeface="Noto Sans CJK SC"/>
                <a:ea typeface="Noto Sans CJK SC"/>
              </a:rPr>
              <a:t>基于胜任力模型的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029075"/>
            <a:ext cx="102870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先进制造业人才标准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5276850"/>
            <a:ext cx="9906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框架与体系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500" y="6629400"/>
            <a:ext cx="885825" cy="47625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500" y="7096125"/>
            <a:ext cx="9906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FE0E8"/>
                </a:solidFill>
                <a:latin typeface="Noto Sans CJK SC"/>
                <a:ea typeface="Noto Sans CJK SC"/>
              </a:rPr>
              <a:t>立白科技调研座谈会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8486775"/>
            <a:ext cx="128587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广东工业大学管理学院  |  粤来粤好队  |  罗琳  |  2026年10月09日</a:t>
            </a:r>
          </a:p>
        </p:txBody>
      </p:sp>
      <p:sp>
        <p:nvSpPr>
          <p:cNvPr id="23" name="Oval 22"/>
          <p:cNvSpPr/>
          <p:nvPr/>
        </p:nvSpPr>
        <p:spPr>
          <a:xfrm>
            <a:off x="15582900" y="8296274"/>
            <a:ext cx="781050" cy="7810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exec-7ea0c041-660a-4e39-951e-eb2d527afb9f.png"/>
          <p:cNvPicPr>
            <a:picLocks noChangeAspect="1"/>
          </p:cNvPicPr>
          <p:nvPr/>
        </p:nvPicPr>
        <p:blipFill>
          <a:blip r:embed="rId4"/>
          <a:srcRect l="55000" r="8300" t="3400" b="3800"/>
          <a:stretch>
            <a:fillRect/>
          </a:stretch>
        </p:blipFill>
        <p:spPr>
          <a:xfrm>
            <a:off x="15620999" y="8334375"/>
            <a:ext cx="704850" cy="70485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535399" y="8296274"/>
            <a:ext cx="781050" cy="7810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exec-7ea0c041-660a-4e39-951e-eb2d527afb9f.png"/>
          <p:cNvPicPr>
            <a:picLocks noChangeAspect="1"/>
          </p:cNvPicPr>
          <p:nvPr/>
        </p:nvPicPr>
        <p:blipFill>
          <a:blip r:embed="rId4"/>
          <a:srcRect l="8800" r="54500" t="3400" b="3800"/>
          <a:stretch>
            <a:fillRect/>
          </a:stretch>
        </p:blipFill>
        <p:spPr>
          <a:xfrm>
            <a:off x="16573500" y="8334375"/>
            <a:ext cx="704850" cy="70485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500"/>
                      <p:tgtEl>
                        <p:spTgt spid="4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500"/>
                      <p:tgtEl>
                        <p:spTgt spid="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500"/>
                      <p:tgtEl>
                        <p:spTgt spid="7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500"/>
                      <p:tgtEl>
                        <p:spTgt spid="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3374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02  /  项目背景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今天请您验证：模型能否解释立白的真实岗位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02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171825"/>
            <a:ext cx="5181600" cy="3171825"/>
          </a:xfrm>
          <a:prstGeom prst="roundRect">
            <a:avLst>
              <a:gd name="adj" fmla="val 480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8250" y="3381375"/>
            <a:ext cx="952500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19" name="Oval 18"/>
          <p:cNvSpPr/>
          <p:nvPr/>
        </p:nvSpPr>
        <p:spPr>
          <a:xfrm>
            <a:off x="5257800" y="35718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00675" y="3667125"/>
            <a:ext cx="1428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5543550" y="3667125"/>
            <a:ext cx="47625" cy="476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5591175" y="3714750"/>
            <a:ext cx="0" cy="21907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H="1">
            <a:off x="5400675" y="3933824"/>
            <a:ext cx="1905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5400675" y="3667125"/>
            <a:ext cx="0" cy="266699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5543550" y="3667125"/>
            <a:ext cx="0" cy="476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543550" y="3714750"/>
            <a:ext cx="4762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5438775" y="3771900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5438775" y="3829050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5438775" y="3886200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238250" y="4438650"/>
            <a:ext cx="452437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理解模型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50" y="5353050"/>
            <a:ext cx="4543425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分类依据 · 结构关系 · 证据来源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3200" y="3171825"/>
            <a:ext cx="5181600" cy="3171825"/>
          </a:xfrm>
          <a:prstGeom prst="roundRect">
            <a:avLst>
              <a:gd name="adj" fmla="val 480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8950" y="3381375"/>
            <a:ext cx="952500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34" name="Oval 33"/>
          <p:cNvSpPr/>
          <p:nvPr/>
        </p:nvSpPr>
        <p:spPr>
          <a:xfrm>
            <a:off x="10858500" y="35718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53750" y="3667125"/>
            <a:ext cx="266700" cy="2667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020425" y="3733799"/>
            <a:ext cx="133350" cy="13335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1087100" y="3667125"/>
            <a:ext cx="133350" cy="13335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6838950" y="4438650"/>
            <a:ext cx="452437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检验岗位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8950" y="5353050"/>
            <a:ext cx="4543425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真实任务 · 能力要求 · 行为等级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153900" y="3171825"/>
            <a:ext cx="5181600" cy="3171825"/>
          </a:xfrm>
          <a:prstGeom prst="roundRect">
            <a:avLst>
              <a:gd name="adj" fmla="val 480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439650" y="3381375"/>
            <a:ext cx="952500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42" name="Oval 41"/>
          <p:cNvSpPr/>
          <p:nvPr/>
        </p:nvSpPr>
        <p:spPr>
          <a:xfrm>
            <a:off x="16459200" y="35718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554450" y="3667125"/>
            <a:ext cx="266700" cy="2667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6611600" y="3800475"/>
            <a:ext cx="57150" cy="5715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6668750" y="3743325"/>
            <a:ext cx="104775" cy="1143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12439650" y="4438650"/>
            <a:ext cx="452437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形成修订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39650" y="5353050"/>
            <a:ext cx="4543425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现场评分 · 案例佐证 · 修改建议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500" y="7029450"/>
            <a:ext cx="1638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2540"/>
                </a:solidFill>
                <a:latin typeface="Noto Sans CJK SC"/>
                <a:ea typeface="Noto Sans CJK SC"/>
              </a:rPr>
              <a:t>一项判断  +  一个案例  +  一条建议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2500" y="820102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" y="822007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分类  1—5分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52850" y="820102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29050" y="822007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能力  1—5分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53200" y="820102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822007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分级  1—5分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53550" y="820102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29750" y="822007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产业差异  1—5分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153900" y="820102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30100" y="822007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总图  1—5分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954250" y="820102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030450" y="822007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缺失项  1—5分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1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3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8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3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39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3374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03  /  项目背景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四类人才瓶颈，指向同一个问题：能力如何匹配岗位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03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048000"/>
            <a:ext cx="5048250" cy="4905375"/>
          </a:xfrm>
          <a:prstGeom prst="roundRect">
            <a:avLst>
              <a:gd name="adj" fmla="val 3106"/>
            </a:avLst>
          </a:prstGeom>
          <a:solidFill>
            <a:srgbClr val="1A73E8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5400" y="3381375"/>
            <a:ext cx="43624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技术与岗位持续升级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552950"/>
            <a:ext cx="4362450" cy="1685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从“岗位有人”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走向“能力匹配”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6924675"/>
            <a:ext cx="4362450" cy="638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需要可以观察、评价和培养的标准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2250" y="3048000"/>
            <a:ext cx="5267325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38950" y="3314700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10400" y="3409950"/>
            <a:ext cx="114300" cy="1143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6953250" y="3629025"/>
            <a:ext cx="0" cy="47624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6953250" y="3581400"/>
            <a:ext cx="57150" cy="476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7010400" y="3581400"/>
            <a:ext cx="114300" cy="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7124700" y="3581400"/>
            <a:ext cx="57150" cy="476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181850" y="3629025"/>
            <a:ext cx="0" cy="47624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7448550" y="3324225"/>
            <a:ext cx="40576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关键人才不足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8950" y="4248150"/>
            <a:ext cx="4714875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技术攻关与领军人才供给不足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68175" y="3048000"/>
            <a:ext cx="5267325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334875" y="3314700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2439650" y="3657600"/>
            <a:ext cx="247650" cy="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2439650" y="3419475"/>
            <a:ext cx="0" cy="2381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12496800" y="3562350"/>
            <a:ext cx="0" cy="7620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2573000" y="3495675"/>
            <a:ext cx="0" cy="14287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12649200" y="3438525"/>
            <a:ext cx="0" cy="2000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12944475" y="3324225"/>
            <a:ext cx="40576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能力结构错配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34875" y="4248150"/>
            <a:ext cx="4714875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数字能力与工艺任务衔接不足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72250" y="5629275"/>
            <a:ext cx="5267325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38950" y="58959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4200" y="5991225"/>
            <a:ext cx="266700" cy="2667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00875" y="6057900"/>
            <a:ext cx="133350" cy="13335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7067550" y="5991225"/>
            <a:ext cx="133350" cy="13335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7448550" y="5905500"/>
            <a:ext cx="40576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评价依据不足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8950" y="6829425"/>
            <a:ext cx="4714875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资历标签难以解释实际表现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068175" y="5629275"/>
            <a:ext cx="5267325" cy="23241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334875" y="58959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420600" y="6086475"/>
            <a:ext cx="76200" cy="762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630150" y="6086475"/>
            <a:ext cx="76200" cy="762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2496800" y="6124575"/>
            <a:ext cx="133350" cy="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12582525" y="6086475"/>
            <a:ext cx="47625" cy="3810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12582525" y="6124575"/>
            <a:ext cx="47625" cy="3810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12944475" y="5905500"/>
            <a:ext cx="40576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培养对接不足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34875" y="6829425"/>
            <a:ext cx="4714875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课程、训练与上岗要求存在断层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请立白专家先选出最突出的瓶颈，再带入后续岗位验证。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3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38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3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39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6750"/>
            <a:ext cx="18288000" cy="9620250"/>
          </a:xfrm>
          <a:gradFill>
            <a:gsLst>
              <a:gs pos="0">
                <a:srgbClr val="0A2540"/>
              </a:gs>
              <a:gs pos="100000">
                <a:srgbClr val="153D60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0B27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D1E3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393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C2D1"/>
                </a:solidFill>
                <a:latin typeface="Noto Sans CJK SC"/>
                <a:ea typeface="Noto Sans CJK SC"/>
              </a:rPr>
              <a:t>04  /  模型介绍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</a:rPr>
              <a:t>模型形成能力要求，标准连接资格、行为与业绩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31516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04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2905125"/>
            <a:ext cx="1524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E0E8"/>
                </a:solidFill>
                <a:latin typeface="Noto Sans CJK SC"/>
                <a:ea typeface="Noto Sans CJK SC"/>
              </a:rPr>
              <a:t>岗位功能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0825" y="2905125"/>
            <a:ext cx="2743200" cy="542925"/>
          </a:xfrm>
          <a:prstGeom prst="roundRect">
            <a:avLst>
              <a:gd name="adj" fmla="val 14035"/>
            </a:avLst>
          </a:prstGeom>
          <a:solidFill>
            <a:srgbClr val="1D47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7025" y="2924175"/>
            <a:ext cx="25908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智能制造操作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525" y="2905125"/>
            <a:ext cx="2743200" cy="542925"/>
          </a:xfrm>
          <a:prstGeom prst="roundRect">
            <a:avLst>
              <a:gd name="adj" fmla="val 14035"/>
            </a:avLst>
          </a:prstGeom>
          <a:solidFill>
            <a:srgbClr val="1D47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0725" y="2924175"/>
            <a:ext cx="25908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58225" y="2905125"/>
            <a:ext cx="2743200" cy="542925"/>
          </a:xfrm>
          <a:prstGeom prst="roundRect">
            <a:avLst>
              <a:gd name="adj" fmla="val 14035"/>
            </a:avLst>
          </a:prstGeom>
          <a:solidFill>
            <a:srgbClr val="1D47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4425" y="2924175"/>
            <a:ext cx="25908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数字化管理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591925" y="2905125"/>
            <a:ext cx="2743200" cy="542925"/>
          </a:xfrm>
          <a:prstGeom prst="roundRect">
            <a:avLst>
              <a:gd name="adj" fmla="val 14035"/>
            </a:avLst>
          </a:prstGeom>
          <a:solidFill>
            <a:srgbClr val="1D47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68125" y="2924175"/>
            <a:ext cx="25908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525625" y="2905125"/>
            <a:ext cx="2743200" cy="542925"/>
          </a:xfrm>
          <a:prstGeom prst="roundRect">
            <a:avLst>
              <a:gd name="adj" fmla="val 14035"/>
            </a:avLst>
          </a:prstGeom>
          <a:solidFill>
            <a:srgbClr val="1D47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01825" y="2924175"/>
            <a:ext cx="25908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62424" y="3448050"/>
            <a:ext cx="0" cy="257174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7096125" y="3448050"/>
            <a:ext cx="0" cy="257174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0029825" y="3448050"/>
            <a:ext cx="0" cy="257174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12963525" y="3448050"/>
            <a:ext cx="0" cy="257174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5897225" y="3448050"/>
            <a:ext cx="0" cy="257174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3543300" y="3705224"/>
            <a:ext cx="12353925" cy="0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3543300" y="3705224"/>
            <a:ext cx="0" cy="390526"/>
          </a:xfrm>
          <a:prstGeom prst="line">
            <a:avLst/>
          </a:prstGeom>
          <a:ln w="22860">
            <a:solidFill>
              <a:srgbClr val="00C2D1"/>
            </a:solidFill>
            <a:tailEnd type="triangle" w="sm" len="sm"/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9144000" y="3705224"/>
            <a:ext cx="0" cy="390526"/>
          </a:xfrm>
          <a:prstGeom prst="line">
            <a:avLst/>
          </a:prstGeom>
          <a:ln w="22860">
            <a:solidFill>
              <a:srgbClr val="00C2D1"/>
            </a:solidFill>
            <a:tailEnd type="triangle" w="sm" len="sm"/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4744700" y="3705224"/>
            <a:ext cx="0" cy="390526"/>
          </a:xfrm>
          <a:prstGeom prst="line">
            <a:avLst/>
          </a:prstGeom>
          <a:ln w="22860">
            <a:solidFill>
              <a:srgbClr val="00C2D1"/>
            </a:solidFill>
            <a:tailEnd type="triangle" w="sm" len="sm"/>
          </a:ln>
          <a:effectLst/>
        </p:spPr>
      </p:cxnSp>
      <p:sp>
        <p:nvSpPr>
          <p:cNvPr id="38" name="Rounded Rectangle 37"/>
          <p:cNvSpPr/>
          <p:nvPr/>
        </p:nvSpPr>
        <p:spPr>
          <a:xfrm>
            <a:off x="952500" y="4105274"/>
            <a:ext cx="5181600" cy="1866899"/>
          </a:xfrm>
          <a:prstGeom prst="roundRect">
            <a:avLst>
              <a:gd name="adj" fmla="val 8163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9200" y="4238625"/>
            <a:ext cx="46482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FE0E8"/>
                </a:solidFill>
                <a:latin typeface="Noto Sans CJK SC"/>
                <a:ea typeface="Noto Sans CJK SC"/>
              </a:rPr>
              <a:t>能力构成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9200" y="4772025"/>
            <a:ext cx="46482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硬技能 / 软技能 / 元技能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9200" y="54006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C6DF"/>
                </a:solidFill>
                <a:latin typeface="Noto Sans CJK SC"/>
                <a:ea typeface="Noto Sans CJK SC"/>
              </a:rPr>
              <a:t>回答：需要哪些能力？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3200" y="4105274"/>
            <a:ext cx="5181600" cy="1866899"/>
          </a:xfrm>
          <a:prstGeom prst="roundRect">
            <a:avLst>
              <a:gd name="adj" fmla="val 8163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9900" y="4238625"/>
            <a:ext cx="46482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FE0E8"/>
                </a:solidFill>
                <a:latin typeface="Noto Sans CJK SC"/>
                <a:ea typeface="Noto Sans CJK SC"/>
              </a:rPr>
              <a:t>人才角色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9900" y="4772025"/>
            <a:ext cx="46482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基础 / 骨干 / 高端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9900" y="54006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C6DF"/>
                </a:solidFill>
                <a:latin typeface="Noto Sans CJK SC"/>
                <a:ea typeface="Noto Sans CJK SC"/>
              </a:rPr>
              <a:t>回答：承担什么任务？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153900" y="4105274"/>
            <a:ext cx="5181600" cy="1866899"/>
          </a:xfrm>
          <a:prstGeom prst="roundRect">
            <a:avLst>
              <a:gd name="adj" fmla="val 8163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20600" y="4238625"/>
            <a:ext cx="46482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FE0E8"/>
                </a:solidFill>
                <a:latin typeface="Noto Sans CJK SC"/>
                <a:ea typeface="Noto Sans CJK SC"/>
              </a:rPr>
              <a:t>适用范围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420600" y="4772025"/>
            <a:ext cx="46482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通用 / 产业背景 / 岗位专有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20600" y="5400675"/>
            <a:ext cx="46482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8C6DF"/>
                </a:solidFill>
                <a:latin typeface="Noto Sans CJK SC"/>
                <a:ea typeface="Noto Sans CJK SC"/>
              </a:rPr>
              <a:t>回答：要求适用于哪里？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543300" y="5972175"/>
            <a:ext cx="0" cy="276225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9144000" y="5972175"/>
            <a:ext cx="0" cy="276225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14744700" y="5972175"/>
            <a:ext cx="0" cy="276225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3543300" y="6248400"/>
            <a:ext cx="11201400" cy="0"/>
          </a:xfrm>
          <a:prstGeom prst="line">
            <a:avLst/>
          </a:prstGeom>
          <a:ln w="17780">
            <a:solidFill>
              <a:srgbClr val="3A719D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9144000" y="6248400"/>
            <a:ext cx="0" cy="409575"/>
          </a:xfrm>
          <a:prstGeom prst="line">
            <a:avLst/>
          </a:prstGeom>
          <a:ln w="22860">
            <a:solidFill>
              <a:srgbClr val="00C2D1"/>
            </a:solidFill>
            <a:tailEnd type="triangle" w="sm" len="sm"/>
          </a:ln>
          <a:effectLst/>
        </p:spPr>
      </p:cxnSp>
      <p:sp>
        <p:nvSpPr>
          <p:cNvPr id="55" name="Rounded Rectangle 54"/>
          <p:cNvSpPr/>
          <p:nvPr/>
        </p:nvSpPr>
        <p:spPr>
          <a:xfrm>
            <a:off x="952500" y="6667500"/>
            <a:ext cx="16383000" cy="1704975"/>
          </a:xfrm>
          <a:prstGeom prst="roundRect">
            <a:avLst>
              <a:gd name="adj" fmla="val 8938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57300" y="6791325"/>
            <a:ext cx="447675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具体岗位人才标准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57300" y="7534275"/>
            <a:ext cx="44767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配置情境：新型 / 旧型产业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5575" y="6877050"/>
            <a:ext cx="32575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资格条件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5575" y="7591425"/>
            <a:ext cx="32575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准入与基础要求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29825" y="6877050"/>
            <a:ext cx="32575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能力素质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29825" y="7591425"/>
            <a:ext cx="32575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1—4级行为与证据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554075" y="6877050"/>
            <a:ext cx="32575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业绩贡献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554075" y="7591425"/>
            <a:ext cx="32575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工作成果与绩效佐证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2500" y="8686800"/>
            <a:ext cx="16383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E0E8"/>
                </a:solidFill>
                <a:latin typeface="Noto Sans CJK SC"/>
                <a:ea typeface="Noto Sans CJK SC"/>
              </a:rPr>
              <a:t>共同基准 + 差异配置 → 支持培养、评价、激励与人才配置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3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39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93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05  /  模型介绍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五类人才按工作功能区分，覆盖操作到战略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05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143250"/>
            <a:ext cx="16383000" cy="4362450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150" y="3333750"/>
            <a:ext cx="9905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19" name="Oval 18"/>
          <p:cNvSpPr/>
          <p:nvPr/>
        </p:nvSpPr>
        <p:spPr>
          <a:xfrm>
            <a:off x="3286125" y="35337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390900" y="3876674"/>
            <a:ext cx="24765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3390900" y="3638550"/>
            <a:ext cx="0" cy="2381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3448050" y="3781425"/>
            <a:ext cx="0" cy="762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3524250" y="3714750"/>
            <a:ext cx="0" cy="14287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3600450" y="3657600"/>
            <a:ext cx="0" cy="2000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1200150" y="4362450"/>
            <a:ext cx="2733675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智能制造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50" y="5610225"/>
            <a:ext cx="2733675" cy="1285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设备操作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参数控制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现场协作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00150" y="6915150"/>
            <a:ext cx="2743200" cy="38100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76350" y="6934200"/>
            <a:ext cx="2590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技术应用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29100" y="3419475"/>
            <a:ext cx="0" cy="3743325"/>
          </a:xfrm>
          <a:prstGeom prst="line">
            <a:avLst/>
          </a:prstGeom>
          <a:ln w="10160">
            <a:solidFill>
              <a:srgbClr val="E5E9F0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4476750" y="3333750"/>
            <a:ext cx="9905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31" name="Oval 30"/>
          <p:cNvSpPr/>
          <p:nvPr/>
        </p:nvSpPr>
        <p:spPr>
          <a:xfrm>
            <a:off x="6562725" y="35337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705600" y="3629025"/>
            <a:ext cx="1428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6848475" y="3629025"/>
            <a:ext cx="47625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6896100" y="3676649"/>
            <a:ext cx="0" cy="21907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6705600" y="3895725"/>
            <a:ext cx="1905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6705600" y="3629025"/>
            <a:ext cx="0" cy="2667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6848475" y="3629025"/>
            <a:ext cx="0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6848475" y="3676649"/>
            <a:ext cx="4762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6743700" y="3733799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6743700" y="3790949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6743700" y="3848099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4476750" y="4362450"/>
            <a:ext cx="2733675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5610225"/>
            <a:ext cx="2733675" cy="1285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技术创新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研发验证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成果转化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76750" y="6915150"/>
            <a:ext cx="2743200" cy="38100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2950" y="6934200"/>
            <a:ext cx="2590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创新研发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05700" y="3419475"/>
            <a:ext cx="0" cy="3743325"/>
          </a:xfrm>
          <a:prstGeom prst="line">
            <a:avLst/>
          </a:prstGeom>
          <a:ln w="10160">
            <a:solidFill>
              <a:srgbClr val="E5E9F0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7753349" y="3333750"/>
            <a:ext cx="9905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48" name="Oval 47"/>
          <p:cNvSpPr/>
          <p:nvPr/>
        </p:nvSpPr>
        <p:spPr>
          <a:xfrm>
            <a:off x="9839325" y="35337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25050" y="3724275"/>
            <a:ext cx="76200" cy="762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34600" y="3724275"/>
            <a:ext cx="76200" cy="762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001250" y="3762374"/>
            <a:ext cx="13335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10086975" y="3724275"/>
            <a:ext cx="47625" cy="38099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10086975" y="3762374"/>
            <a:ext cx="47625" cy="38101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7753349" y="4362450"/>
            <a:ext cx="2733675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数字化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管理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3349" y="5610225"/>
            <a:ext cx="2733675" cy="1285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数据治理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系统协同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流程优化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53349" y="6915150"/>
            <a:ext cx="2743200" cy="38100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29550" y="6934200"/>
            <a:ext cx="2590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系统管理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782300" y="3419475"/>
            <a:ext cx="0" cy="3743325"/>
          </a:xfrm>
          <a:prstGeom prst="line">
            <a:avLst/>
          </a:prstGeom>
          <a:ln w="10160">
            <a:solidFill>
              <a:srgbClr val="E5E9F0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11029950" y="3333750"/>
            <a:ext cx="9905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A73E8"/>
                </a:solidFill>
                <a:latin typeface="Barlow Semi Condensed"/>
                <a:ea typeface="Noto Sans CJK SC"/>
              </a:rPr>
              <a:t>04</a:t>
            </a:r>
          </a:p>
        </p:txBody>
      </p:sp>
      <p:sp>
        <p:nvSpPr>
          <p:cNvPr id="60" name="Oval 59"/>
          <p:cNvSpPr/>
          <p:nvPr/>
        </p:nvSpPr>
        <p:spPr>
          <a:xfrm>
            <a:off x="13115925" y="35337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287375" y="3629025"/>
            <a:ext cx="114300" cy="1143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13230225" y="3848099"/>
            <a:ext cx="0" cy="4762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13230225" y="3800475"/>
            <a:ext cx="57150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13287375" y="3800475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13401675" y="3800475"/>
            <a:ext cx="57150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13458825" y="3848099"/>
            <a:ext cx="0" cy="4762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11029950" y="4362450"/>
            <a:ext cx="2733675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29950" y="5610225"/>
            <a:ext cx="2733675" cy="1285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需求转译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跨域整合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项目协同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029950" y="6915150"/>
            <a:ext cx="2743200" cy="38100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06150" y="6934200"/>
            <a:ext cx="2590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跨域融合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4058900" y="3419475"/>
            <a:ext cx="0" cy="3743325"/>
          </a:xfrm>
          <a:prstGeom prst="line">
            <a:avLst/>
          </a:prstGeom>
          <a:ln w="10160">
            <a:solidFill>
              <a:srgbClr val="E5E9F0"/>
            </a:solidFill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14306550" y="3333750"/>
            <a:ext cx="990599" cy="866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A73E8"/>
                </a:solidFill>
                <a:latin typeface="Barlow Semi Condensed"/>
                <a:ea typeface="Noto Sans CJK SC"/>
              </a:rPr>
              <a:t>05</a:t>
            </a:r>
          </a:p>
        </p:txBody>
      </p:sp>
      <p:sp>
        <p:nvSpPr>
          <p:cNvPr id="73" name="Oval 72"/>
          <p:cNvSpPr/>
          <p:nvPr/>
        </p:nvSpPr>
        <p:spPr>
          <a:xfrm>
            <a:off x="16392524" y="3533775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6487775" y="3629025"/>
            <a:ext cx="266700" cy="2667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6554450" y="3695700"/>
            <a:ext cx="133350" cy="13335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6621124" y="3629025"/>
            <a:ext cx="133351" cy="133349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14306550" y="4362450"/>
            <a:ext cx="2733675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306550" y="5610225"/>
            <a:ext cx="2733675" cy="1285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战略判断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资源配置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战略落地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4306550" y="6915150"/>
            <a:ext cx="2743200" cy="38100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82750" y="6934200"/>
            <a:ext cx="2590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方向判断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2540"/>
                </a:solidFill>
                <a:latin typeface="Noto Sans CJK SC"/>
                <a:ea typeface="Noto Sans CJK SC"/>
              </a:rPr>
              <a:t>分类看主任务与价值贡献；允许岗位具有复合功能。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2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93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06  /  模型介绍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硬、软、元三维能力，分别解释做事、协同与适应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06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143250"/>
            <a:ext cx="5181600" cy="3209925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8250" y="3409950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343025" y="3752850"/>
            <a:ext cx="24765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1343025" y="3514725"/>
            <a:ext cx="0" cy="2381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1400175" y="3657600"/>
            <a:ext cx="0" cy="76199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1476375" y="3590925"/>
            <a:ext cx="0" cy="14287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1552575" y="3533775"/>
            <a:ext cx="0" cy="2000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905000" y="3400425"/>
            <a:ext cx="3962399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硬技能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4371975"/>
            <a:ext cx="4610100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B3A4A"/>
                </a:solidFill>
                <a:latin typeface="Noto Sans CJK SC"/>
                <a:ea typeface="Noto Sans CJK SC"/>
              </a:rPr>
              <a:t>能否用技能成果直接验证？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5495925"/>
            <a:ext cx="46101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证书 · 作品 · 工艺参数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200" y="3143250"/>
            <a:ext cx="5181600" cy="3209925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3409950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10400" y="3505200"/>
            <a:ext cx="114300" cy="1143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6953250" y="3724275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6953250" y="3676649"/>
            <a:ext cx="57150" cy="47626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7010400" y="3676649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7124700" y="3676649"/>
            <a:ext cx="57150" cy="47626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7181850" y="3724275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7505700" y="3400425"/>
            <a:ext cx="3962399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软技能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8950" y="4371975"/>
            <a:ext cx="4610100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B3A4A"/>
                </a:solidFill>
                <a:latin typeface="Noto Sans CJK SC"/>
                <a:ea typeface="Noto Sans CJK SC"/>
              </a:rPr>
              <a:t>任务是否依赖人与人协作？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8950" y="5495925"/>
            <a:ext cx="46101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沟通 · 协商 · 团队协同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153900" y="3143250"/>
            <a:ext cx="5181600" cy="3209925"/>
          </a:xfrm>
          <a:prstGeom prst="roundRect">
            <a:avLst>
              <a:gd name="adj" fmla="val 4747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439650" y="3409950"/>
            <a:ext cx="457200" cy="4572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534900" y="3505200"/>
            <a:ext cx="266700" cy="266700"/>
          </a:xfrm>
          <a:prstGeom prst="ellipse">
            <a:avLst/>
          </a:prstGeom>
          <a:noFill/>
          <a:ln w="19050">
            <a:solidFill>
              <a:srgbClr val="0A2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601575" y="3571875"/>
            <a:ext cx="133350" cy="133350"/>
          </a:xfrm>
          <a:prstGeom prst="ellipse">
            <a:avLst/>
          </a:prstGeom>
          <a:noFill/>
          <a:ln w="19050">
            <a:solidFill>
              <a:srgbClr val="0A2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2668250" y="3505200"/>
            <a:ext cx="133350" cy="133350"/>
          </a:xfrm>
          <a:prstGeom prst="line">
            <a:avLst/>
          </a:prstGeom>
          <a:ln w="19050">
            <a:solidFill>
              <a:srgbClr val="0A2540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13106400" y="3400425"/>
            <a:ext cx="3962399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元技能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39650" y="4371975"/>
            <a:ext cx="4610100" cy="781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B3A4A"/>
                </a:solidFill>
                <a:latin typeface="Noto Sans CJK SC"/>
                <a:ea typeface="Noto Sans CJK SC"/>
              </a:rPr>
              <a:t>能否跨任务、跨情境迁移？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39650" y="5495925"/>
            <a:ext cx="46101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学习 · 适应 · 重组经验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2500" y="6886575"/>
            <a:ext cx="16383000" cy="1190625"/>
          </a:xfrm>
          <a:prstGeom prst="roundRect">
            <a:avLst>
              <a:gd name="adj" fmla="val 128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28725" y="7086600"/>
            <a:ext cx="341947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同一任务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生产异常处置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1150" y="7105650"/>
            <a:ext cx="372427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73E8"/>
                </a:solidFill>
                <a:latin typeface="Noto Sans CJK SC"/>
                <a:ea typeface="Noto Sans CJK SC"/>
              </a:rPr>
              <a:t>调整设备参数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91650" y="7105650"/>
            <a:ext cx="372427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C2D1"/>
                </a:solidFill>
                <a:latin typeface="Noto Sans CJK SC"/>
                <a:ea typeface="Noto Sans CJK SC"/>
              </a:rPr>
              <a:t>协调班组与工艺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392150" y="7105650"/>
            <a:ext cx="3724275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将经验迁移到新情境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三维共同解释岗位表现；每个能力要素的归属需用任务证据核验。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5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6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37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93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07  /  模型介绍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三级描述人才角色，四级描述单项能力行为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07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500" y="2895600"/>
            <a:ext cx="67627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人才角色：承担何种任务？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500" y="3762374"/>
            <a:ext cx="1571625" cy="1000125"/>
          </a:xfrm>
          <a:prstGeom prst="roundRect">
            <a:avLst>
              <a:gd name="adj" fmla="val 11428"/>
            </a:avLst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5375" y="3886200"/>
            <a:ext cx="1285875" cy="695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1775" y="3762374"/>
            <a:ext cx="55149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规范执行与基础任务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1775" y="4343400"/>
            <a:ext cx="55149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以 1—2级 为主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500" y="5181600"/>
            <a:ext cx="1571625" cy="1000125"/>
          </a:xfrm>
          <a:prstGeom prst="roundRect">
            <a:avLst>
              <a:gd name="adj" fmla="val 11428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5375" y="5305425"/>
            <a:ext cx="1285875" cy="695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1775" y="5181600"/>
            <a:ext cx="55149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独立解决问题与过程优化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1775" y="5762625"/>
            <a:ext cx="55149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以 2—3级 为主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500" y="6600825"/>
            <a:ext cx="1571625" cy="1000125"/>
          </a:xfrm>
          <a:prstGeom prst="roundRect">
            <a:avLst>
              <a:gd name="adj" fmla="val 1142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5375" y="6724650"/>
            <a:ext cx="1285875" cy="695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1775" y="6600825"/>
            <a:ext cx="55149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体系构建、创新与战略引领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1775" y="7181850"/>
            <a:ext cx="55149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以 3—4级 为主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24900" y="3190875"/>
            <a:ext cx="0" cy="4724400"/>
          </a:xfrm>
          <a:prstGeom prst="line">
            <a:avLst/>
          </a:prstGeom>
          <a:ln w="12700">
            <a:solidFill>
              <a:srgbClr val="E5E9F0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9429750" y="2895600"/>
            <a:ext cx="79057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行为刻度：单项能力做到什么程度？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9750" y="3638550"/>
            <a:ext cx="8191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A73E8"/>
                </a:solidFill>
                <a:latin typeface="Barlow Semi Condensed"/>
                <a:ea typeface="Noto Sans CJK S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2250" y="365760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指导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50" y="4171950"/>
            <a:ext cx="6953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在指导下完成基础任务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0" y="4724400"/>
            <a:ext cx="8191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A73E8"/>
                </a:solidFill>
                <a:latin typeface="Barlow Semi Condensed"/>
                <a:ea typeface="Noto Sans CJK SC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2250" y="474345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独立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2250" y="5257800"/>
            <a:ext cx="6953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独立执行标准任务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9750" y="5810250"/>
            <a:ext cx="8191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A73E8"/>
                </a:solidFill>
                <a:latin typeface="Barlow Semi Condensed"/>
                <a:ea typeface="Noto Sans CJK SC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2250" y="582930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优化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2250" y="6343650"/>
            <a:ext cx="6953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识别问题并改进过程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9750" y="6896100"/>
            <a:ext cx="8191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A73E8"/>
                </a:solidFill>
                <a:latin typeface="Barlow Semi Condensed"/>
                <a:ea typeface="Noto Sans CJK S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2250" y="691515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主导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2250" y="7429500"/>
            <a:ext cx="6953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引领复杂任务与体系建设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人才层级与行为刻度分别配置；具体等级由岗位任务和证据支持。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6750"/>
            <a:ext cx="18288000" cy="9620250"/>
          </a:xfrm>
          <a:gradFill>
            <a:gsLst>
              <a:gs pos="0">
                <a:srgbClr val="0A2540"/>
              </a:gs>
              <a:gs pos="100000">
                <a:srgbClr val="153D60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0B27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D1E3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393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C2D1"/>
                </a:solidFill>
                <a:latin typeface="Noto Sans CJK SC"/>
                <a:ea typeface="Noto Sans CJK SC"/>
              </a:rPr>
              <a:t>08  /  模型介绍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</a:rPr>
              <a:t>三层标准共享基准，产业背景决定差异化要求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31516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08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2943225"/>
            <a:ext cx="68580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FE0E8"/>
                </a:solidFill>
                <a:latin typeface="Noto Sans CJK SC"/>
                <a:ea typeface="Noto Sans CJK SC"/>
              </a:rPr>
              <a:t>标准适用范围</a:t>
            </a:r>
          </a:p>
        </p:txBody>
      </p:sp>
      <p:sp>
        <p:nvSpPr>
          <p:cNvPr id="19" name="Oval 18"/>
          <p:cNvSpPr/>
          <p:nvPr/>
        </p:nvSpPr>
        <p:spPr>
          <a:xfrm>
            <a:off x="2009774" y="3524250"/>
            <a:ext cx="4171950" cy="4171950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35567" y="4150042"/>
            <a:ext cx="2920364" cy="292036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61360" y="4775835"/>
            <a:ext cx="1668780" cy="166878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2219" y="5286375"/>
            <a:ext cx="1627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通用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要素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7287" y="4316920"/>
            <a:ext cx="2836926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产业背景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1811" y="7112127"/>
            <a:ext cx="3587877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岗位专有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8134350"/>
            <a:ext cx="62865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每个岗位都组合三层要求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1500" y="3143250"/>
            <a:ext cx="9144000" cy="2152650"/>
          </a:xfrm>
          <a:prstGeom prst="roundRect">
            <a:avLst>
              <a:gd name="adj" fmla="val 7079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67725" y="3362325"/>
            <a:ext cx="952500" cy="419100"/>
          </a:xfrm>
          <a:prstGeom prst="roundRect">
            <a:avLst>
              <a:gd name="adj" fmla="val 18181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3925" y="3381375"/>
            <a:ext cx="800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新型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7875" y="3371850"/>
            <a:ext cx="7343775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数字与信息技术内核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725" y="4171950"/>
            <a:ext cx="8572500" cy="904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BFDAEC"/>
                </a:solidFill>
                <a:latin typeface="Noto Sans CJK SC"/>
                <a:ea typeface="Noto Sans CJK SC"/>
              </a:rPr>
              <a:t>信息技术 · 自动化 · 软件 · 传感 · 网络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BFDAEC"/>
                </a:solidFill>
                <a:latin typeface="Noto Sans CJK SC"/>
                <a:ea typeface="Noto Sans CJK SC"/>
              </a:rPr>
              <a:t>侧重：数字化、系统整合、跨域协同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1500" y="5581650"/>
            <a:ext cx="9144000" cy="2152650"/>
          </a:xfrm>
          <a:prstGeom prst="roundRect">
            <a:avLst>
              <a:gd name="adj" fmla="val 7079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67725" y="5800725"/>
            <a:ext cx="952500" cy="419100"/>
          </a:xfrm>
          <a:prstGeom prst="roundRect">
            <a:avLst>
              <a:gd name="adj" fmla="val 18181"/>
            </a:avLst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3925" y="5819775"/>
            <a:ext cx="800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旧型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7875" y="5810250"/>
            <a:ext cx="7343775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物理、生物与工艺材料内核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725" y="6610350"/>
            <a:ext cx="8572500" cy="904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BFDAEC"/>
                </a:solidFill>
                <a:latin typeface="Noto Sans CJK SC"/>
                <a:ea typeface="Noto Sans CJK SC"/>
              </a:rPr>
              <a:t>物理 · 生物 · 化学 · 新材料 · 纳米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BFDAEC"/>
                </a:solidFill>
                <a:latin typeface="Noto Sans CJK SC"/>
                <a:ea typeface="Noto Sans CJK SC"/>
              </a:rPr>
              <a:t>侧重：工艺、流程、合规，并吸收数字化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0" y="8296274"/>
            <a:ext cx="9144000" cy="695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7FE0E8"/>
                </a:solidFill>
                <a:latin typeface="Noto Sans CJK SC"/>
                <a:ea typeface="Noto Sans CJK SC"/>
              </a:rPr>
              <a:t>请按岗位判断技术背景，避免将整家企业固定归为一类。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9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2527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09  /  研究证据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339,694条招聘信息，为能力提取提供市场证据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09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067050"/>
            <a:ext cx="9477375" cy="483870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6825" y="3295650"/>
            <a:ext cx="85725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有效招聘信息 · 总样本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3895725"/>
            <a:ext cx="8715375" cy="1247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300" b="1">
                <a:solidFill>
                  <a:srgbClr val="1A73E8"/>
                </a:solidFill>
                <a:latin typeface="Barlow Semi Condensed"/>
                <a:ea typeface="Noto Sans CJK SC"/>
              </a:rPr>
              <a:t>339,694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50" y="5362575"/>
            <a:ext cx="4676775" cy="10191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A73E8"/>
                </a:solidFill>
                <a:latin typeface="Barlow Semi Condensed"/>
                <a:ea typeface="Noto Sans CJK SC"/>
              </a:rPr>
              <a:t>290,635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350" y="6419850"/>
            <a:ext cx="46767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新型 · 85.6%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4100" y="5362575"/>
            <a:ext cx="3962399" cy="10191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0C2D1"/>
                </a:solidFill>
                <a:latin typeface="Barlow Semi Condensed"/>
                <a:ea typeface="Noto Sans CJK SC"/>
              </a:rPr>
              <a:t>49,059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4100" y="6419850"/>
            <a:ext cx="3962399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旧型 · 14.4%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238250" y="7210425"/>
          <a:ext cx="8858250" cy="4667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1144250" y="3114675"/>
            <a:ext cx="619125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五类方法，回答不同问题</a:t>
            </a:r>
          </a:p>
        </p:txBody>
      </p:sp>
      <p:sp>
        <p:nvSpPr>
          <p:cNvPr id="26" name="Oval 25"/>
          <p:cNvSpPr/>
          <p:nvPr/>
        </p:nvSpPr>
        <p:spPr>
          <a:xfrm>
            <a:off x="11144250" y="3895725"/>
            <a:ext cx="419100" cy="4191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1275218" y="3983037"/>
            <a:ext cx="130969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1406187" y="3983037"/>
            <a:ext cx="43656" cy="4365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1449843" y="4026693"/>
            <a:ext cx="0" cy="200819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H="1">
            <a:off x="11275218" y="4227512"/>
            <a:ext cx="17462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11275218" y="3983037"/>
            <a:ext cx="0" cy="24447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11406187" y="3983037"/>
            <a:ext cx="0" cy="4365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1406187" y="4026693"/>
            <a:ext cx="43656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1310143" y="4079081"/>
            <a:ext cx="1047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1310143" y="4131468"/>
            <a:ext cx="1047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11310143" y="4183856"/>
            <a:ext cx="1047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11725275" y="3857625"/>
            <a:ext cx="23622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文献研究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87500" y="3857625"/>
            <a:ext cx="30480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9BB0"/>
                </a:solidFill>
                <a:latin typeface="Noto Sans CJK SC"/>
                <a:ea typeface="Noto Sans CJK SC"/>
              </a:rPr>
              <a:t>理论与政策依据</a:t>
            </a:r>
          </a:p>
        </p:txBody>
      </p:sp>
      <p:sp>
        <p:nvSpPr>
          <p:cNvPr id="39" name="Oval 38"/>
          <p:cNvSpPr/>
          <p:nvPr/>
        </p:nvSpPr>
        <p:spPr>
          <a:xfrm>
            <a:off x="11144250" y="4695825"/>
            <a:ext cx="419100" cy="4191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301412" y="4783137"/>
            <a:ext cx="104775" cy="104775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11249025" y="4983956"/>
            <a:ext cx="0" cy="4365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1249025" y="4940300"/>
            <a:ext cx="52387" cy="4365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1301412" y="4940300"/>
            <a:ext cx="1047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1406187" y="4940300"/>
            <a:ext cx="52388" cy="4365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1458575" y="4983956"/>
            <a:ext cx="0" cy="4365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11725275" y="4657725"/>
            <a:ext cx="23622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行为事件访谈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87500" y="4657725"/>
            <a:ext cx="30480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9BB0"/>
                </a:solidFill>
                <a:latin typeface="Noto Sans CJK SC"/>
                <a:ea typeface="Noto Sans CJK SC"/>
              </a:rPr>
              <a:t>高绩效关键行为</a:t>
            </a:r>
          </a:p>
        </p:txBody>
      </p:sp>
      <p:sp>
        <p:nvSpPr>
          <p:cNvPr id="48" name="Oval 47"/>
          <p:cNvSpPr/>
          <p:nvPr/>
        </p:nvSpPr>
        <p:spPr>
          <a:xfrm>
            <a:off x="11144250" y="5495925"/>
            <a:ext cx="419100" cy="4191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31562" y="5583237"/>
            <a:ext cx="244475" cy="244475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292681" y="5644356"/>
            <a:ext cx="122237" cy="122237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11353800" y="5583237"/>
            <a:ext cx="122237" cy="122238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11725275" y="5457825"/>
            <a:ext cx="23622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德尔菲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287500" y="5457825"/>
            <a:ext cx="30480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9BB0"/>
                </a:solidFill>
                <a:latin typeface="Noto Sans CJK SC"/>
                <a:ea typeface="Noto Sans CJK SC"/>
              </a:rPr>
              <a:t>专家意见与共识</a:t>
            </a:r>
          </a:p>
        </p:txBody>
      </p:sp>
      <p:sp>
        <p:nvSpPr>
          <p:cNvPr id="54" name="Oval 53"/>
          <p:cNvSpPr/>
          <p:nvPr/>
        </p:nvSpPr>
        <p:spPr>
          <a:xfrm>
            <a:off x="11144250" y="6296025"/>
            <a:ext cx="419100" cy="4191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1240293" y="6610350"/>
            <a:ext cx="227013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11240293" y="6392068"/>
            <a:ext cx="0" cy="218282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11292681" y="6523037"/>
            <a:ext cx="0" cy="6985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11362531" y="6461918"/>
            <a:ext cx="0" cy="130969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11432381" y="6409531"/>
            <a:ext cx="0" cy="18335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11725275" y="6257925"/>
            <a:ext cx="23622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比较分析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287500" y="6257925"/>
            <a:ext cx="30480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9BB0"/>
                </a:solidFill>
                <a:latin typeface="Noto Sans CJK SC"/>
                <a:ea typeface="Noto Sans CJK SC"/>
              </a:rPr>
              <a:t>产业共性与差异</a:t>
            </a:r>
          </a:p>
        </p:txBody>
      </p:sp>
      <p:sp>
        <p:nvSpPr>
          <p:cNvPr id="62" name="Oval 61"/>
          <p:cNvSpPr/>
          <p:nvPr/>
        </p:nvSpPr>
        <p:spPr>
          <a:xfrm>
            <a:off x="11144250" y="7096125"/>
            <a:ext cx="419100" cy="419100"/>
          </a:xfrm>
          <a:prstGeom prst="ellipse">
            <a:avLst/>
          </a:prstGeom>
          <a:solidFill>
            <a:srgbClr val="EDF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22831" y="7270750"/>
            <a:ext cx="69850" cy="6985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414918" y="7270750"/>
            <a:ext cx="69850" cy="6985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1292681" y="7305675"/>
            <a:ext cx="122237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11371262" y="7270750"/>
            <a:ext cx="43656" cy="349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11371262" y="7305675"/>
            <a:ext cx="43656" cy="349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11725275" y="7058025"/>
            <a:ext cx="23622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大数据分析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287500" y="7058025"/>
            <a:ext cx="30480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9BB0"/>
                </a:solidFill>
                <a:latin typeface="Noto Sans CJK SC"/>
                <a:ea typeface="Noto Sans CJK SC"/>
              </a:rPr>
              <a:t>市场能力表达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招聘频次提供提取线索；企业案例与行为证据继续验证模型适用性。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6750"/>
            <a:ext cx="18288000" cy="9620250"/>
          </a:xfrm>
          <a:gradFill>
            <a:gsLst>
              <a:gs pos="0">
                <a:srgbClr val="0A2540"/>
              </a:gs>
              <a:gs pos="100000">
                <a:srgbClr val="153D60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0B27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D1E3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2527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C2D1"/>
                </a:solidFill>
                <a:latin typeface="Noto Sans CJK SC"/>
                <a:ea typeface="Noto Sans CJK SC"/>
              </a:rPr>
              <a:t>10  /  研究证据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</a:rPr>
              <a:t>双人编码与分歧裁定，让方法可追溯、可复核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31516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10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2990850"/>
            <a:ext cx="85725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FE0E8"/>
                </a:solidFill>
                <a:latin typeface="Noto Sans CJK SC"/>
                <a:ea typeface="Noto Sans CJK SC"/>
              </a:rPr>
              <a:t>编码矩阵规模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3762374"/>
            <a:ext cx="8477250" cy="1085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Barlow Semi Condensed"/>
                <a:ea typeface="Noto Sans CJK SC"/>
              </a:rPr>
              <a:t>12,416 × 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953000"/>
            <a:ext cx="84772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8DF"/>
                </a:solidFill>
                <a:latin typeface="Noto Sans CJK SC"/>
                <a:ea typeface="Noto Sans CJK SC"/>
              </a:rPr>
              <a:t>能力条目 × 初始要素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500" y="5657850"/>
            <a:ext cx="7848600" cy="0"/>
          </a:xfrm>
          <a:prstGeom prst="line">
            <a:avLst/>
          </a:prstGeom>
          <a:ln w="12700">
            <a:solidFill>
              <a:srgbClr val="325779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52500" y="5915025"/>
            <a:ext cx="8477250" cy="1152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6500" b="1">
                <a:solidFill>
                  <a:srgbClr val="FFFFFF"/>
                </a:solidFill>
                <a:latin typeface="Barlow Semi Condensed"/>
                <a:ea typeface="Noto Sans CJK SC"/>
              </a:rPr>
              <a:t>1,117,440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7162800"/>
            <a:ext cx="84772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8DF"/>
                </a:solidFill>
                <a:latin typeface="Noto Sans CJK SC"/>
                <a:ea typeface="Noto Sans CJK SC"/>
              </a:rPr>
              <a:t>编码单元 · 双人独立判定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6000" y="3067050"/>
            <a:ext cx="7429500" cy="4905375"/>
          </a:xfrm>
          <a:prstGeom prst="roundRect">
            <a:avLst>
              <a:gd name="adj" fmla="val 3106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29850" y="3333750"/>
            <a:ext cx="67627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FE0E8"/>
                </a:solidFill>
                <a:latin typeface="Noto Sans CJK SC"/>
                <a:ea typeface="Noto Sans CJK SC"/>
              </a:rPr>
              <a:t>Kappa  /  编码一致性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9850" y="4171950"/>
            <a:ext cx="6762750" cy="1457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8A3D"/>
                </a:solidFill>
                <a:latin typeface="Barlow Semi Condensed"/>
                <a:ea typeface="Noto Sans CJK SC"/>
              </a:rPr>
              <a:t>0.900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9850" y="5905500"/>
            <a:ext cx="6762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8DF"/>
                </a:solidFill>
                <a:latin typeface="Noto Sans CJK SC"/>
                <a:ea typeface="Noto Sans CJK SC"/>
              </a:rPr>
              <a:t>Po 0.9979    /    Pe 0.9787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9850" y="6667500"/>
            <a:ext cx="319087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Barlow Semi Condensed"/>
                <a:ea typeface="Noto Sans CJK SC"/>
              </a:rPr>
              <a:t>2,376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9850" y="7439024"/>
            <a:ext cx="31908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C8DF"/>
                </a:solidFill>
                <a:latin typeface="Noto Sans CJK SC"/>
                <a:ea typeface="Noto Sans CJK SC"/>
              </a:rPr>
              <a:t>对分歧 · 第三人裁定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06475" y="6667500"/>
            <a:ext cx="319087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Barlow Semi Condensed"/>
                <a:ea typeface="Noto Sans CJK SC"/>
              </a:rPr>
              <a:t>11,377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06475" y="7439024"/>
            <a:ext cx="31908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9C8DF"/>
                </a:solidFill>
                <a:latin typeface="Noto Sans CJK SC"/>
                <a:ea typeface="Noto Sans CJK SC"/>
              </a:rPr>
              <a:t>对最终命中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2047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编码一致性回答“是否可靠”；模型适用性仍需由真实岗位验证。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编码方法示例；正式研究口径以主报告为准。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6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2527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11  /  研究证据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要素收敛与范围分层，回答两个不同问题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11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152775"/>
            <a:ext cx="9477375" cy="4772025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7300" y="3371850"/>
            <a:ext cx="88582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01  收敛：从候选到重点保留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4295775"/>
            <a:ext cx="2476500" cy="1076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>
                <a:solidFill>
                  <a:srgbClr val="1A73E8"/>
                </a:solidFill>
                <a:latin typeface="Barlow Semi Condensed"/>
                <a:ea typeface="Noto Sans CJK SC"/>
              </a:rPr>
              <a:t>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" y="5486400"/>
            <a:ext cx="28098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初始候选要素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33849" y="4838700"/>
            <a:ext cx="2905126" cy="0"/>
          </a:xfrm>
          <a:prstGeom prst="line">
            <a:avLst/>
          </a:prstGeom>
          <a:ln w="31750">
            <a:solidFill>
              <a:srgbClr val="1A73E8"/>
            </a:solidFill>
            <a:tailEnd type="triangle" w="sm" len="sm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7439024" y="4295775"/>
            <a:ext cx="2362200" cy="1076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6100" b="1">
                <a:solidFill>
                  <a:srgbClr val="1A73E8"/>
                </a:solidFill>
                <a:latin typeface="Barlow Semi Condensed"/>
                <a:ea typeface="Noto Sans CJK SC"/>
              </a:rPr>
              <a:t>73 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9024" y="5486400"/>
            <a:ext cx="2362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BB0"/>
                </a:solidFill>
                <a:latin typeface="Noto Sans CJK SC"/>
                <a:ea typeface="Noto Sans CJK SC"/>
              </a:rPr>
              <a:t>最终保留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91175" y="4838700"/>
            <a:ext cx="0" cy="1600200"/>
          </a:xfrm>
          <a:prstGeom prst="line">
            <a:avLst/>
          </a:prstGeom>
          <a:ln w="25400">
            <a:solidFill>
              <a:srgbClr val="FF8A3D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5591175" y="6438900"/>
            <a:ext cx="1524000" cy="0"/>
          </a:xfrm>
          <a:prstGeom prst="line">
            <a:avLst/>
          </a:prstGeom>
          <a:ln w="2540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26" name="Rounded Rectangle 25"/>
          <p:cNvSpPr/>
          <p:nvPr/>
        </p:nvSpPr>
        <p:spPr>
          <a:xfrm>
            <a:off x="7315200" y="6191250"/>
            <a:ext cx="2495550" cy="533400"/>
          </a:xfrm>
          <a:prstGeom prst="roundRect">
            <a:avLst>
              <a:gd name="adj" fmla="val 14285"/>
            </a:avLst>
          </a:prstGeom>
          <a:solidFill>
            <a:srgbClr val="FFF0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1400" y="6210300"/>
            <a:ext cx="23431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F6623"/>
                </a:solidFill>
                <a:latin typeface="Noto Sans CJK SC"/>
                <a:ea typeface="Noto Sans CJK SC"/>
              </a:rPr>
              <a:t>剔除 17 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7300" y="6972300"/>
            <a:ext cx="86106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90 − 17 = 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0" y="3152775"/>
            <a:ext cx="61912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02  分层：初始90项适用范围</a:t>
            </a:r>
          </a:p>
        </p:txBody>
      </p:sp>
      <p:sp>
        <p:nvSpPr>
          <p:cNvPr id="30" name="Oval 29"/>
          <p:cNvSpPr/>
          <p:nvPr/>
        </p:nvSpPr>
        <p:spPr>
          <a:xfrm>
            <a:off x="12363450" y="3810000"/>
            <a:ext cx="3733799" cy="3733799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923520" y="4370070"/>
            <a:ext cx="2613659" cy="2613659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483589" y="4930140"/>
            <a:ext cx="1493520" cy="149352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02259" y="5353050"/>
            <a:ext cx="14561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通用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60858" y="4519422"/>
            <a:ext cx="2538984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产业背景 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24816" y="7021068"/>
            <a:ext cx="321106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岗位专有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44250" y="7839074"/>
            <a:ext cx="61912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22 + 48 + 20 = 90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Noto Sans CJK SC"/>
                <a:ea typeface="Noto Sans CJK SC"/>
              </a:rPr>
              <a:t>示例90行通过单调性校验；规则合理性与主报告配置需分别核验。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本页为补充附件编码示例；收敛结果与初始池分层分开解释。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2527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12  /  研究证据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模型是否有价值，要看能否补充立白现有实践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12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3133725"/>
          <a:ext cx="16383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6896100"/>
                <a:gridCol w="7315200"/>
              </a:tblGrid>
              <a:tr h="6286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比较维度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讨论提示 · 待企业核实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本模型 · 提供的结构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岗位分类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功能标签与边界是否清楚？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五类主功能 + 复合要求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能力结构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协同与适应能力如何评价？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硬技能 + 软技能 + 元技能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等级依据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任务角色与行为等级如何对应？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三级人才 + 1—4级行为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产业适配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不同技术背景如何配置要求？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通用 / 产业背景 / 岗位专有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证据链条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能力要求能否追溯到任务？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招聘文本 + 关键行为 + 专家校验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应用衔接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选育用留是否使用同一标准？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资格条件 + 能力素质 + 业绩贡献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请逐项判断：可以沿用什么，需要补充什么，哪些内容不适用？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2527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13  /  研究证据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智能制造操作能力，从基础应用走向独立主导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2125" y="2371725"/>
            <a:ext cx="1557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左侧：1—4级行为原文  /  右侧：主报告三级人才配置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13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52500" y="2971800"/>
          <a:ext cx="10429875" cy="184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8810625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设备操作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可观察行为 · 主报告原文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能操作基础智能化生产设备，完成简单加工任务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可熟练操作核心生产设备，精准控制生产参数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能优化设备运行参数，提升生产精度与效率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可主导设备智能化升级后的操作适配，培训团队操作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52500" y="4972050"/>
          <a:ext cx="10429875" cy="184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8810625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ERP操作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可观察行为 · 主报告原文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能使用ERP生产模块录入生产数据，查询订单进度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可独立通过ERP下达生产计划，跟踪物料需求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能通过ERP分析生产瓶颈，调整生产调度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可主导ERP生产模块与设备数据联动，实现数字化生产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52500" y="6972300"/>
          <a:ext cx="10429875" cy="184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8810625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CAD解读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可观察行为 · 主报告原文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能识别简单零件图纸，理解基础加工要求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可解读复杂装配图纸，明确关键加工节点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能根据图纸优化加工路径，提升加工效率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可结合图纸与设备特性，提出工艺优化建议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行为原文与完整证据见主报告及演讲备注；1—4级行为刻度与现场1—5评分分开。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72900" y="2971800"/>
            <a:ext cx="5562600" cy="5819775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49125" y="3162300"/>
            <a:ext cx="50101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三级配置 · 原表待校核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1915775" y="3971925"/>
          <a:ext cx="5276850" cy="288607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25" name="Connector 24"/>
          <p:cNvCxnSpPr/>
          <p:nvPr/>
        </p:nvCxnSpPr>
        <p:spPr>
          <a:xfrm>
            <a:off x="12201525" y="7143750"/>
            <a:ext cx="266700" cy="0"/>
          </a:xfrm>
          <a:prstGeom prst="line">
            <a:avLst/>
          </a:prstGeom>
          <a:ln w="25400">
            <a:solidFill>
              <a:srgbClr val="7FE0E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2544425" y="6915150"/>
            <a:ext cx="12827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基础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769975" y="7143750"/>
            <a:ext cx="266700" cy="0"/>
          </a:xfrm>
          <a:prstGeom prst="line">
            <a:avLst/>
          </a:prstGeom>
          <a:ln w="25400">
            <a:solidFill>
              <a:srgbClr val="1A73E8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14112875" y="6915150"/>
            <a:ext cx="12827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骨干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338424" y="7143750"/>
            <a:ext cx="266701" cy="0"/>
          </a:xfrm>
          <a:prstGeom prst="line">
            <a:avLst/>
          </a:prstGeom>
          <a:ln w="25400">
            <a:solidFill>
              <a:srgbClr val="0A2540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5681324" y="6915150"/>
            <a:ext cx="12827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49125" y="7724774"/>
            <a:ext cx="5010150" cy="752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设备操作 4 / 3 / 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请解释角色配置与行为递进的关系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2527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14  /  研究证据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旧型产业能力，更强调合规、流程与经验传承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2125" y="2371725"/>
            <a:ext cx="1557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左侧：1—4级行为原文  /  右侧：主报告三级人才配置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14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52500" y="2971800"/>
          <a:ext cx="10429875" cy="184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8810625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GMP合规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可观察行为 · 主报告原文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能了解GMP基础条款，遵守简单合规要求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可熟练掌握GMP核心条款，规范执行操作流程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能检查操作中的GMP合规性，纠正违规行为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可主导企业GMP体系优化，通过合规审核并降低风险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52500" y="4972050"/>
          <a:ext cx="10429875" cy="184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8810625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SOP执行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可观察行为 · 主报告原文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能阅读SOP文档，按指导完成基础操作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可独立严格执行SOP流程，记录操作过程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能发现SOP中的优化点，提出修订建议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可主导SOP体系修订与培训，推动全员规范执行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52500" y="6972300"/>
          <a:ext cx="10429875" cy="184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/>
                <a:gridCol w="8810625"/>
              </a:tblGrid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经验积累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1A73E8"/>
                          </a:solidFill>
                          <a:latin typeface="Noto Sans CJK SC"/>
                          <a:ea typeface="Noto Sans CJK SC"/>
                        </a:rPr>
                        <a:t>可观察行为 · 主报告原文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能记录基础操作经验，总结简单操作规律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可整理个人操作经验，形成基础操作笔记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能提炼班组共性经验，形成标准化操作建议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可构建企业级操作经验库，指导全员提升技能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行为原文与完整证据见主报告及演讲备注；1—4级行为刻度与现场1—5评分分开。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72900" y="2971800"/>
            <a:ext cx="5562600" cy="5819775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49125" y="3162300"/>
            <a:ext cx="50101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三级配置 · 两项有原值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1963400" y="4000500"/>
          <a:ext cx="5181600" cy="28670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Oval 24"/>
          <p:cNvSpPr/>
          <p:nvPr/>
        </p:nvSpPr>
        <p:spPr>
          <a:xfrm>
            <a:off x="12106275" y="7181850"/>
            <a:ext cx="114300" cy="114300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0" y="7019925"/>
            <a:ext cx="1339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27" name="Oval 26"/>
          <p:cNvSpPr/>
          <p:nvPr/>
        </p:nvSpPr>
        <p:spPr>
          <a:xfrm>
            <a:off x="13684250" y="7181850"/>
            <a:ext cx="114300" cy="1143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922375" y="7019925"/>
            <a:ext cx="1339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29" name="Oval 28"/>
          <p:cNvSpPr/>
          <p:nvPr/>
        </p:nvSpPr>
        <p:spPr>
          <a:xfrm>
            <a:off x="15262225" y="7181850"/>
            <a:ext cx="114300" cy="11430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00350" y="7019925"/>
            <a:ext cx="1339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49125" y="7705725"/>
            <a:ext cx="5010150" cy="504825"/>
          </a:xfrm>
          <a:prstGeom prst="roundRect">
            <a:avLst>
              <a:gd name="adj" fmla="val 15094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25325" y="7724774"/>
            <a:ext cx="485775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73E8"/>
                </a:solidFill>
                <a:latin typeface="Noto Sans CJK SC"/>
                <a:ea typeface="Noto Sans CJK SC"/>
              </a:rPr>
              <a:t>经验积累：三级配置待验证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49125" y="8305800"/>
            <a:ext cx="501015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GMP是否适用，按立白具体业务确认。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2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3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3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6750"/>
            <a:ext cx="18288000" cy="9620250"/>
          </a:xfrm>
          <a:gradFill>
            <a:gsLst>
              <a:gs pos="0">
                <a:srgbClr val="0A2540"/>
              </a:gs>
              <a:gs pos="100000">
                <a:srgbClr val="153D60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0B27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D1E3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6112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C2D1"/>
                </a:solidFill>
                <a:latin typeface="Noto Sans CJK SC"/>
                <a:ea typeface="Noto Sans CJK SC"/>
              </a:rPr>
              <a:t>15  /  验证反馈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</a:rPr>
              <a:t>选择一个真实岗位，把模型从头检验一遍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31516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15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2500" y="3133725"/>
            <a:ext cx="5181600" cy="2628900"/>
          </a:xfrm>
          <a:prstGeom prst="roundRect">
            <a:avLst>
              <a:gd name="adj" fmla="val 5797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8250" y="3381375"/>
            <a:ext cx="457200" cy="45720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09700" y="3476625"/>
            <a:ext cx="114300" cy="1143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1352550" y="3695700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1352550" y="3648075"/>
            <a:ext cx="5715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409700" y="3648075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524000" y="3648075"/>
            <a:ext cx="5715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581150" y="3695700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962150" y="3381375"/>
            <a:ext cx="3886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选真实岗位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4448175"/>
            <a:ext cx="45910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FD6E8"/>
                </a:solidFill>
                <a:latin typeface="Noto Sans CJK SC"/>
                <a:ea typeface="Noto Sans CJK SC"/>
              </a:rPr>
              <a:t>关键任务 / 绩效场景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0300" y="4429125"/>
            <a:ext cx="266700" cy="0"/>
          </a:xfrm>
          <a:prstGeom prst="line">
            <a:avLst/>
          </a:prstGeom>
          <a:ln w="2540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29" name="Rounded Rectangle 28"/>
          <p:cNvSpPr/>
          <p:nvPr/>
        </p:nvSpPr>
        <p:spPr>
          <a:xfrm>
            <a:off x="6553200" y="3133725"/>
            <a:ext cx="5181600" cy="2628900"/>
          </a:xfrm>
          <a:prstGeom prst="roundRect">
            <a:avLst>
              <a:gd name="adj" fmla="val 5797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38950" y="3381375"/>
            <a:ext cx="457200" cy="45720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943725" y="3724275"/>
            <a:ext cx="24765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6943725" y="3486150"/>
            <a:ext cx="0" cy="2381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7000875" y="3629025"/>
            <a:ext cx="0" cy="76199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7077075" y="3562350"/>
            <a:ext cx="0" cy="142874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7153275" y="3505200"/>
            <a:ext cx="0" cy="200024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7562850" y="3381375"/>
            <a:ext cx="3886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对照标准组合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8950" y="4448175"/>
            <a:ext cx="45910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FD6E8"/>
                </a:solidFill>
                <a:latin typeface="Noto Sans CJK SC"/>
                <a:ea typeface="Noto Sans CJK SC"/>
              </a:rPr>
              <a:t>分类 / 能力 / 等级 / 产业背景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811000" y="4429125"/>
            <a:ext cx="266700" cy="0"/>
          </a:xfrm>
          <a:prstGeom prst="line">
            <a:avLst/>
          </a:prstGeom>
          <a:ln w="2540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39" name="Rounded Rectangle 38"/>
          <p:cNvSpPr/>
          <p:nvPr/>
        </p:nvSpPr>
        <p:spPr>
          <a:xfrm>
            <a:off x="12153900" y="3133725"/>
            <a:ext cx="5181600" cy="2628900"/>
          </a:xfrm>
          <a:prstGeom prst="roundRect">
            <a:avLst>
              <a:gd name="adj" fmla="val 5797"/>
            </a:avLst>
          </a:prstGeom>
          <a:solidFill>
            <a:srgbClr val="1B43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439650" y="3381375"/>
            <a:ext cx="457200" cy="45720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534900" y="3476625"/>
            <a:ext cx="266700" cy="2667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2592050" y="3609975"/>
            <a:ext cx="57150" cy="5715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12649200" y="3552825"/>
            <a:ext cx="104775" cy="11430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13163550" y="3381375"/>
            <a:ext cx="38862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提供行为证据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39650" y="4448175"/>
            <a:ext cx="45910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FD6E8"/>
                </a:solidFill>
                <a:latin typeface="Noto Sans CJK SC"/>
                <a:ea typeface="Noto Sans CJK SC"/>
              </a:rPr>
              <a:t>判断 / 案例 / 修改建议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500" y="6276975"/>
            <a:ext cx="163830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六个判断，都需要岗位案例支撑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2500" y="7124700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2149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2050" y="7277100"/>
            <a:ext cx="990599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分类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66950" y="7277100"/>
            <a:ext cx="36480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完整吗？边界清楚吗？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53200" y="7124700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2149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2750" y="7277100"/>
            <a:ext cx="990599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能力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7649" y="7277100"/>
            <a:ext cx="36480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能解释关键表现吗？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153900" y="7124700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2149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363450" y="7277100"/>
            <a:ext cx="990599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分级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468350" y="7277100"/>
            <a:ext cx="36480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角色与行为要求合理吗？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2500" y="8105775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2149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62050" y="8258175"/>
            <a:ext cx="990599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差异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6950" y="8258175"/>
            <a:ext cx="36480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符合技术背景吗？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53200" y="8105775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2149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2750" y="8258175"/>
            <a:ext cx="990599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总图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7649" y="8258175"/>
            <a:ext cx="36480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能用于评价与培养吗？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153900" y="8105775"/>
            <a:ext cx="5181600" cy="819150"/>
          </a:xfrm>
          <a:prstGeom prst="roundRect">
            <a:avLst>
              <a:gd name="adj" fmla="val 13953"/>
            </a:avLst>
          </a:prstGeom>
          <a:solidFill>
            <a:srgbClr val="2149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363450" y="8258175"/>
            <a:ext cx="990599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缺失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468350" y="8258175"/>
            <a:ext cx="364807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还有哪些任务或情境？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7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4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5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6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6112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16  /  验证反馈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请独立评分，具体建议将直接指向模型修订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16</a:t>
            </a:r>
          </a:p>
        </p:txBody>
      </p:sp>
      <p:sp>
        <p:nvSpPr>
          <p:cNvPr id="15" name="Oval 14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3048000"/>
          <a:ext cx="16383000" cy="541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5715000"/>
                <a:gridCol w="1905000"/>
                <a:gridCol w="6858000"/>
              </a:tblGrid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验证维度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核心问题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1—5分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修改建议 / 岗位案例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人才分类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五类是否完整，主功能边界是否清楚？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能力维度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硬 / 软 / 元能否解释关键岗位表现？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角色层级与单项行为等级是否合理？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产业差异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产业背景与能力侧重是否符合实际？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模型总图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组合框架能否支持评价与人才培养？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缺失项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关键能力、岗位与情境是否覆盖充分？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952500" y="8686800"/>
            <a:ext cx="16383000" cy="4572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1100" y="8877300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6375" y="8743950"/>
            <a:ext cx="155543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1 不成立 · 2 大幅修改 · 3 基本成立 · 4 较适用 · 5 高度适用 · N/A 不适用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缺失项维度：分数越高表示覆盖越充分；不熟悉或不适用请填写N/A。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6750"/>
            <a:ext cx="18288000" cy="9620250"/>
          </a:xfrm>
          <a:gradFill>
            <a:gsLst>
              <a:gs pos="0">
                <a:srgbClr val="0A2540"/>
              </a:gs>
              <a:gs pos="100000">
                <a:srgbClr val="153D60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0B27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D1E3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5A1BD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9717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C2D1"/>
                </a:solidFill>
                <a:latin typeface="Noto Sans CJK SC"/>
                <a:ea typeface="Noto Sans CJK SC"/>
              </a:rPr>
              <a:t>17  /  未来展望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</a:rPr>
              <a:t>修订模型后，用同一标准连接人才培养、评价与配置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31516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17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2952750"/>
            <a:ext cx="1638300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FE0E8"/>
                </a:solidFill>
                <a:latin typeface="Noto Sans CJK SC"/>
                <a:ea typeface="Noto Sans CJK SC"/>
              </a:rPr>
              <a:t>反馈处理：每项意见都有结果与理由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09750" y="4343400"/>
            <a:ext cx="14668499" cy="0"/>
          </a:xfrm>
          <a:prstGeom prst="line">
            <a:avLst/>
          </a:prstGeom>
          <a:ln w="25400">
            <a:solidFill>
              <a:srgbClr val="417399"/>
            </a:solidFill>
          </a:ln>
          <a:effectLst/>
        </p:spPr>
      </p:cxnSp>
      <p:sp>
        <p:nvSpPr>
          <p:cNvPr id="20" name="Oval 19"/>
          <p:cNvSpPr/>
          <p:nvPr/>
        </p:nvSpPr>
        <p:spPr>
          <a:xfrm>
            <a:off x="2247900" y="4048124"/>
            <a:ext cx="590550" cy="59055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70931" y="4171156"/>
            <a:ext cx="344487" cy="344487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444750" y="4343400"/>
            <a:ext cx="73818" cy="73818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2518568" y="4269581"/>
            <a:ext cx="135335" cy="147637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952500" y="4914900"/>
            <a:ext cx="30861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现场记录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5505450"/>
            <a:ext cx="30861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D0E5"/>
                </a:solidFill>
                <a:latin typeface="Noto Sans CJK SC"/>
                <a:ea typeface="Noto Sans CJK SC"/>
              </a:rPr>
              <a:t>判断与岗位证据</a:t>
            </a:r>
          </a:p>
        </p:txBody>
      </p:sp>
      <p:sp>
        <p:nvSpPr>
          <p:cNvPr id="26" name="Oval 25"/>
          <p:cNvSpPr/>
          <p:nvPr/>
        </p:nvSpPr>
        <p:spPr>
          <a:xfrm>
            <a:off x="5572125" y="4048124"/>
            <a:ext cx="590550" cy="59055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756671" y="4171156"/>
            <a:ext cx="184547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5941218" y="4171156"/>
            <a:ext cx="61516" cy="6151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6002734" y="4232671"/>
            <a:ext cx="0" cy="282972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H="1">
            <a:off x="5756671" y="4515643"/>
            <a:ext cx="246063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5756671" y="4171156"/>
            <a:ext cx="0" cy="344487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941218" y="4171156"/>
            <a:ext cx="0" cy="6151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941218" y="4232671"/>
            <a:ext cx="61516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5805884" y="4306490"/>
            <a:ext cx="147637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5805884" y="4380309"/>
            <a:ext cx="147637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5805884" y="4454128"/>
            <a:ext cx="147637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4276725" y="4914900"/>
            <a:ext cx="30861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3工作日汇总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6725" y="5505450"/>
            <a:ext cx="30861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D0E5"/>
                </a:solidFill>
                <a:latin typeface="Noto Sans CJK SC"/>
                <a:ea typeface="Noto Sans CJK SC"/>
              </a:rPr>
              <a:t>整理六维度意见</a:t>
            </a:r>
          </a:p>
        </p:txBody>
      </p:sp>
      <p:sp>
        <p:nvSpPr>
          <p:cNvPr id="39" name="Oval 38"/>
          <p:cNvSpPr/>
          <p:nvPr/>
        </p:nvSpPr>
        <p:spPr>
          <a:xfrm>
            <a:off x="8896350" y="4048124"/>
            <a:ext cx="590550" cy="59055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17806" y="4171156"/>
            <a:ext cx="147637" cy="147637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9043987" y="4454128"/>
            <a:ext cx="0" cy="6151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9043987" y="4392612"/>
            <a:ext cx="73819" cy="61516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9117806" y="4392612"/>
            <a:ext cx="147637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9265443" y="4392612"/>
            <a:ext cx="73819" cy="61516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9339262" y="4454128"/>
            <a:ext cx="0" cy="6151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7600950" y="4914900"/>
            <a:ext cx="30861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团队研判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0950" y="5505450"/>
            <a:ext cx="30861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D0E5"/>
                </a:solidFill>
                <a:latin typeface="Noto Sans CJK SC"/>
                <a:ea typeface="Noto Sans CJK SC"/>
              </a:rPr>
              <a:t>核对条目与依据</a:t>
            </a:r>
          </a:p>
        </p:txBody>
      </p:sp>
      <p:sp>
        <p:nvSpPr>
          <p:cNvPr id="48" name="Oval 47"/>
          <p:cNvSpPr/>
          <p:nvPr/>
        </p:nvSpPr>
        <p:spPr>
          <a:xfrm>
            <a:off x="12220575" y="4048124"/>
            <a:ext cx="590550" cy="59055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331303" y="4294187"/>
            <a:ext cx="98425" cy="98425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601971" y="4294187"/>
            <a:ext cx="98425" cy="98425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2429728" y="4343400"/>
            <a:ext cx="172243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12540456" y="4294187"/>
            <a:ext cx="61515" cy="49213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12540456" y="4343400"/>
            <a:ext cx="61515" cy="49212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10925175" y="4914900"/>
            <a:ext cx="30861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10工作日反馈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25175" y="5505450"/>
            <a:ext cx="30861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D0E5"/>
                </a:solidFill>
                <a:latin typeface="Noto Sans CJK SC"/>
                <a:ea typeface="Noto Sans CJK SC"/>
              </a:rPr>
              <a:t>修订结果与理由</a:t>
            </a:r>
          </a:p>
        </p:txBody>
      </p:sp>
      <p:sp>
        <p:nvSpPr>
          <p:cNvPr id="56" name="Oval 55"/>
          <p:cNvSpPr/>
          <p:nvPr/>
        </p:nvSpPr>
        <p:spPr>
          <a:xfrm>
            <a:off x="15544800" y="4048124"/>
            <a:ext cx="590550" cy="590550"/>
          </a:xfrm>
          <a:prstGeom prst="ellipse">
            <a:avLst/>
          </a:prstGeom>
          <a:solidFill>
            <a:srgbClr val="204A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5667831" y="4171156"/>
            <a:ext cx="344487" cy="344487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5753953" y="4257278"/>
            <a:ext cx="172243" cy="172243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5840075" y="4171156"/>
            <a:ext cx="172243" cy="172244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14249400" y="4914900"/>
            <a:ext cx="30861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待议复核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249400" y="5505450"/>
            <a:ext cx="30861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D0E5"/>
                </a:solidFill>
                <a:latin typeface="Noto Sans CJK SC"/>
                <a:ea typeface="Noto Sans CJK SC"/>
              </a:rPr>
              <a:t>补充证据后更新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2500" y="6248400"/>
            <a:ext cx="1638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6D0E5"/>
                </a:solidFill>
                <a:latin typeface="Noto Sans CJK SC"/>
                <a:ea typeface="Noto Sans CJK SC"/>
              </a:rPr>
              <a:t>采纳 / 部分采纳 / 待议 / 不采纳  ·  均附处理理由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2500" y="7096125"/>
            <a:ext cx="16383000" cy="923925"/>
          </a:xfrm>
          <a:prstGeom prst="roundRect">
            <a:avLst>
              <a:gd name="adj" fmla="val 16494"/>
            </a:avLst>
          </a:prstGeom>
          <a:solidFill>
            <a:srgbClr val="2149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38250" y="7239000"/>
            <a:ext cx="249555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应用闭环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1500" y="7239000"/>
            <a:ext cx="2562225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FE0E8"/>
                </a:solidFill>
                <a:latin typeface="Noto Sans CJK SC"/>
                <a:ea typeface="Noto Sans CJK SC"/>
              </a:rPr>
              <a:t>培养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048500" y="7543800"/>
            <a:ext cx="381000" cy="0"/>
          </a:xfrm>
          <a:prstGeom prst="line">
            <a:avLst/>
          </a:prstGeom>
          <a:ln w="2286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7515225" y="7239000"/>
            <a:ext cx="2562225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FE0E8"/>
                </a:solidFill>
                <a:latin typeface="Noto Sans CJK SC"/>
                <a:ea typeface="Noto Sans CJK SC"/>
              </a:rPr>
              <a:t>评价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182225" y="7543800"/>
            <a:ext cx="381000" cy="0"/>
          </a:xfrm>
          <a:prstGeom prst="line">
            <a:avLst/>
          </a:prstGeom>
          <a:ln w="2286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0648950" y="7239000"/>
            <a:ext cx="2562225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FE0E8"/>
                </a:solidFill>
                <a:latin typeface="Noto Sans CJK SC"/>
                <a:ea typeface="Noto Sans CJK SC"/>
              </a:rPr>
              <a:t>激励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3315950" y="7543800"/>
            <a:ext cx="381000" cy="0"/>
          </a:xfrm>
          <a:prstGeom prst="line">
            <a:avLst/>
          </a:prstGeom>
          <a:ln w="22860">
            <a:solidFill>
              <a:srgbClr val="FF8A3D"/>
            </a:solidFill>
            <a:tailEnd type="triangle" w="sm" len="sm"/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13782675" y="7239000"/>
            <a:ext cx="2562225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7FE0E8"/>
                </a:solidFill>
                <a:latin typeface="Noto Sans CJK SC"/>
                <a:ea typeface="Noto Sans CJK SC"/>
              </a:rPr>
              <a:t>人才配置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2500" y="8448675"/>
            <a:ext cx="16383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FFFFFF"/>
                </a:solidFill>
                <a:latin typeface="Ma Shan Zheng"/>
                <a:ea typeface="Ma Shan Zheng"/>
              </a:rPr>
              <a:t>感谢各位专家共同验证先进制造业人才标准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反馈工作日为拟定安排；问卷链接待补充。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7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8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66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42875"/>
            <a:ext cx="5334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540"/>
                </a:solidFill>
                <a:latin typeface="Noto Sans CJK SC"/>
                <a:ea typeface="Noto Sans CJK SC"/>
              </a:rPr>
              <a:t>广东工业大学管理学院  /  立白科技调研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3374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393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252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研究证据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611225" y="142875"/>
            <a:ext cx="1695450" cy="371475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1122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97175" y="133350"/>
            <a:ext cx="1695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38225"/>
            <a:ext cx="1143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73E8"/>
                </a:solidFill>
                <a:latin typeface="Noto Sans CJK SC"/>
                <a:ea typeface="Noto Sans CJK SC"/>
              </a:rPr>
              <a:t>18  /  验证反馈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533525"/>
            <a:ext cx="16383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Noto Sans CJK SC"/>
                <a:ea typeface="Noto Sans CJK SC"/>
              </a:rPr>
              <a:t>专家追问时，按归属规则、分级证据与要素清单展开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2505075"/>
            <a:ext cx="533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2125" y="2371725"/>
            <a:ext cx="15573375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备用索引 · 完整证据见本页备注与配套6页备查资料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44025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287250" y="95250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18</a:t>
            </a:r>
          </a:p>
        </p:txBody>
      </p:sp>
      <p:sp>
        <p:nvSpPr>
          <p:cNvPr id="16" name="Oval 15"/>
          <p:cNvSpPr/>
          <p:nvPr/>
        </p:nvSpPr>
        <p:spPr>
          <a:xfrm>
            <a:off x="16897350" y="9429750"/>
            <a:ext cx="438150" cy="4381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35450" y="9467850"/>
            <a:ext cx="361950" cy="3619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2500" y="3171825"/>
            <a:ext cx="5181600" cy="4791075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9675" y="3419475"/>
            <a:ext cx="828675" cy="714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7425" y="3486150"/>
            <a:ext cx="36004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三问判定与两项争议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200" y="3171825"/>
            <a:ext cx="5181600" cy="4791075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0375" y="3419475"/>
            <a:ext cx="828675" cy="714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8125" y="3486150"/>
            <a:ext cx="36004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三维三层级矩阵示例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53900" y="3171825"/>
            <a:ext cx="5181600" cy="4791075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11075" y="3419475"/>
            <a:ext cx="828675" cy="714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58825" y="3486150"/>
            <a:ext cx="36004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90项初始候选清单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9675" y="4467225"/>
            <a:ext cx="4667250" cy="1123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90 / 90 纳入归属校验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2 项与词典不一致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跨域项目管理：硬 ↔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9675" y="5848350"/>
            <a:ext cx="46672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团队管理（旧·战略）：硬 ↔ 软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暂按词典，专家复核后回填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9675" y="7200900"/>
            <a:ext cx="466725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5875" y="7219950"/>
            <a:ext cx="4514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三问是校验工具，词典也可以修订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9900" y="4495800"/>
            <a:ext cx="4648200" cy="1533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基础 / 骨干 / 高端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设备操作  3 / 4 / 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班组协作  2 / 3 / 4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实操学习  2 / 3 /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9900" y="6372225"/>
            <a:ext cx="464820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旧型：SOP 2/3/4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组织协调 3/4/4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9900" y="7200900"/>
            <a:ext cx="46482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96100" y="7219950"/>
            <a:ext cx="449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数值来自补充示例，不替代主报告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20600" y="4505325"/>
            <a:ext cx="1143000" cy="714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A2540"/>
                </a:solidFill>
                <a:latin typeface="Barlow Semi Condensed"/>
                <a:ea typeface="Noto Sans CJK SC"/>
              </a:rPr>
              <a:t>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11250" y="4600575"/>
            <a:ext cx="30765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通用层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20600" y="5314950"/>
            <a:ext cx="1143000" cy="714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A73E8"/>
                </a:solidFill>
                <a:latin typeface="Barlow Semi Condensed"/>
                <a:ea typeface="Noto Sans CJK SC"/>
              </a:rPr>
              <a:t>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11250" y="5410200"/>
            <a:ext cx="30765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产业背景层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20600" y="6124575"/>
            <a:ext cx="1143000" cy="714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0C2D1"/>
                </a:solidFill>
                <a:latin typeface="Barlow Semi Condensed"/>
                <a:ea typeface="Noto Sans CJK SC"/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11250" y="6219825"/>
            <a:ext cx="30765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岗位专有层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420600" y="7200900"/>
            <a:ext cx="46482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496800" y="7219950"/>
            <a:ext cx="44958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Noto Sans CJK SC"/>
                <a:ea typeface="Noto Sans CJK SC"/>
              </a:rPr>
              <a:t>22 + 48 + 20 = 90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500" y="8486775"/>
            <a:ext cx="16383000" cy="600075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81100" y="8748712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76375" y="8543925"/>
            <a:ext cx="155543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补充附件用于讲解方法；最终标准以主报告和企业验证后的修订为准。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本页为编码方法示例；与主报告的岗位配置、分级结果分别说明。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基于胜任力模型的先进制造业人才标准框架与体系——立白科技调研座谈会</dc:title>
  <dc:subject>完整需求整合 · 模型、标准与企业验证 · 2026年10月09日</dc:subject>
  <dc:creator>广东工业大学管理学院 | 粤来粤好队 | 罗琳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