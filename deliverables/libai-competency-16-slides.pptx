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【第1页】基于胜任力模型的先进制造业人才标准框架与体系</a:t>
            </a:r>
          </a:p>
          <a:p>
            <a:r>
              <a:t>建议时长：1分钟</a:t>
            </a:r>
          </a:p>
          <a:p>
            <a:r>
              <a:t>开场问候。今天希望在立白的真实岗位与管理实践中，验证模型分类、能力维度、分级以及产业差异。说明本次是专家验证交流稿，并非模型效度已得到最终确认。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【第2页】介绍模型、请您验证，共同判断模型是否成立</a:t>
            </a:r>
          </a:p>
          <a:p>
            <a:r>
              <a:t>建议时长：2分钟</a:t>
            </a:r>
          </a:p>
          <a:p>
            <a:r>
              <a:t>强调不是单向汇报，而是请专家做专业判断。先介绍模型怎么来，再请专家用岗位案例评分；不了解的维度可以标注不适用，不要强迫评分。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【第3页】人才标准成为竞争变量，四类瓶颈需要系统回应</a:t>
            </a:r>
          </a:p>
          <a:p>
            <a:r>
              <a:t>建议时长：2分钟</a:t>
            </a:r>
          </a:p>
          <a:p>
            <a:r>
              <a:t>请专家对照立白实际：哪一项最突出？请给一个岗位例子。将企业反馈区分为关键人才供给、能力配置、评价依据和培养衔接四类。</a:t>
            </a:r>
          </a:p>
          <a:p/>
          <a:p>
            <a:r>
              <a:t>资料来源与核验说明：</a:t>
            </a:r>
          </a:p>
          <a:p>
            <a:r>
              <a:t>《优化版本项目报告》§3.4人才队伍建设短板；《智造人才画像》绪论。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【第4页】339,694 条招聘信息与五类方法，共同支撑建模</a:t>
            </a:r>
          </a:p>
          <a:p>
            <a:r>
              <a:t>建议时长：2分钟</a:t>
            </a:r>
          </a:p>
          <a:p>
            <a:r>
              <a:t>强调数据是招聘市场公开能力表达，不是已录用结果。新旧样本量不同，不能直接把频次差异解释为需求强度差异。请专家判断样本覆盖与方法组合是否可信。</a:t>
            </a:r>
          </a:p>
          <a:p/>
          <a:p>
            <a:r>
              <a:t>资料来源与核验说明：</a:t>
            </a:r>
          </a:p>
          <a:p>
            <a:r>
              <a:t>核心来源：《202602优化版本-先进制造业人才标准项目报告0201》§4.2.1；《智造人才画像》仅作佐证。2025年公开招聘文本：总计339,694，新型290,635，旧型49,059。招聘表达不等同于实际录用、岗位绩效或因果验证。 方法来源：《优化版本项目报告》§2.4。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【第5页】独立编码与分歧裁定，让每项能力可追溯、可复核</a:t>
            </a:r>
          </a:p>
          <a:p>
            <a:r>
              <a:t>建议时长：3分钟</a:t>
            </a:r>
          </a:p>
          <a:p>
            <a:r>
              <a:t>本页专门讲解编码方法，补充Excel为编码示例，正式模型仍以主报告为准。解释：Kappa衡量扣除随机一致性后的编码者一致性，不代表模型效度。每个条目对应90项要素判定，111万是编码矩阵规模。示例招聘文本数量与正式全国样本数量不可混淆，问专家流程和阈值是否可接受。</a:t>
            </a:r>
          </a:p>
          <a:p/>
          <a:p>
            <a:r>
              <a:t>资料来源与核验说明：</a:t>
            </a:r>
          </a:p>
          <a:p>
            <a:r>
              <a:t>补充附件仅为编码示例，不能替代《202602优化版本项目报告0201》的正式研究结论。示例来源07_总体Kappa、第三人裁定与最终编码及10_分歧清单第三人裁判结果：N=12,416×90=1,117,440，A命中11,473，B命中12,551，交集10,824；Po=0.9978737113、Pe=0.9787315003、Kappa=0.9000263916（显示0.900）；分歧2,376，裁定命中553，最终命中11,377。示例工作簿说明页标注模拟研究，用户已明确补充附件用于编码示例。展示表内核验结果用于讲解流程，不声称正式样本完成这些编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【第6页】三轮收敛聚焦关键要素，三层框架区分适用范围</a:t>
            </a:r>
          </a:p>
          <a:p>
            <a:r>
              <a:t>建议时长：3分钟</a:t>
            </a:r>
          </a:p>
          <a:p>
            <a:r>
              <a:t>本页数字和无倒挂结论仅对应编码示例，不替代主报告正式模型。请专家判断低频阈值小于5次、每类每维度至多3项是否适用。初始90与保留73为不同口径；三层22+48+20=90也为示例初始池。示例层级采用规则赋值，所以单调性不能替代企业验证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【第7页】技术内核不同，能力要求需要差异化配置</a:t>
            </a:r>
          </a:p>
          <a:p>
            <a:r>
              <a:t>建议时长：2分钟</a:t>
            </a:r>
          </a:p>
          <a:p>
            <a:r>
              <a:t>请专家判断立白的核心工艺与数字化部门如何定位。新旧是本研究分析标签，不是对产业先进程度的排序；传统化学日化生产同样可能具有高度智能化设备和系统。不要让企业或员工被强行归入单一类别。</a:t>
            </a:r>
          </a:p>
          <a:p/>
          <a:p>
            <a:r>
              <a:t>资料来源与核验说明：</a:t>
            </a:r>
          </a:p>
          <a:p>
            <a:r>
              <a:t>《优化版本项目报告》§3.2、§3.3；《智造人才画像》§4.3。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【第8页】五类人才按工作功能划分，覆盖操作到战略的完整链条</a:t>
            </a:r>
          </a:p>
          <a:p>
            <a:r>
              <a:t>建议时长：3分钟</a:t>
            </a:r>
          </a:p>
          <a:p>
            <a:r>
              <a:t>请专家判断五类是否完整、边界是否清楚，是否缺少质量、安全、供应链等重要职能。递进路径是认知与职能范围的展开，不代表员工必须按五类逐级晋升；复合岗位可设主类别与兼具能力。</a:t>
            </a:r>
          </a:p>
          <a:p/>
          <a:p>
            <a:r>
              <a:t>资料来源与核验说明：</a:t>
            </a:r>
          </a:p>
          <a:p>
            <a:r>
              <a:t>《优化版本项目报告》§4.1；《智造人才画像》§4.1。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【第9页】硬、软、元三维能力，用三问逐项校验归属</a:t>
            </a:r>
          </a:p>
          <a:p>
            <a:r>
              <a:t>建议时长：3分钟</a:t>
            </a:r>
          </a:p>
          <a:p>
            <a:r>
              <a:t>硬、软、元三维结构以主报告为准。三问、90/90覆盖以及2项争议为补充编码示例，用于说明如何核验归属，不声称是主报告正式编码结果。种子词典可作为当前基准，但允许专家以真实任务建议修订。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【第10页】三级人才回答“谁”，三层标准回答“要求什么”</a:t>
            </a:r>
          </a:p>
          <a:p>
            <a:r>
              <a:t>建议时长：3分钟</a:t>
            </a:r>
          </a:p>
          <a:p>
            <a:r>
              <a:t>请专家判断人才层级与标准层次是否清楚。三级是基础、骨干、高端的人才角色；三层是通用、产业背景、岗位专有的适用范围。每个层级均需组合三层要求，不是基础等于通用、高端等于岗位专有。1—4级是单项能力行为刻度，也不同于三级人才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行为锚点：《智造人才画像》附录表30。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【第11页】五类 × 三维 × 三级，以三层标准承载产业差异</a:t>
            </a:r>
          </a:p>
          <a:p>
            <a:r>
              <a:t>建议时长：3分钟</a:t>
            </a:r>
          </a:p>
          <a:p>
            <a:r>
              <a:t>请专家判断总图是否清晰、框架是否完整。右侧是概念矩阵，以卡片呈现，不是新增数据表；关键词用于解释关系，不是所有岗位统一的最低能力等级。三层数量口径仍需与修订底表核对。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模型主结构：《优化版本项目报告》摘要、§6；《智造人才画像》§4.1—4.3。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【第12页】分类分级、数据驱动、行为可评，是模型的系统升级</a:t>
            </a:r>
          </a:p>
          <a:p>
            <a:r>
              <a:t>建议时长：3分钟</a:t>
            </a:r>
          </a:p>
          <a:p>
            <a:r>
              <a:t>现有做法列是研究提出的对比假设，不代表所有企业都如此；请立白逐行判断哪些适用，哪些不适用。模型尚未完成绩效预测效度验证，所以避免直接宣称优于现有标准。</a:t>
            </a:r>
          </a:p>
          <a:p/>
          <a:p>
            <a:r>
              <a:t>资料来源与核验说明：</a:t>
            </a:r>
          </a:p>
          <a:p>
            <a:r>
              <a:t>《优化版本项目报告》§5—§7；对比表由两份报告与用户方案整理，现有做法为典型概括，非立白现状诊断。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【第13页】智能制造操作能力，从“会操作”走向“能主导”</a:t>
            </a:r>
          </a:p>
          <a:p>
            <a:r>
              <a:t>建议时长：2分钟</a:t>
            </a:r>
          </a:p>
          <a:p>
            <a:r>
              <a:t>请专家逐项判断行为描述是否可观察、可评价，结合立白案例提出修改。表格逐字引自主报告新型智能制造操作人才评价表的12条行为原文；图值取主报告表4-11：设备4/3/2、ERP4/4/3、CAD3/4/3。按用户核心口径要求保留原报告矩阵，不用补充示例的不同数字覆盖。原矩阵存在非单调项目，请在座谈中确认这些数值是否表达不同角色的专业要求，还是最低准入等级需要调整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32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【第14页】旧型产业能力，更强调合规、流程与经验传承</a:t>
            </a:r>
          </a:p>
          <a:p>
            <a:r>
              <a:t>建议时长：2分钟</a:t>
            </a:r>
          </a:p>
          <a:p>
            <a:r>
              <a:t>请专家判断新旧差异是否成立。全部行为描述来自主报告旧型智能制造操作人才评价表原文；GMP、SOP的三级配置取主报告表4-16，均为1/2/4。GMP适用范围按立白实际业务判断，不使用补充编码示例中的无命中占位结论评价正式模型。经验积累在主报告有完整行为锚点，但矩阵未给三级配置值，所以雷达该轴留空，待专家赋值；缺失不是0分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38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【第15页】模型是否成立，取决于专家判断与真实岗位证据</a:t>
            </a:r>
          </a:p>
          <a:p>
            <a:r>
              <a:t>建议时长：3分钟</a:t>
            </a:r>
          </a:p>
          <a:p>
            <a:r>
              <a:t>请专家先选最熟悉的岗位或人才类别，再对分类、能力、分级、差异、总图与缺失项评分。六种方法为本次座谈的实施建议；不是声称已经执行完毕的验证结果。</a:t>
            </a:r>
          </a:p>
          <a:p/>
          <a:p>
            <a:r>
              <a:t>资料来源与核验说明：</a:t>
            </a:r>
          </a:p>
          <a:p>
            <a:r>
              <a:t>依据用户座谈方案整理；参照《智造人才画像》企业访谈提纲与问卷结构。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【第16页】请现场评分，专家判断将直接指向模型修订</a:t>
            </a:r>
          </a:p>
          <a:p>
            <a:r>
              <a:t>建议时长：15分钟评分 + 3分钟总结</a:t>
            </a:r>
          </a:p>
          <a:p>
            <a:r>
              <a:t>评分规则：1=不成立，2=需较大修改，3=基本成立但需调整，4=较适用，5=高度适用。不熟悉或不适用的维度记N/A，不计入均值。15分钟独立评分，随后3分钟总结。建议写明具体岗位、行为案例与修改条目。3工作日汇总、10工作日反馈为本次拟定处理机制，不声称企业已批准。采纳状态包含采纳、部分采纳、待议、不采纳，并提供理由；待议事项另约复核。没有问卷链接，因此不生成虚假二维码。</a:t>
            </a:r>
          </a:p>
          <a:p/>
          <a:p>
            <a:r>
              <a:t>资料来源与核验说明：</a:t>
            </a:r>
          </a:p>
          <a:p>
            <a:r>
              <a:t>用户指定评分表与反馈流程；该评分表评价模型适配性，1—5分不同于能力行为1—4级。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357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 flipH="1">
            <a:off x="-357187" y="4281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 flipH="1" flipV="1">
            <a:off x="-714375" y="-190499"/>
            <a:ext cx="357188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714375" y="-809166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-357187" y="-8091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357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1785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 flipH="1">
            <a:off x="1071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H="1" flipV="1">
            <a:off x="714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714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1071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785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214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H="1">
            <a:off x="2500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H="1" flipV="1">
            <a:off x="2143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2143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2500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3214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H="1">
            <a:off x="4643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H="1">
            <a:off x="3929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H="1" flipV="1">
            <a:off x="3571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3571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929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643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072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H="1">
            <a:off x="5357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H="1" flipV="1">
            <a:off x="5000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5000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57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6072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H="1">
            <a:off x="7500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H="1">
            <a:off x="6786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 flipV="1">
            <a:off x="6429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29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6786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7500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8929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H="1">
            <a:off x="8215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H="1" flipV="1">
            <a:off x="7858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58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8215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8929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H="1">
            <a:off x="10358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H="1">
            <a:off x="9644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H="1" flipV="1">
            <a:off x="9286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9286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9644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0358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H="1">
            <a:off x="11787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H="1">
            <a:off x="11072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 flipV="1">
            <a:off x="10715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10715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11072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1787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H="1">
            <a:off x="13215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H="1">
            <a:off x="12501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H="1" flipV="1">
            <a:off x="12144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12144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12501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3215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H="1">
            <a:off x="14644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H="1">
            <a:off x="13930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H="1" flipV="1">
            <a:off x="13573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13573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3930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14644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H="1">
            <a:off x="160734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H="1">
            <a:off x="153590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 flipV="1">
            <a:off x="150018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150018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153590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160734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H="1">
            <a:off x="175021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H="1">
            <a:off x="167878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H="1" flipV="1">
            <a:off x="164306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164306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167878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175021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1893093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H="1">
            <a:off x="1821656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H="1" flipV="1">
            <a:off x="1785937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1785937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1821656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1893093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H="1">
            <a:off x="20359687" y="-1905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19645312" y="428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H="1" flipV="1">
            <a:off x="19288125" y="-190499"/>
            <a:ext cx="357187" cy="618665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19288125" y="-809166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9645312" y="-8091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0359687" y="-809166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H="1">
            <a:off x="1071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H="1">
            <a:off x="357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H="1" flipV="1">
            <a:off x="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57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1071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H="1">
            <a:off x="2500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H="1">
            <a:off x="1785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H="1" flipV="1">
            <a:off x="1428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1428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1785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500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H="1">
            <a:off x="3929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 flipH="1">
            <a:off x="3214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H="1" flipV="1">
            <a:off x="2857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 flipV="1">
            <a:off x="2857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3214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929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5357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4643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 flipV="1">
            <a:off x="4286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4286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4643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5357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86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072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 flipV="1">
            <a:off x="5715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5715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6072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6786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8215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7500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 flipV="1">
            <a:off x="7143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7143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7500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8215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9644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8929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 flipV="1">
            <a:off x="8572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8572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8929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9644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11072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10358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 flipV="1">
            <a:off x="10001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10001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10358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11072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H="1">
            <a:off x="12501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H="1">
            <a:off x="11787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 flipV="1">
            <a:off x="11430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11430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11787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12501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H="1">
            <a:off x="13930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13215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H="1" flipV="1">
            <a:off x="12858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2858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13215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3930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15359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H="1">
            <a:off x="14644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 flipV="1">
            <a:off x="14287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14287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14644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15359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H="1">
            <a:off x="167878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H="1">
            <a:off x="160734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H="1" flipV="1">
            <a:off x="157162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157162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160734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67878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H="1">
            <a:off x="182165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H="1">
            <a:off x="175021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 flipV="1">
            <a:off x="171450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171450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175021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182165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H="1">
            <a:off x="1964531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H="1">
            <a:off x="1893093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 flipV="1">
            <a:off x="1857375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1857375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1893093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1964531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H="1">
            <a:off x="21074062" y="10382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H="1">
            <a:off x="20359687" y="16568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 flipV="1">
            <a:off x="20002500" y="10382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0002500" y="4195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20359687" y="4195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21074062" y="4195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H="1">
            <a:off x="3571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 flipH="1">
            <a:off x="-357187" y="288561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 flipV="1">
            <a:off x="-714375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-714375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>
            <a:off x="-357187" y="164828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3571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H="1">
            <a:off x="17859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 flipH="1">
            <a:off x="10715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 flipV="1">
            <a:off x="7143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7143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10715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17859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H="1">
            <a:off x="3214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 flipH="1">
            <a:off x="2500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 flipV="1">
            <a:off x="2143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143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>
            <a:off x="2500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3214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H="1">
            <a:off x="14644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 flipH="1">
            <a:off x="13930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 flipV="1">
            <a:off x="13573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3573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>
            <a:off x="13930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14644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H="1">
            <a:off x="160734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 flipH="1">
            <a:off x="153590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H="1" flipV="1">
            <a:off x="150018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 flipV="1">
            <a:off x="150018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>
            <a:off x="153590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160734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H="1">
            <a:off x="175021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 flipH="1">
            <a:off x="167878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H="1" flipV="1">
            <a:off x="164306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 flipV="1">
            <a:off x="164306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>
            <a:off x="167878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175021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H="1">
            <a:off x="1893093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 flipH="1">
            <a:off x="1821656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H="1" flipV="1">
            <a:off x="1785937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 flipV="1">
            <a:off x="1785937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>
            <a:off x="1821656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1893093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H="1">
            <a:off x="20359687" y="22669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 flipH="1">
            <a:off x="19645312" y="28856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H="1" flipV="1">
            <a:off x="19288125" y="22669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 flipV="1">
            <a:off x="19288125" y="16482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>
            <a:off x="19645312" y="16482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20359687" y="16482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H="1">
            <a:off x="10715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 flipH="1">
            <a:off x="3571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H="1" flipV="1">
            <a:off x="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>
            <a:off x="3571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10715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H="1">
            <a:off x="25003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 flipH="1">
            <a:off x="17859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H="1" flipV="1">
            <a:off x="14287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14287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>
            <a:off x="17859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25003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H="1">
            <a:off x="3929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 flipH="1">
            <a:off x="3214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H="1" flipV="1">
            <a:off x="2857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 flipV="1">
            <a:off x="2857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>
            <a:off x="3214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3929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H="1">
            <a:off x="15359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H="1">
            <a:off x="14644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H="1" flipV="1">
            <a:off x="14287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 flipV="1">
            <a:off x="14287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14644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15359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H="1">
            <a:off x="167878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H="1">
            <a:off x="160734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H="1" flipV="1">
            <a:off x="157162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 flipV="1">
            <a:off x="157162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160734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167878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H="1">
            <a:off x="182165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H="1">
            <a:off x="175021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H="1" flipV="1">
            <a:off x="171450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 flipV="1">
            <a:off x="171450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>
            <a:off x="175021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182165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H="1">
            <a:off x="1964531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H="1">
            <a:off x="1893093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H="1" flipV="1">
            <a:off x="1857375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857375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893093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1964531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H="1">
            <a:off x="21074062" y="34956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H="1">
            <a:off x="20359687" y="41143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H="1" flipV="1">
            <a:off x="20002500" y="34956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 flipV="1">
            <a:off x="20002500" y="28770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>
            <a:off x="20359687" y="28770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21074062" y="28770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H="1">
            <a:off x="3571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H="1">
            <a:off x="-357187" y="53430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H="1" flipV="1">
            <a:off x="-714375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 flipV="1">
            <a:off x="-714375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>
            <a:off x="-357187" y="410573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3571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H="1">
            <a:off x="17859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H="1">
            <a:off x="10715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H="1" flipV="1">
            <a:off x="7143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 flipV="1">
            <a:off x="7143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>
            <a:off x="10715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7859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H="1">
            <a:off x="3214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H="1">
            <a:off x="2500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H="1" flipV="1">
            <a:off x="2143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 flipV="1">
            <a:off x="2143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500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14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H="1">
            <a:off x="14644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 flipH="1">
            <a:off x="13930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H="1" flipV="1">
            <a:off x="13573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 flipV="1">
            <a:off x="13573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>
            <a:off x="13930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14644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H="1">
            <a:off x="160734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 flipH="1">
            <a:off x="153590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H="1" flipV="1">
            <a:off x="150018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 flipV="1">
            <a:off x="150018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>
            <a:off x="153590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60734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H="1">
            <a:off x="175021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H="1">
            <a:off x="167878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H="1" flipV="1">
            <a:off x="164306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64306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>
            <a:off x="167878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3" name="Connector 312"/>
          <p:cNvCxnSpPr/>
          <p:nvPr/>
        </p:nvCxnSpPr>
        <p:spPr>
          <a:xfrm>
            <a:off x="175021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4" name="Connector 313"/>
          <p:cNvCxnSpPr/>
          <p:nvPr/>
        </p:nvCxnSpPr>
        <p:spPr>
          <a:xfrm flipH="1">
            <a:off x="1893093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5" name="Connector 314"/>
          <p:cNvCxnSpPr/>
          <p:nvPr/>
        </p:nvCxnSpPr>
        <p:spPr>
          <a:xfrm flipH="1">
            <a:off x="1821656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6" name="Connector 315"/>
          <p:cNvCxnSpPr/>
          <p:nvPr/>
        </p:nvCxnSpPr>
        <p:spPr>
          <a:xfrm flipH="1" flipV="1">
            <a:off x="1785937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7" name="Connector 316"/>
          <p:cNvCxnSpPr/>
          <p:nvPr/>
        </p:nvCxnSpPr>
        <p:spPr>
          <a:xfrm flipV="1">
            <a:off x="1785937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8" name="Connector 317"/>
          <p:cNvCxnSpPr/>
          <p:nvPr/>
        </p:nvCxnSpPr>
        <p:spPr>
          <a:xfrm>
            <a:off x="1821656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19" name="Connector 318"/>
          <p:cNvCxnSpPr/>
          <p:nvPr/>
        </p:nvCxnSpPr>
        <p:spPr>
          <a:xfrm>
            <a:off x="1893093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0" name="Connector 319"/>
          <p:cNvCxnSpPr/>
          <p:nvPr/>
        </p:nvCxnSpPr>
        <p:spPr>
          <a:xfrm flipH="1">
            <a:off x="20359687" y="47244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1" name="Connector 320"/>
          <p:cNvCxnSpPr/>
          <p:nvPr/>
        </p:nvCxnSpPr>
        <p:spPr>
          <a:xfrm flipH="1">
            <a:off x="19645312" y="53430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2" name="Connector 321"/>
          <p:cNvCxnSpPr/>
          <p:nvPr/>
        </p:nvCxnSpPr>
        <p:spPr>
          <a:xfrm flipH="1" flipV="1">
            <a:off x="19288125" y="47244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3" name="Connector 322"/>
          <p:cNvCxnSpPr/>
          <p:nvPr/>
        </p:nvCxnSpPr>
        <p:spPr>
          <a:xfrm flipV="1">
            <a:off x="19288125" y="41057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4" name="Connector 323"/>
          <p:cNvCxnSpPr/>
          <p:nvPr/>
        </p:nvCxnSpPr>
        <p:spPr>
          <a:xfrm>
            <a:off x="19645312" y="41057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5" name="Connector 324"/>
          <p:cNvCxnSpPr/>
          <p:nvPr/>
        </p:nvCxnSpPr>
        <p:spPr>
          <a:xfrm>
            <a:off x="20359687" y="41057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6" name="Connector 325"/>
          <p:cNvCxnSpPr/>
          <p:nvPr/>
        </p:nvCxnSpPr>
        <p:spPr>
          <a:xfrm flipH="1">
            <a:off x="10715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H="1">
            <a:off x="3571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 flipH="1" flipV="1">
            <a:off x="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29" name="Connector 328"/>
          <p:cNvCxnSpPr/>
          <p:nvPr/>
        </p:nvCxnSpPr>
        <p:spPr>
          <a:xfrm flipV="1">
            <a:off x="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0" name="Connector 329"/>
          <p:cNvCxnSpPr/>
          <p:nvPr/>
        </p:nvCxnSpPr>
        <p:spPr>
          <a:xfrm>
            <a:off x="3571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1" name="Connector 330"/>
          <p:cNvCxnSpPr/>
          <p:nvPr/>
        </p:nvCxnSpPr>
        <p:spPr>
          <a:xfrm>
            <a:off x="10715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2" name="Connector 331"/>
          <p:cNvCxnSpPr/>
          <p:nvPr/>
        </p:nvCxnSpPr>
        <p:spPr>
          <a:xfrm flipH="1">
            <a:off x="25003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3" name="Connector 332"/>
          <p:cNvCxnSpPr/>
          <p:nvPr/>
        </p:nvCxnSpPr>
        <p:spPr>
          <a:xfrm flipH="1">
            <a:off x="17859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4" name="Connector 333"/>
          <p:cNvCxnSpPr/>
          <p:nvPr/>
        </p:nvCxnSpPr>
        <p:spPr>
          <a:xfrm flipH="1" flipV="1">
            <a:off x="14287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5" name="Connector 334"/>
          <p:cNvCxnSpPr/>
          <p:nvPr/>
        </p:nvCxnSpPr>
        <p:spPr>
          <a:xfrm flipV="1">
            <a:off x="14287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6" name="Connector 335"/>
          <p:cNvCxnSpPr/>
          <p:nvPr/>
        </p:nvCxnSpPr>
        <p:spPr>
          <a:xfrm>
            <a:off x="17859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7" name="Connector 336"/>
          <p:cNvCxnSpPr/>
          <p:nvPr/>
        </p:nvCxnSpPr>
        <p:spPr>
          <a:xfrm>
            <a:off x="25003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8" name="Connector 337"/>
          <p:cNvCxnSpPr/>
          <p:nvPr/>
        </p:nvCxnSpPr>
        <p:spPr>
          <a:xfrm flipH="1">
            <a:off x="3929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39" name="Connector 338"/>
          <p:cNvCxnSpPr/>
          <p:nvPr/>
        </p:nvCxnSpPr>
        <p:spPr>
          <a:xfrm flipH="1">
            <a:off x="3214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0" name="Connector 339"/>
          <p:cNvCxnSpPr/>
          <p:nvPr/>
        </p:nvCxnSpPr>
        <p:spPr>
          <a:xfrm flipH="1" flipV="1">
            <a:off x="2857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2857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214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3" name="Connector 342"/>
          <p:cNvCxnSpPr/>
          <p:nvPr/>
        </p:nvCxnSpPr>
        <p:spPr>
          <a:xfrm>
            <a:off x="3929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4" name="Connector 343"/>
          <p:cNvCxnSpPr/>
          <p:nvPr/>
        </p:nvCxnSpPr>
        <p:spPr>
          <a:xfrm flipH="1">
            <a:off x="15359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5" name="Connector 344"/>
          <p:cNvCxnSpPr/>
          <p:nvPr/>
        </p:nvCxnSpPr>
        <p:spPr>
          <a:xfrm flipH="1">
            <a:off x="14644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6" name="Connector 345"/>
          <p:cNvCxnSpPr/>
          <p:nvPr/>
        </p:nvCxnSpPr>
        <p:spPr>
          <a:xfrm flipH="1" flipV="1">
            <a:off x="14287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7" name="Connector 346"/>
          <p:cNvCxnSpPr/>
          <p:nvPr/>
        </p:nvCxnSpPr>
        <p:spPr>
          <a:xfrm flipV="1">
            <a:off x="14287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8" name="Connector 347"/>
          <p:cNvCxnSpPr/>
          <p:nvPr/>
        </p:nvCxnSpPr>
        <p:spPr>
          <a:xfrm>
            <a:off x="14644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49" name="Connector 348"/>
          <p:cNvCxnSpPr/>
          <p:nvPr/>
        </p:nvCxnSpPr>
        <p:spPr>
          <a:xfrm>
            <a:off x="15359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0" name="Connector 349"/>
          <p:cNvCxnSpPr/>
          <p:nvPr/>
        </p:nvCxnSpPr>
        <p:spPr>
          <a:xfrm flipH="1">
            <a:off x="167878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1" name="Connector 350"/>
          <p:cNvCxnSpPr/>
          <p:nvPr/>
        </p:nvCxnSpPr>
        <p:spPr>
          <a:xfrm flipH="1">
            <a:off x="160734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2" name="Connector 351"/>
          <p:cNvCxnSpPr/>
          <p:nvPr/>
        </p:nvCxnSpPr>
        <p:spPr>
          <a:xfrm flipH="1" flipV="1">
            <a:off x="157162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3" name="Connector 352"/>
          <p:cNvCxnSpPr/>
          <p:nvPr/>
        </p:nvCxnSpPr>
        <p:spPr>
          <a:xfrm flipV="1">
            <a:off x="157162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4" name="Connector 353"/>
          <p:cNvCxnSpPr/>
          <p:nvPr/>
        </p:nvCxnSpPr>
        <p:spPr>
          <a:xfrm>
            <a:off x="160734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>
            <a:off x="167878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 flipH="1">
            <a:off x="182165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7" name="Connector 356"/>
          <p:cNvCxnSpPr/>
          <p:nvPr/>
        </p:nvCxnSpPr>
        <p:spPr>
          <a:xfrm flipH="1">
            <a:off x="175021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8" name="Connector 357"/>
          <p:cNvCxnSpPr/>
          <p:nvPr/>
        </p:nvCxnSpPr>
        <p:spPr>
          <a:xfrm flipH="1" flipV="1">
            <a:off x="171450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59" name="Connector 358"/>
          <p:cNvCxnSpPr/>
          <p:nvPr/>
        </p:nvCxnSpPr>
        <p:spPr>
          <a:xfrm flipV="1">
            <a:off x="171450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75021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82165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 flipH="1">
            <a:off x="1964531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H="1">
            <a:off x="1893093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H="1" flipV="1">
            <a:off x="1857375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5" name="Connector 364"/>
          <p:cNvCxnSpPr/>
          <p:nvPr/>
        </p:nvCxnSpPr>
        <p:spPr>
          <a:xfrm flipV="1">
            <a:off x="1857375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6" name="Connector 365"/>
          <p:cNvCxnSpPr/>
          <p:nvPr/>
        </p:nvCxnSpPr>
        <p:spPr>
          <a:xfrm>
            <a:off x="1893093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>
            <a:off x="1964531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 flipH="1">
            <a:off x="21074062" y="595312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H="1">
            <a:off x="20359687" y="657179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H="1" flipV="1">
            <a:off x="20002500" y="595312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1" name="Connector 370"/>
          <p:cNvCxnSpPr/>
          <p:nvPr/>
        </p:nvCxnSpPr>
        <p:spPr>
          <a:xfrm flipV="1">
            <a:off x="20002500" y="533445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2" name="Connector 371"/>
          <p:cNvCxnSpPr/>
          <p:nvPr/>
        </p:nvCxnSpPr>
        <p:spPr>
          <a:xfrm>
            <a:off x="20359687" y="533445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21074062" y="533445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H="1">
            <a:off x="3571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H="1">
            <a:off x="-357187" y="780051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H="1" flipV="1">
            <a:off x="-714375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7" name="Connector 376"/>
          <p:cNvCxnSpPr/>
          <p:nvPr/>
        </p:nvCxnSpPr>
        <p:spPr>
          <a:xfrm flipV="1">
            <a:off x="-714375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8" name="Connector 377"/>
          <p:cNvCxnSpPr/>
          <p:nvPr/>
        </p:nvCxnSpPr>
        <p:spPr>
          <a:xfrm>
            <a:off x="-357187" y="656318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79" name="Connector 378"/>
          <p:cNvCxnSpPr/>
          <p:nvPr/>
        </p:nvCxnSpPr>
        <p:spPr>
          <a:xfrm>
            <a:off x="3571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 flipH="1">
            <a:off x="17859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1" name="Connector 380"/>
          <p:cNvCxnSpPr/>
          <p:nvPr/>
        </p:nvCxnSpPr>
        <p:spPr>
          <a:xfrm flipH="1">
            <a:off x="10715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2" name="Connector 381"/>
          <p:cNvCxnSpPr/>
          <p:nvPr/>
        </p:nvCxnSpPr>
        <p:spPr>
          <a:xfrm flipH="1" flipV="1">
            <a:off x="7143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 flipV="1">
            <a:off x="7143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0715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17859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 flipH="1">
            <a:off x="3214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H="1">
            <a:off x="2500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H="1" flipV="1">
            <a:off x="2143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2143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2500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>
            <a:off x="3214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H="1">
            <a:off x="14644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H="1">
            <a:off x="13930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H="1" flipV="1">
            <a:off x="13573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 flipV="1">
            <a:off x="13573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930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14644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H="1">
            <a:off x="160734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H="1">
            <a:off x="153590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H="1" flipV="1">
            <a:off x="150018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1" name="Connector 400"/>
          <p:cNvCxnSpPr/>
          <p:nvPr/>
        </p:nvCxnSpPr>
        <p:spPr>
          <a:xfrm flipV="1">
            <a:off x="150018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2" name="Connector 401"/>
          <p:cNvCxnSpPr/>
          <p:nvPr/>
        </p:nvCxnSpPr>
        <p:spPr>
          <a:xfrm>
            <a:off x="153590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160734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 flipH="1">
            <a:off x="175021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H="1">
            <a:off x="167878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H="1" flipV="1">
            <a:off x="164306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7" name="Connector 406"/>
          <p:cNvCxnSpPr/>
          <p:nvPr/>
        </p:nvCxnSpPr>
        <p:spPr>
          <a:xfrm flipV="1">
            <a:off x="164306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8" name="Connector 407"/>
          <p:cNvCxnSpPr/>
          <p:nvPr/>
        </p:nvCxnSpPr>
        <p:spPr>
          <a:xfrm>
            <a:off x="167878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175021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 flipH="1">
            <a:off x="1893093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H="1">
            <a:off x="1821656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H="1" flipV="1">
            <a:off x="1785937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3" name="Connector 412"/>
          <p:cNvCxnSpPr/>
          <p:nvPr/>
        </p:nvCxnSpPr>
        <p:spPr>
          <a:xfrm flipV="1">
            <a:off x="1785937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4" name="Connector 413"/>
          <p:cNvCxnSpPr/>
          <p:nvPr/>
        </p:nvCxnSpPr>
        <p:spPr>
          <a:xfrm>
            <a:off x="1821656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1893093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 flipH="1">
            <a:off x="20359687" y="718185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H="1">
            <a:off x="19645312" y="780051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H="1" flipV="1">
            <a:off x="19288125" y="718185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19" name="Connector 418"/>
          <p:cNvCxnSpPr/>
          <p:nvPr/>
        </p:nvCxnSpPr>
        <p:spPr>
          <a:xfrm flipV="1">
            <a:off x="19288125" y="656318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0" name="Connector 419"/>
          <p:cNvCxnSpPr/>
          <p:nvPr/>
        </p:nvCxnSpPr>
        <p:spPr>
          <a:xfrm>
            <a:off x="19645312" y="656318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20359687" y="656318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H="1">
            <a:off x="1071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H="1">
            <a:off x="357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H="1" flipV="1">
            <a:off x="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5" name="Connector 424"/>
          <p:cNvCxnSpPr/>
          <p:nvPr/>
        </p:nvCxnSpPr>
        <p:spPr>
          <a:xfrm flipV="1">
            <a:off x="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6" name="Connector 425"/>
          <p:cNvCxnSpPr/>
          <p:nvPr/>
        </p:nvCxnSpPr>
        <p:spPr>
          <a:xfrm>
            <a:off x="357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1071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H="1">
            <a:off x="2500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H="1">
            <a:off x="1785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H="1" flipV="1">
            <a:off x="1428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1" name="Connector 430"/>
          <p:cNvCxnSpPr/>
          <p:nvPr/>
        </p:nvCxnSpPr>
        <p:spPr>
          <a:xfrm flipV="1">
            <a:off x="1428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2" name="Connector 431"/>
          <p:cNvCxnSpPr/>
          <p:nvPr/>
        </p:nvCxnSpPr>
        <p:spPr>
          <a:xfrm>
            <a:off x="1785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2500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H="1">
            <a:off x="3929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H="1">
            <a:off x="3214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H="1" flipV="1">
            <a:off x="2857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7" name="Connector 436"/>
          <p:cNvCxnSpPr/>
          <p:nvPr/>
        </p:nvCxnSpPr>
        <p:spPr>
          <a:xfrm flipV="1">
            <a:off x="2857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8" name="Connector 437"/>
          <p:cNvCxnSpPr/>
          <p:nvPr/>
        </p:nvCxnSpPr>
        <p:spPr>
          <a:xfrm>
            <a:off x="3214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3929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H="1">
            <a:off x="5357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H="1">
            <a:off x="4643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H="1" flipV="1">
            <a:off x="4286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3" name="Connector 442"/>
          <p:cNvCxnSpPr/>
          <p:nvPr/>
        </p:nvCxnSpPr>
        <p:spPr>
          <a:xfrm flipV="1">
            <a:off x="4286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4" name="Connector 443"/>
          <p:cNvCxnSpPr/>
          <p:nvPr/>
        </p:nvCxnSpPr>
        <p:spPr>
          <a:xfrm>
            <a:off x="4643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5357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H="1">
            <a:off x="6786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H="1">
            <a:off x="6072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H="1" flipV="1">
            <a:off x="5715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49" name="Connector 448"/>
          <p:cNvCxnSpPr/>
          <p:nvPr/>
        </p:nvCxnSpPr>
        <p:spPr>
          <a:xfrm flipV="1">
            <a:off x="5715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0" name="Connector 449"/>
          <p:cNvCxnSpPr/>
          <p:nvPr/>
        </p:nvCxnSpPr>
        <p:spPr>
          <a:xfrm>
            <a:off x="6072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6786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H="1">
            <a:off x="8215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H="1">
            <a:off x="7500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H="1" flipV="1">
            <a:off x="7143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5" name="Connector 454"/>
          <p:cNvCxnSpPr/>
          <p:nvPr/>
        </p:nvCxnSpPr>
        <p:spPr>
          <a:xfrm flipV="1">
            <a:off x="7143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6" name="Connector 455"/>
          <p:cNvCxnSpPr/>
          <p:nvPr/>
        </p:nvCxnSpPr>
        <p:spPr>
          <a:xfrm>
            <a:off x="7500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8215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H="1">
            <a:off x="9644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H="1">
            <a:off x="8929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H="1" flipV="1">
            <a:off x="8572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1" name="Connector 460"/>
          <p:cNvCxnSpPr/>
          <p:nvPr/>
        </p:nvCxnSpPr>
        <p:spPr>
          <a:xfrm flipV="1">
            <a:off x="8572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2" name="Connector 461"/>
          <p:cNvCxnSpPr/>
          <p:nvPr/>
        </p:nvCxnSpPr>
        <p:spPr>
          <a:xfrm>
            <a:off x="8929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3" name="Connector 462"/>
          <p:cNvCxnSpPr/>
          <p:nvPr/>
        </p:nvCxnSpPr>
        <p:spPr>
          <a:xfrm>
            <a:off x="9644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4" name="Connector 463"/>
          <p:cNvCxnSpPr/>
          <p:nvPr/>
        </p:nvCxnSpPr>
        <p:spPr>
          <a:xfrm flipH="1">
            <a:off x="11072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5" name="Connector 464"/>
          <p:cNvCxnSpPr/>
          <p:nvPr/>
        </p:nvCxnSpPr>
        <p:spPr>
          <a:xfrm flipH="1">
            <a:off x="10358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6" name="Connector 465"/>
          <p:cNvCxnSpPr/>
          <p:nvPr/>
        </p:nvCxnSpPr>
        <p:spPr>
          <a:xfrm flipH="1" flipV="1">
            <a:off x="10001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7" name="Connector 466"/>
          <p:cNvCxnSpPr/>
          <p:nvPr/>
        </p:nvCxnSpPr>
        <p:spPr>
          <a:xfrm flipV="1">
            <a:off x="10001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8" name="Connector 467"/>
          <p:cNvCxnSpPr/>
          <p:nvPr/>
        </p:nvCxnSpPr>
        <p:spPr>
          <a:xfrm>
            <a:off x="10358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69" name="Connector 468"/>
          <p:cNvCxnSpPr/>
          <p:nvPr/>
        </p:nvCxnSpPr>
        <p:spPr>
          <a:xfrm>
            <a:off x="11072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0" name="Connector 469"/>
          <p:cNvCxnSpPr/>
          <p:nvPr/>
        </p:nvCxnSpPr>
        <p:spPr>
          <a:xfrm flipH="1">
            <a:off x="12501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1" name="Connector 470"/>
          <p:cNvCxnSpPr/>
          <p:nvPr/>
        </p:nvCxnSpPr>
        <p:spPr>
          <a:xfrm flipH="1">
            <a:off x="11787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2" name="Connector 471"/>
          <p:cNvCxnSpPr/>
          <p:nvPr/>
        </p:nvCxnSpPr>
        <p:spPr>
          <a:xfrm flipH="1" flipV="1">
            <a:off x="11430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3" name="Connector 472"/>
          <p:cNvCxnSpPr/>
          <p:nvPr/>
        </p:nvCxnSpPr>
        <p:spPr>
          <a:xfrm flipV="1">
            <a:off x="11430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4" name="Connector 473"/>
          <p:cNvCxnSpPr/>
          <p:nvPr/>
        </p:nvCxnSpPr>
        <p:spPr>
          <a:xfrm>
            <a:off x="11787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5" name="Connector 474"/>
          <p:cNvCxnSpPr/>
          <p:nvPr/>
        </p:nvCxnSpPr>
        <p:spPr>
          <a:xfrm>
            <a:off x="12501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6" name="Connector 475"/>
          <p:cNvCxnSpPr/>
          <p:nvPr/>
        </p:nvCxnSpPr>
        <p:spPr>
          <a:xfrm flipH="1">
            <a:off x="13930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7" name="Connector 476"/>
          <p:cNvCxnSpPr/>
          <p:nvPr/>
        </p:nvCxnSpPr>
        <p:spPr>
          <a:xfrm flipH="1">
            <a:off x="13215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8" name="Connector 477"/>
          <p:cNvCxnSpPr/>
          <p:nvPr/>
        </p:nvCxnSpPr>
        <p:spPr>
          <a:xfrm flipH="1" flipV="1">
            <a:off x="12858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79" name="Connector 478"/>
          <p:cNvCxnSpPr/>
          <p:nvPr/>
        </p:nvCxnSpPr>
        <p:spPr>
          <a:xfrm flipV="1">
            <a:off x="12858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0" name="Connector 479"/>
          <p:cNvCxnSpPr/>
          <p:nvPr/>
        </p:nvCxnSpPr>
        <p:spPr>
          <a:xfrm>
            <a:off x="13215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3930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 flipH="1">
            <a:off x="15359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 flipH="1">
            <a:off x="14644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4" name="Connector 483"/>
          <p:cNvCxnSpPr/>
          <p:nvPr/>
        </p:nvCxnSpPr>
        <p:spPr>
          <a:xfrm flipH="1" flipV="1">
            <a:off x="14287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5" name="Connector 484"/>
          <p:cNvCxnSpPr/>
          <p:nvPr/>
        </p:nvCxnSpPr>
        <p:spPr>
          <a:xfrm flipV="1">
            <a:off x="14287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6" name="Connector 485"/>
          <p:cNvCxnSpPr/>
          <p:nvPr/>
        </p:nvCxnSpPr>
        <p:spPr>
          <a:xfrm>
            <a:off x="14644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7" name="Connector 486"/>
          <p:cNvCxnSpPr/>
          <p:nvPr/>
        </p:nvCxnSpPr>
        <p:spPr>
          <a:xfrm>
            <a:off x="15359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8" name="Connector 487"/>
          <p:cNvCxnSpPr/>
          <p:nvPr/>
        </p:nvCxnSpPr>
        <p:spPr>
          <a:xfrm flipH="1">
            <a:off x="167878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89" name="Connector 488"/>
          <p:cNvCxnSpPr/>
          <p:nvPr/>
        </p:nvCxnSpPr>
        <p:spPr>
          <a:xfrm flipH="1">
            <a:off x="160734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0" name="Connector 489"/>
          <p:cNvCxnSpPr/>
          <p:nvPr/>
        </p:nvCxnSpPr>
        <p:spPr>
          <a:xfrm flipH="1" flipV="1">
            <a:off x="157162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1" name="Connector 490"/>
          <p:cNvCxnSpPr/>
          <p:nvPr/>
        </p:nvCxnSpPr>
        <p:spPr>
          <a:xfrm flipV="1">
            <a:off x="157162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2" name="Connector 491"/>
          <p:cNvCxnSpPr/>
          <p:nvPr/>
        </p:nvCxnSpPr>
        <p:spPr>
          <a:xfrm>
            <a:off x="160734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>
            <a:off x="167878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H="1">
            <a:off x="182165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 flipH="1">
            <a:off x="175021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H="1" flipV="1">
            <a:off x="171450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71450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8" name="Connector 497"/>
          <p:cNvCxnSpPr/>
          <p:nvPr/>
        </p:nvCxnSpPr>
        <p:spPr>
          <a:xfrm>
            <a:off x="175021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499" name="Connector 498"/>
          <p:cNvCxnSpPr/>
          <p:nvPr/>
        </p:nvCxnSpPr>
        <p:spPr>
          <a:xfrm>
            <a:off x="182165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0" name="Connector 499"/>
          <p:cNvCxnSpPr/>
          <p:nvPr/>
        </p:nvCxnSpPr>
        <p:spPr>
          <a:xfrm flipH="1">
            <a:off x="1964531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1" name="Connector 500"/>
          <p:cNvCxnSpPr/>
          <p:nvPr/>
        </p:nvCxnSpPr>
        <p:spPr>
          <a:xfrm flipH="1">
            <a:off x="1893093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2" name="Connector 501"/>
          <p:cNvCxnSpPr/>
          <p:nvPr/>
        </p:nvCxnSpPr>
        <p:spPr>
          <a:xfrm flipH="1" flipV="1">
            <a:off x="1857375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3" name="Connector 502"/>
          <p:cNvCxnSpPr/>
          <p:nvPr/>
        </p:nvCxnSpPr>
        <p:spPr>
          <a:xfrm flipV="1">
            <a:off x="1857375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4" name="Connector 503"/>
          <p:cNvCxnSpPr/>
          <p:nvPr/>
        </p:nvCxnSpPr>
        <p:spPr>
          <a:xfrm>
            <a:off x="1893093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964531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 flipH="1">
            <a:off x="21074062" y="8410575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 flipH="1">
            <a:off x="20359687" y="9029241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H="1" flipV="1">
            <a:off x="20002500" y="8410575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20002500" y="7791908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0" name="Connector 509"/>
          <p:cNvCxnSpPr/>
          <p:nvPr/>
        </p:nvCxnSpPr>
        <p:spPr>
          <a:xfrm>
            <a:off x="20359687" y="7791908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1" name="Connector 510"/>
          <p:cNvCxnSpPr/>
          <p:nvPr/>
        </p:nvCxnSpPr>
        <p:spPr>
          <a:xfrm>
            <a:off x="21074062" y="7791908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 flipH="1">
            <a:off x="357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H="1">
            <a:off x="-357187" y="10257966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H="1" flipV="1">
            <a:off x="-714375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-714375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6" name="Connector 515"/>
          <p:cNvCxnSpPr/>
          <p:nvPr/>
        </p:nvCxnSpPr>
        <p:spPr>
          <a:xfrm>
            <a:off x="-357187" y="9020633"/>
            <a:ext cx="714374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7" name="Connector 516"/>
          <p:cNvCxnSpPr/>
          <p:nvPr/>
        </p:nvCxnSpPr>
        <p:spPr>
          <a:xfrm>
            <a:off x="357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8" name="Connector 517"/>
          <p:cNvCxnSpPr/>
          <p:nvPr/>
        </p:nvCxnSpPr>
        <p:spPr>
          <a:xfrm flipH="1">
            <a:off x="1785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19" name="Connector 518"/>
          <p:cNvCxnSpPr/>
          <p:nvPr/>
        </p:nvCxnSpPr>
        <p:spPr>
          <a:xfrm flipH="1">
            <a:off x="1071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0" name="Connector 519"/>
          <p:cNvCxnSpPr/>
          <p:nvPr/>
        </p:nvCxnSpPr>
        <p:spPr>
          <a:xfrm flipH="1" flipV="1">
            <a:off x="714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1" name="Connector 520"/>
          <p:cNvCxnSpPr/>
          <p:nvPr/>
        </p:nvCxnSpPr>
        <p:spPr>
          <a:xfrm flipV="1">
            <a:off x="714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2" name="Connector 521"/>
          <p:cNvCxnSpPr/>
          <p:nvPr/>
        </p:nvCxnSpPr>
        <p:spPr>
          <a:xfrm>
            <a:off x="1071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3" name="Connector 522"/>
          <p:cNvCxnSpPr/>
          <p:nvPr/>
        </p:nvCxnSpPr>
        <p:spPr>
          <a:xfrm>
            <a:off x="1785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4" name="Connector 523"/>
          <p:cNvCxnSpPr/>
          <p:nvPr/>
        </p:nvCxnSpPr>
        <p:spPr>
          <a:xfrm flipH="1">
            <a:off x="3214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5" name="Connector 524"/>
          <p:cNvCxnSpPr/>
          <p:nvPr/>
        </p:nvCxnSpPr>
        <p:spPr>
          <a:xfrm flipH="1">
            <a:off x="2500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6" name="Connector 525"/>
          <p:cNvCxnSpPr/>
          <p:nvPr/>
        </p:nvCxnSpPr>
        <p:spPr>
          <a:xfrm flipH="1" flipV="1">
            <a:off x="2143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7" name="Connector 526"/>
          <p:cNvCxnSpPr/>
          <p:nvPr/>
        </p:nvCxnSpPr>
        <p:spPr>
          <a:xfrm flipV="1">
            <a:off x="2143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8" name="Connector 527"/>
          <p:cNvCxnSpPr/>
          <p:nvPr/>
        </p:nvCxnSpPr>
        <p:spPr>
          <a:xfrm>
            <a:off x="2500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29" name="Connector 528"/>
          <p:cNvCxnSpPr/>
          <p:nvPr/>
        </p:nvCxnSpPr>
        <p:spPr>
          <a:xfrm>
            <a:off x="3214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0" name="Connector 529"/>
          <p:cNvCxnSpPr/>
          <p:nvPr/>
        </p:nvCxnSpPr>
        <p:spPr>
          <a:xfrm flipH="1">
            <a:off x="4643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1" name="Connector 530"/>
          <p:cNvCxnSpPr/>
          <p:nvPr/>
        </p:nvCxnSpPr>
        <p:spPr>
          <a:xfrm flipH="1">
            <a:off x="3929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2" name="Connector 531"/>
          <p:cNvCxnSpPr/>
          <p:nvPr/>
        </p:nvCxnSpPr>
        <p:spPr>
          <a:xfrm flipH="1" flipV="1">
            <a:off x="3571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3" name="Connector 532"/>
          <p:cNvCxnSpPr/>
          <p:nvPr/>
        </p:nvCxnSpPr>
        <p:spPr>
          <a:xfrm flipV="1">
            <a:off x="3571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4" name="Connector 533"/>
          <p:cNvCxnSpPr/>
          <p:nvPr/>
        </p:nvCxnSpPr>
        <p:spPr>
          <a:xfrm>
            <a:off x="3929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5" name="Connector 534"/>
          <p:cNvCxnSpPr/>
          <p:nvPr/>
        </p:nvCxnSpPr>
        <p:spPr>
          <a:xfrm>
            <a:off x="4643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6" name="Connector 535"/>
          <p:cNvCxnSpPr/>
          <p:nvPr/>
        </p:nvCxnSpPr>
        <p:spPr>
          <a:xfrm flipH="1">
            <a:off x="6072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7" name="Connector 536"/>
          <p:cNvCxnSpPr/>
          <p:nvPr/>
        </p:nvCxnSpPr>
        <p:spPr>
          <a:xfrm flipH="1">
            <a:off x="5357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8" name="Connector 537"/>
          <p:cNvCxnSpPr/>
          <p:nvPr/>
        </p:nvCxnSpPr>
        <p:spPr>
          <a:xfrm flipH="1" flipV="1">
            <a:off x="5000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39" name="Connector 538"/>
          <p:cNvCxnSpPr/>
          <p:nvPr/>
        </p:nvCxnSpPr>
        <p:spPr>
          <a:xfrm flipV="1">
            <a:off x="5000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0" name="Connector 539"/>
          <p:cNvCxnSpPr/>
          <p:nvPr/>
        </p:nvCxnSpPr>
        <p:spPr>
          <a:xfrm>
            <a:off x="5357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1" name="Connector 540"/>
          <p:cNvCxnSpPr/>
          <p:nvPr/>
        </p:nvCxnSpPr>
        <p:spPr>
          <a:xfrm>
            <a:off x="6072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2" name="Connector 541"/>
          <p:cNvCxnSpPr/>
          <p:nvPr/>
        </p:nvCxnSpPr>
        <p:spPr>
          <a:xfrm flipH="1">
            <a:off x="7500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3" name="Connector 542"/>
          <p:cNvCxnSpPr/>
          <p:nvPr/>
        </p:nvCxnSpPr>
        <p:spPr>
          <a:xfrm flipH="1">
            <a:off x="6786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4" name="Connector 543"/>
          <p:cNvCxnSpPr/>
          <p:nvPr/>
        </p:nvCxnSpPr>
        <p:spPr>
          <a:xfrm flipH="1" flipV="1">
            <a:off x="6429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5" name="Connector 544"/>
          <p:cNvCxnSpPr/>
          <p:nvPr/>
        </p:nvCxnSpPr>
        <p:spPr>
          <a:xfrm flipV="1">
            <a:off x="6429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6" name="Connector 545"/>
          <p:cNvCxnSpPr/>
          <p:nvPr/>
        </p:nvCxnSpPr>
        <p:spPr>
          <a:xfrm>
            <a:off x="6786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7" name="Connector 546"/>
          <p:cNvCxnSpPr/>
          <p:nvPr/>
        </p:nvCxnSpPr>
        <p:spPr>
          <a:xfrm>
            <a:off x="7500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8" name="Connector 547"/>
          <p:cNvCxnSpPr/>
          <p:nvPr/>
        </p:nvCxnSpPr>
        <p:spPr>
          <a:xfrm flipH="1">
            <a:off x="8929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49" name="Connector 548"/>
          <p:cNvCxnSpPr/>
          <p:nvPr/>
        </p:nvCxnSpPr>
        <p:spPr>
          <a:xfrm flipH="1">
            <a:off x="8215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0" name="Connector 549"/>
          <p:cNvCxnSpPr/>
          <p:nvPr/>
        </p:nvCxnSpPr>
        <p:spPr>
          <a:xfrm flipH="1" flipV="1">
            <a:off x="7858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1" name="Connector 550"/>
          <p:cNvCxnSpPr/>
          <p:nvPr/>
        </p:nvCxnSpPr>
        <p:spPr>
          <a:xfrm flipV="1">
            <a:off x="7858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2" name="Connector 551"/>
          <p:cNvCxnSpPr/>
          <p:nvPr/>
        </p:nvCxnSpPr>
        <p:spPr>
          <a:xfrm>
            <a:off x="8215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3" name="Connector 552"/>
          <p:cNvCxnSpPr/>
          <p:nvPr/>
        </p:nvCxnSpPr>
        <p:spPr>
          <a:xfrm>
            <a:off x="8929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4" name="Connector 553"/>
          <p:cNvCxnSpPr/>
          <p:nvPr/>
        </p:nvCxnSpPr>
        <p:spPr>
          <a:xfrm flipH="1">
            <a:off x="10358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5" name="Connector 554"/>
          <p:cNvCxnSpPr/>
          <p:nvPr/>
        </p:nvCxnSpPr>
        <p:spPr>
          <a:xfrm flipH="1">
            <a:off x="9644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6" name="Connector 555"/>
          <p:cNvCxnSpPr/>
          <p:nvPr/>
        </p:nvCxnSpPr>
        <p:spPr>
          <a:xfrm flipH="1" flipV="1">
            <a:off x="9286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7" name="Connector 556"/>
          <p:cNvCxnSpPr/>
          <p:nvPr/>
        </p:nvCxnSpPr>
        <p:spPr>
          <a:xfrm flipV="1">
            <a:off x="9286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8" name="Connector 557"/>
          <p:cNvCxnSpPr/>
          <p:nvPr/>
        </p:nvCxnSpPr>
        <p:spPr>
          <a:xfrm>
            <a:off x="9644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59" name="Connector 558"/>
          <p:cNvCxnSpPr/>
          <p:nvPr/>
        </p:nvCxnSpPr>
        <p:spPr>
          <a:xfrm>
            <a:off x="10358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0" name="Connector 559"/>
          <p:cNvCxnSpPr/>
          <p:nvPr/>
        </p:nvCxnSpPr>
        <p:spPr>
          <a:xfrm flipH="1">
            <a:off x="11787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1" name="Connector 560"/>
          <p:cNvCxnSpPr/>
          <p:nvPr/>
        </p:nvCxnSpPr>
        <p:spPr>
          <a:xfrm flipH="1">
            <a:off x="11072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2" name="Connector 561"/>
          <p:cNvCxnSpPr/>
          <p:nvPr/>
        </p:nvCxnSpPr>
        <p:spPr>
          <a:xfrm flipH="1" flipV="1">
            <a:off x="10715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3" name="Connector 562"/>
          <p:cNvCxnSpPr/>
          <p:nvPr/>
        </p:nvCxnSpPr>
        <p:spPr>
          <a:xfrm flipV="1">
            <a:off x="10715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4" name="Connector 563"/>
          <p:cNvCxnSpPr/>
          <p:nvPr/>
        </p:nvCxnSpPr>
        <p:spPr>
          <a:xfrm>
            <a:off x="11072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5" name="Connector 564"/>
          <p:cNvCxnSpPr/>
          <p:nvPr/>
        </p:nvCxnSpPr>
        <p:spPr>
          <a:xfrm>
            <a:off x="11787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6" name="Connector 565"/>
          <p:cNvCxnSpPr/>
          <p:nvPr/>
        </p:nvCxnSpPr>
        <p:spPr>
          <a:xfrm flipH="1">
            <a:off x="13215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7" name="Connector 566"/>
          <p:cNvCxnSpPr/>
          <p:nvPr/>
        </p:nvCxnSpPr>
        <p:spPr>
          <a:xfrm flipH="1">
            <a:off x="12501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8" name="Connector 567"/>
          <p:cNvCxnSpPr/>
          <p:nvPr/>
        </p:nvCxnSpPr>
        <p:spPr>
          <a:xfrm flipH="1" flipV="1">
            <a:off x="12144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69" name="Connector 568"/>
          <p:cNvCxnSpPr/>
          <p:nvPr/>
        </p:nvCxnSpPr>
        <p:spPr>
          <a:xfrm flipV="1">
            <a:off x="12144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0" name="Connector 569"/>
          <p:cNvCxnSpPr/>
          <p:nvPr/>
        </p:nvCxnSpPr>
        <p:spPr>
          <a:xfrm>
            <a:off x="12501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1" name="Connector 570"/>
          <p:cNvCxnSpPr/>
          <p:nvPr/>
        </p:nvCxnSpPr>
        <p:spPr>
          <a:xfrm>
            <a:off x="13215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2" name="Connector 571"/>
          <p:cNvCxnSpPr/>
          <p:nvPr/>
        </p:nvCxnSpPr>
        <p:spPr>
          <a:xfrm flipH="1">
            <a:off x="14644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3" name="Connector 572"/>
          <p:cNvCxnSpPr/>
          <p:nvPr/>
        </p:nvCxnSpPr>
        <p:spPr>
          <a:xfrm flipH="1">
            <a:off x="13930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4" name="Connector 573"/>
          <p:cNvCxnSpPr/>
          <p:nvPr/>
        </p:nvCxnSpPr>
        <p:spPr>
          <a:xfrm flipH="1" flipV="1">
            <a:off x="13573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5" name="Connector 574"/>
          <p:cNvCxnSpPr/>
          <p:nvPr/>
        </p:nvCxnSpPr>
        <p:spPr>
          <a:xfrm flipV="1">
            <a:off x="13573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6" name="Connector 575"/>
          <p:cNvCxnSpPr/>
          <p:nvPr/>
        </p:nvCxnSpPr>
        <p:spPr>
          <a:xfrm>
            <a:off x="13930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7" name="Connector 576"/>
          <p:cNvCxnSpPr/>
          <p:nvPr/>
        </p:nvCxnSpPr>
        <p:spPr>
          <a:xfrm>
            <a:off x="14644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8" name="Connector 577"/>
          <p:cNvCxnSpPr/>
          <p:nvPr/>
        </p:nvCxnSpPr>
        <p:spPr>
          <a:xfrm flipH="1">
            <a:off x="160734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79" name="Connector 578"/>
          <p:cNvCxnSpPr/>
          <p:nvPr/>
        </p:nvCxnSpPr>
        <p:spPr>
          <a:xfrm flipH="1">
            <a:off x="153590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0" name="Connector 579"/>
          <p:cNvCxnSpPr/>
          <p:nvPr/>
        </p:nvCxnSpPr>
        <p:spPr>
          <a:xfrm flipH="1" flipV="1">
            <a:off x="150018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1" name="Connector 580"/>
          <p:cNvCxnSpPr/>
          <p:nvPr/>
        </p:nvCxnSpPr>
        <p:spPr>
          <a:xfrm flipV="1">
            <a:off x="150018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2" name="Connector 581"/>
          <p:cNvCxnSpPr/>
          <p:nvPr/>
        </p:nvCxnSpPr>
        <p:spPr>
          <a:xfrm>
            <a:off x="153590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3" name="Connector 582"/>
          <p:cNvCxnSpPr/>
          <p:nvPr/>
        </p:nvCxnSpPr>
        <p:spPr>
          <a:xfrm>
            <a:off x="160734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4" name="Connector 583"/>
          <p:cNvCxnSpPr/>
          <p:nvPr/>
        </p:nvCxnSpPr>
        <p:spPr>
          <a:xfrm flipH="1">
            <a:off x="175021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5" name="Connector 584"/>
          <p:cNvCxnSpPr/>
          <p:nvPr/>
        </p:nvCxnSpPr>
        <p:spPr>
          <a:xfrm flipH="1">
            <a:off x="167878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6" name="Connector 585"/>
          <p:cNvCxnSpPr/>
          <p:nvPr/>
        </p:nvCxnSpPr>
        <p:spPr>
          <a:xfrm flipH="1" flipV="1">
            <a:off x="164306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7" name="Connector 586"/>
          <p:cNvCxnSpPr/>
          <p:nvPr/>
        </p:nvCxnSpPr>
        <p:spPr>
          <a:xfrm flipV="1">
            <a:off x="164306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8" name="Connector 587"/>
          <p:cNvCxnSpPr/>
          <p:nvPr/>
        </p:nvCxnSpPr>
        <p:spPr>
          <a:xfrm>
            <a:off x="167878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89" name="Connector 588"/>
          <p:cNvCxnSpPr/>
          <p:nvPr/>
        </p:nvCxnSpPr>
        <p:spPr>
          <a:xfrm>
            <a:off x="175021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0" name="Connector 589"/>
          <p:cNvCxnSpPr/>
          <p:nvPr/>
        </p:nvCxnSpPr>
        <p:spPr>
          <a:xfrm flipH="1">
            <a:off x="1893093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1" name="Connector 590"/>
          <p:cNvCxnSpPr/>
          <p:nvPr/>
        </p:nvCxnSpPr>
        <p:spPr>
          <a:xfrm flipH="1">
            <a:off x="1821656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2" name="Connector 591"/>
          <p:cNvCxnSpPr/>
          <p:nvPr/>
        </p:nvCxnSpPr>
        <p:spPr>
          <a:xfrm flipH="1" flipV="1">
            <a:off x="1785937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3" name="Connector 592"/>
          <p:cNvCxnSpPr/>
          <p:nvPr/>
        </p:nvCxnSpPr>
        <p:spPr>
          <a:xfrm flipV="1">
            <a:off x="1785937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4" name="Connector 593"/>
          <p:cNvCxnSpPr/>
          <p:nvPr/>
        </p:nvCxnSpPr>
        <p:spPr>
          <a:xfrm>
            <a:off x="1821656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5" name="Connector 594"/>
          <p:cNvCxnSpPr/>
          <p:nvPr/>
        </p:nvCxnSpPr>
        <p:spPr>
          <a:xfrm>
            <a:off x="1893093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6" name="Connector 595"/>
          <p:cNvCxnSpPr/>
          <p:nvPr/>
        </p:nvCxnSpPr>
        <p:spPr>
          <a:xfrm flipH="1">
            <a:off x="20359687" y="9639300"/>
            <a:ext cx="357188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7" name="Connector 596"/>
          <p:cNvCxnSpPr/>
          <p:nvPr/>
        </p:nvCxnSpPr>
        <p:spPr>
          <a:xfrm flipH="1">
            <a:off x="19645312" y="10257966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8" name="Connector 597"/>
          <p:cNvCxnSpPr/>
          <p:nvPr/>
        </p:nvCxnSpPr>
        <p:spPr>
          <a:xfrm flipH="1" flipV="1">
            <a:off x="19288125" y="9639300"/>
            <a:ext cx="357187" cy="618666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599" name="Connector 598"/>
          <p:cNvCxnSpPr/>
          <p:nvPr/>
        </p:nvCxnSpPr>
        <p:spPr>
          <a:xfrm flipV="1">
            <a:off x="19288125" y="9020633"/>
            <a:ext cx="357187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00" name="Connector 599"/>
          <p:cNvCxnSpPr/>
          <p:nvPr/>
        </p:nvCxnSpPr>
        <p:spPr>
          <a:xfrm>
            <a:off x="19645312" y="9020633"/>
            <a:ext cx="714375" cy="0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cxnSp>
        <p:nvCxnSpPr>
          <p:cNvPr id="601" name="Connector 600"/>
          <p:cNvCxnSpPr/>
          <p:nvPr/>
        </p:nvCxnSpPr>
        <p:spPr>
          <a:xfrm>
            <a:off x="20359687" y="9020633"/>
            <a:ext cx="357188" cy="618667"/>
          </a:xfrm>
          <a:prstGeom prst="line">
            <a:avLst/>
          </a:prstGeom>
          <a:ln w="7620">
            <a:solidFill>
              <a:srgbClr val="173653"/>
            </a:solidFill>
          </a:ln>
          <a:effectLst/>
        </p:spPr>
      </p:cxnSp>
      <p:sp>
        <p:nvSpPr>
          <p:cNvPr id="602" name="TextBox 601"/>
          <p:cNvSpPr txBox="1"/>
          <p:nvPr/>
        </p:nvSpPr>
        <p:spPr>
          <a:xfrm>
            <a:off x="952500" y="2000250"/>
            <a:ext cx="163830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81B6CB"/>
                </a:solidFill>
                <a:latin typeface="DejaVu Sans"/>
                <a:ea typeface="Noto Sans CJK SC"/>
              </a:rPr>
              <a:t>COMPETENCY-BASED TALENT STANDARDS</a:t>
            </a:r>
          </a:p>
        </p:txBody>
      </p:sp>
      <p:sp>
        <p:nvSpPr>
          <p:cNvPr id="603" name="Rectangle 602"/>
          <p:cNvSpPr/>
          <p:nvPr/>
        </p:nvSpPr>
        <p:spPr>
          <a:xfrm>
            <a:off x="8572500" y="2857500"/>
            <a:ext cx="1143000" cy="476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1905000" y="3524250"/>
            <a:ext cx="14478000" cy="1762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基于胜任力模型的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先进制造业人才标准框架与体系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2381250" y="5619750"/>
            <a:ext cx="1352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0A6A6"/>
                </a:solidFill>
                <a:latin typeface="Noto Sans CJK SC"/>
                <a:ea typeface="Noto Sans CJK SC"/>
              </a:rPr>
              <a:t>立白科技调研座谈会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905000" y="7810499"/>
            <a:ext cx="14478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D1DBE4"/>
                </a:solidFill>
                <a:latin typeface="Noto Sans CJK SC"/>
                <a:ea typeface="Noto Sans CJK SC"/>
              </a:rPr>
              <a:t>广东工业大学管理学院  |  粤来粤好队  |  汇报人：罗琳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1905000" y="8334375"/>
            <a:ext cx="14478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D1DBE4"/>
                </a:solidFill>
                <a:latin typeface="Noto Sans CJK SC"/>
                <a:ea typeface="Noto Sans CJK SC"/>
              </a:rPr>
              <a:t>2026年10月09日</a:t>
            </a:r>
          </a:p>
        </p:txBody>
      </p:sp>
      <p:pic>
        <p:nvPicPr>
          <p:cNvPr id="608" name="Picture 607" descr="exec-7ea0c041-660a-4e39-951e-eb2d527afb9f.png"/>
          <p:cNvPicPr>
            <a:picLocks noChangeAspect="1"/>
          </p:cNvPicPr>
          <p:nvPr/>
        </p:nvPicPr>
        <p:blipFill>
          <a:blip r:embed="rId3"/>
          <a:srcRect l="55000" r="8300" t="3400" b="3800"/>
          <a:stretch>
            <a:fillRect/>
          </a:stretch>
        </p:blipFill>
        <p:spPr>
          <a:xfrm>
            <a:off x="15659100" y="8772525"/>
            <a:ext cx="609600" cy="609600"/>
          </a:xfrm>
          <a:prstGeom prst="rect">
            <a:avLst/>
          </a:prstGeom>
        </p:spPr>
      </p:pic>
      <p:pic>
        <p:nvPicPr>
          <p:cNvPr id="609" name="Picture 608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573500" y="8772525"/>
            <a:ext cx="609600" cy="609600"/>
          </a:xfrm>
          <a:prstGeom prst="rect">
            <a:avLst/>
          </a:prstGeom>
        </p:spPr>
      </p:pic>
      <p:sp>
        <p:nvSpPr>
          <p:cNvPr id="610" name="TextBox 609"/>
          <p:cNvSpPr txBox="1"/>
          <p:nvPr/>
        </p:nvSpPr>
        <p:spPr>
          <a:xfrm>
            <a:off x="13430250" y="9553575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EC1D0"/>
                </a:solidFill>
                <a:latin typeface="Noto Sans CJK SC"/>
                <a:ea typeface="Noto Sans CJK SC"/>
              </a:rPr>
              <a:t>先进制造业人才标准 | 01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60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500"/>
                      <p:tgtEl>
                        <p:spTgt spid="60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60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500"/>
                      <p:tgtEl>
                        <p:spTgt spid="604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60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500"/>
                      <p:tgtEl>
                        <p:spTgt spid="605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60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500"/>
                      <p:tgtEl>
                        <p:spTgt spid="60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会议目标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介绍模型、请您验证，共同判断模型是否成立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分类是否合理 · 行为是否可评 · 标准是否适配立白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02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525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3048000"/>
            <a:ext cx="28575" cy="2190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266825" y="3305175"/>
            <a:ext cx="14287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409700" y="3305175"/>
            <a:ext cx="47625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457325" y="3352800"/>
            <a:ext cx="0" cy="2190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H="1">
            <a:off x="1266825" y="3571875"/>
            <a:ext cx="1905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1266825" y="3305175"/>
            <a:ext cx="0" cy="2667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1409700" y="330517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09700" y="3352800"/>
            <a:ext cx="4762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304925" y="340995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1304925" y="346710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1304925" y="352425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16954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介绍模型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怎么来 · 为什么这样分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一页看清整体框架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32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53200" y="3048000"/>
            <a:ext cx="28575" cy="2190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19900" y="3305175"/>
            <a:ext cx="266700" cy="2667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77050" y="3438525"/>
            <a:ext cx="57150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6934200" y="3381375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72961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请您验证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08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分类 · 能力 · 分级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差异 · 总图 · 缺失项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153900" y="3048000"/>
            <a:ext cx="5181600" cy="2190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53900" y="3048000"/>
            <a:ext cx="28575" cy="2190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496800" y="3305175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439650" y="3524250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12439650" y="3476625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12496800" y="3476625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2611100" y="3476625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2668250" y="3524250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128968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提供反馈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015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现场评分 + 实际案例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佐证判断 + 修改建议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" y="5953125"/>
            <a:ext cx="1638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0B2A4A"/>
                </a:solidFill>
                <a:latin typeface="Noto Sans CJK SC"/>
                <a:ea typeface="Noto Sans CJK SC"/>
              </a:rPr>
              <a:t>专家经验是校准器，真实岗位是检验场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2500" y="7429500"/>
            <a:ext cx="16383000" cy="12573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0625" y="7610474"/>
            <a:ext cx="2952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现场评分结构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2912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291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分类  1—5分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96050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605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能力  1—5分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6297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297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分级  1—5分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29900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2990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差异  1—5分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696825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6968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总图  1—5分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63749" y="7667624"/>
            <a:ext cx="1838324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63749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缺失项  1—5分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90625" y="814387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每项附案例与修改建议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3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0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4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41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产业痛点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人才标准成为竞争变量，四类瓶颈需要系统回应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03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2762250"/>
            <a:ext cx="5905500" cy="5048250"/>
          </a:xfrm>
          <a:prstGeom prst="roundRect">
            <a:avLst>
              <a:gd name="adj" fmla="val 12000"/>
            </a:avLst>
          </a:prstGeom>
          <a:solidFill>
            <a:srgbClr val="ED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8737" y="3352800"/>
            <a:ext cx="114300" cy="114300"/>
          </a:xfrm>
          <a:prstGeom prst="ellipse">
            <a:avLst/>
          </a:prstGeom>
          <a:noFill/>
          <a:ln w="1905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43062" y="3352800"/>
            <a:ext cx="114300" cy="114300"/>
          </a:xfrm>
          <a:prstGeom prst="ellipse">
            <a:avLst/>
          </a:prstGeom>
          <a:noFill/>
          <a:ln w="1905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443037" y="3409950"/>
            <a:ext cx="200025" cy="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571625" y="3352800"/>
            <a:ext cx="71437" cy="5715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1571625" y="3409950"/>
            <a:ext cx="71437" cy="5715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1314450" y="3933824"/>
            <a:ext cx="495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技术迭代加速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人才能力同步重构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5381625"/>
            <a:ext cx="495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从“岗位有人”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走向“能力匹配”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标准连接需求、评价与培养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010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请立白专家：选出最突出的一项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2762250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9500" y="2762250"/>
            <a:ext cx="28575" cy="24098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3019425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715250" y="3238500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715250" y="3190875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7772400" y="3190875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7886700" y="3190875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7943850" y="3238500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81724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关键人才不足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1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高端领军 · 核心技术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供给速度跟不上业务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496800" y="2762250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496800" y="2762250"/>
            <a:ext cx="28575" cy="24098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773025" y="3267075"/>
            <a:ext cx="2476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12773025" y="3028950"/>
            <a:ext cx="0" cy="2381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2830175" y="3171825"/>
            <a:ext cx="0" cy="762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12906375" y="3105150"/>
            <a:ext cx="0" cy="1428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2982575" y="3048000"/>
            <a:ext cx="0" cy="2000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32397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能力结构错配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444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岗位升级 · 技能滞后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数字能力与工艺脱节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5400675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29500" y="5400675"/>
            <a:ext cx="28575" cy="24098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96199" y="5657850"/>
            <a:ext cx="266700" cy="2667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753349" y="5791200"/>
            <a:ext cx="57150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10499" y="5734050"/>
            <a:ext cx="104776" cy="1143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81724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评价依据不足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771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重学历资历 · 轻行为证据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绩效与能力缺少连接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496800" y="5400675"/>
            <a:ext cx="4838700" cy="240982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2496800" y="5400675"/>
            <a:ext cx="28575" cy="24098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753975" y="57531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963525" y="57531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2830175" y="5791200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2915900" y="57531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2915900" y="57912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32397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培养对接不足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444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课程更新慢 · 实践不足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培养到上岗存在断层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2500" y="824865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2500" y="8248650"/>
            <a:ext cx="47625" cy="619125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9200" y="8296274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用可观察、可评价的行为标准，连接“选、育、用、留”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5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研究设计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339,694 条招聘信息与五类方法，共同支撑建模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招聘文本、访谈与专家意见交叉验证，形成初始模型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04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1247775" y="3000375"/>
            <a:ext cx="14287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1390650" y="3000375"/>
            <a:ext cx="47625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1438275" y="3048000"/>
            <a:ext cx="0" cy="2190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 flipH="1">
            <a:off x="1247775" y="3267075"/>
            <a:ext cx="1905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1247775" y="3000375"/>
            <a:ext cx="0" cy="2667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1390650" y="300037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1390650" y="3048000"/>
            <a:ext cx="4762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1285875" y="310515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285875" y="316230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285875" y="321945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1743075" y="28098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文献研究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3075" y="33051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理论与政策依据</a:t>
            </a:r>
          </a:p>
        </p:txBody>
      </p:sp>
      <p:sp>
        <p:nvSpPr>
          <p:cNvPr id="22" name="Oval 21"/>
          <p:cNvSpPr/>
          <p:nvPr/>
        </p:nvSpPr>
        <p:spPr>
          <a:xfrm>
            <a:off x="1276350" y="4000500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19200" y="421957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219200" y="4171950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276350" y="417195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390650" y="4171950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447800" y="421957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1743075" y="381000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行为事件访谈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43075" y="430530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高绩效行为与真实任务</a:t>
            </a:r>
          </a:p>
        </p:txBody>
      </p:sp>
      <p:sp>
        <p:nvSpPr>
          <p:cNvPr id="30" name="Oval 29"/>
          <p:cNvSpPr/>
          <p:nvPr/>
        </p:nvSpPr>
        <p:spPr>
          <a:xfrm>
            <a:off x="1200150" y="5000625"/>
            <a:ext cx="266700" cy="2667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257300" y="5133975"/>
            <a:ext cx="57150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314450" y="5076825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1743075" y="481012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德尔菲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075" y="530542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多轮专家判断与修订</a:t>
            </a:r>
          </a:p>
        </p:txBody>
      </p:sp>
      <p:sp>
        <p:nvSpPr>
          <p:cNvPr id="35" name="Oval 34"/>
          <p:cNvSpPr/>
          <p:nvPr/>
        </p:nvSpPr>
        <p:spPr>
          <a:xfrm>
            <a:off x="1190625" y="60960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0175" y="60960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266825" y="6134100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352550" y="60960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1352550" y="61341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1743075" y="581025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比较分析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43075" y="630555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共性识别与产业差异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09675" y="7248525"/>
            <a:ext cx="2476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1209675" y="7010400"/>
            <a:ext cx="0" cy="2381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266825" y="7153275"/>
            <a:ext cx="0" cy="762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43025" y="7086600"/>
            <a:ext cx="0" cy="1428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419225" y="7029450"/>
            <a:ext cx="0" cy="2000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743075" y="68103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大数据分析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43075" y="73056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招聘表达与要素提取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72500" y="2762250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39200" y="285750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339,694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58250" y="370932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有效招聘信息 · 总样本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72500" y="4562475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39200" y="4657725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290,635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58250" y="5509545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新型先进制造业 · 85.6%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72500" y="6362700"/>
            <a:ext cx="8763000" cy="15525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39200" y="645795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49,059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58250" y="730977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旧型先进制造业 · 14.4%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2500" y="8381999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2500" y="8381999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19200" y="8429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同类内部看排序：新型偏技术创新，旧型操作岗偏沟通表达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52500" y="9144000"/>
            <a:ext cx="16383000" cy="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sp>
        <p:nvSpPr>
          <p:cNvPr id="62" name="Oval 61"/>
          <p:cNvSpPr/>
          <p:nvPr/>
        </p:nvSpPr>
        <p:spPr>
          <a:xfrm>
            <a:off x="17268825" y="9077325"/>
            <a:ext cx="133350" cy="13335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3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4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40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编码过程 · Ⅰ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独立编码与分歧裁定，让每项能力可追溯、可复核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05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809875"/>
            <a:ext cx="723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条目 × 要素，形成编码矩阵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500" y="3638550"/>
            <a:ext cx="7524749" cy="1123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7814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4550" y="37242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0B2A4A"/>
                </a:solidFill>
                <a:latin typeface="DejaVu Sans"/>
                <a:ea typeface="Noto Sans CJK SC"/>
              </a:rPr>
              <a:t>12,416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9350" y="38576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能力条目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500" y="5010150"/>
            <a:ext cx="7524749" cy="1123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1530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4550" y="50958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0B2A4A"/>
                </a:solidFill>
                <a:latin typeface="DejaVu Sans"/>
                <a:ea typeface="Noto Sans CJK SC"/>
              </a:rPr>
              <a:t>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9350" y="52292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初始要素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" y="6381750"/>
            <a:ext cx="7524749" cy="1123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9200" y="65246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14550" y="64674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0B2A4A"/>
                </a:solidFill>
                <a:latin typeface="DejaVu Sans"/>
                <a:ea typeface="Noto Sans CJK SC"/>
              </a:rPr>
              <a:t>1,117,440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9350" y="66008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编码单元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63050" y="3086100"/>
            <a:ext cx="0" cy="4819650"/>
          </a:xfrm>
          <a:prstGeom prst="line">
            <a:avLst/>
          </a:prstGeom>
          <a:ln w="12700">
            <a:solidFill>
              <a:srgbClr val="E1E5EA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10001250" y="3048000"/>
            <a:ext cx="73342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Kappa · 编码一致性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4575" y="3581400"/>
            <a:ext cx="7400925" cy="1285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6200" b="1">
                <a:solidFill>
                  <a:srgbClr val="F58220"/>
                </a:solidFill>
                <a:latin typeface="DejaVu Sans"/>
                <a:ea typeface="Noto Sans CJK SC"/>
              </a:rPr>
              <a:t>0.900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1250" y="5172075"/>
            <a:ext cx="73342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666666"/>
                </a:solidFill>
                <a:latin typeface="DejaVu Sans"/>
                <a:ea typeface="Noto Sans CJK SC"/>
              </a:rPr>
              <a:t>Po 0.9979     /     Pe 0.9787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01250" y="6096000"/>
            <a:ext cx="7334250" cy="0"/>
          </a:xfrm>
          <a:prstGeom prst="line">
            <a:avLst/>
          </a:prstGeom>
          <a:ln w="12700">
            <a:solidFill>
              <a:srgbClr val="E1E5EA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10001250" y="6496050"/>
            <a:ext cx="333375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300" b="1">
                <a:solidFill>
                  <a:srgbClr val="0B2A4A"/>
                </a:solidFill>
                <a:latin typeface="DejaVu Sans"/>
                <a:ea typeface="Noto Sans CJK SC"/>
              </a:rPr>
              <a:t>2,376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1250" y="7343775"/>
            <a:ext cx="33337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对分歧 · 第三人裁定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06500" y="6496050"/>
            <a:ext cx="333375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300" b="1">
                <a:solidFill>
                  <a:srgbClr val="0B2A4A"/>
                </a:solidFill>
                <a:latin typeface="DejaVu Sans"/>
                <a:ea typeface="Noto Sans CJK SC"/>
              </a:rPr>
              <a:t>11,377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06500" y="7343775"/>
            <a:ext cx="33337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对最终命中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BA5AF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7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编码过程 · Ⅱ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三轮收敛聚焦关键要素，三层框架区分适用范围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06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790825"/>
            <a:ext cx="752474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要素收敛 · 从 90 项到 73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2790825"/>
            <a:ext cx="74295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适用范围 · 通用、产业、岗位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24000" y="3695700"/>
            <a:ext cx="6381750" cy="1257300"/>
          </a:xfrm>
          <a:custGeom>
            <a:avLst/>
            <a:gdLst/>
            <a:ahLst/>
            <a:cxnLst/>
            <a:rect l="l" t="t" r="r" b="b"/>
            <a:pathLst>
              <a:path w="670" h="132">
                <a:moveTo>
                  <a:pt x="0" y="0"/>
                </a:moveTo>
                <a:lnTo>
                  <a:pt x="670" y="0"/>
                </a:lnTo>
                <a:lnTo>
                  <a:pt x="626" y="132"/>
                </a:lnTo>
                <a:lnTo>
                  <a:pt x="44" y="132"/>
                </a:lnTo>
                <a:close/>
              </a:path>
            </a:pathLst>
          </a:custGeom>
          <a:solidFill>
            <a:srgbClr val="D7E9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8300" y="3762374"/>
            <a:ext cx="6153150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B2A4A"/>
                </a:solidFill>
                <a:latin typeface="DejaVu Sans"/>
                <a:ea typeface="Noto Sans CJK SC"/>
              </a:rPr>
              <a:t>90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913" y="4451350"/>
            <a:ext cx="5475922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初始要素池</a:t>
            </a:r>
          </a:p>
        </p:txBody>
      </p:sp>
      <p:sp>
        <p:nvSpPr>
          <p:cNvPr id="14" name="Freeform 13"/>
          <p:cNvSpPr/>
          <p:nvPr/>
        </p:nvSpPr>
        <p:spPr>
          <a:xfrm>
            <a:off x="1943100" y="5048250"/>
            <a:ext cx="5543550" cy="1247775"/>
          </a:xfrm>
          <a:custGeom>
            <a:avLst/>
            <a:gdLst/>
            <a:ahLst/>
            <a:cxnLst/>
            <a:rect l="l" t="t" r="r" b="b"/>
            <a:pathLst>
              <a:path w="582" h="131">
                <a:moveTo>
                  <a:pt x="0" y="0"/>
                </a:moveTo>
                <a:lnTo>
                  <a:pt x="582" y="0"/>
                </a:lnTo>
                <a:lnTo>
                  <a:pt x="539" y="131"/>
                </a:lnTo>
                <a:lnTo>
                  <a:pt x="43" y="131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3113" y="5111750"/>
            <a:ext cx="5323522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剔除 17 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1727" y="5800725"/>
            <a:ext cx="4646295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同义整理 · 低频剔除 · 结构收敛</a:t>
            </a:r>
          </a:p>
        </p:txBody>
      </p:sp>
      <p:sp>
        <p:nvSpPr>
          <p:cNvPr id="17" name="Freeform 16"/>
          <p:cNvSpPr/>
          <p:nvPr/>
        </p:nvSpPr>
        <p:spPr>
          <a:xfrm>
            <a:off x="2352675" y="6391275"/>
            <a:ext cx="4724400" cy="1257300"/>
          </a:xfrm>
          <a:custGeom>
            <a:avLst/>
            <a:gdLst/>
            <a:ahLst/>
            <a:cxnLst/>
            <a:rect l="l" t="t" r="r" b="b"/>
            <a:pathLst>
              <a:path w="496" h="132">
                <a:moveTo>
                  <a:pt x="0" y="0"/>
                </a:moveTo>
                <a:lnTo>
                  <a:pt x="496" y="0"/>
                </a:lnTo>
                <a:lnTo>
                  <a:pt x="452" y="132"/>
                </a:lnTo>
                <a:lnTo>
                  <a:pt x="44" y="132"/>
                </a:lnTo>
                <a:close/>
              </a:path>
            </a:pathLst>
          </a:cu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7927" y="6461124"/>
            <a:ext cx="4493895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保留 73 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6541" y="7150099"/>
            <a:ext cx="3816667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聚焦关键要素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63050" y="3476625"/>
            <a:ext cx="0" cy="4581525"/>
          </a:xfrm>
          <a:prstGeom prst="line">
            <a:avLst/>
          </a:prstGeom>
          <a:ln w="12700">
            <a:solidFill>
              <a:srgbClr val="E1E5EA"/>
            </a:solidFill>
          </a:ln>
          <a:effectLst/>
        </p:spPr>
      </p:cxnSp>
      <p:sp>
        <p:nvSpPr>
          <p:cNvPr id="21" name="Oval 20"/>
          <p:cNvSpPr/>
          <p:nvPr/>
        </p:nvSpPr>
        <p:spPr>
          <a:xfrm>
            <a:off x="11582400" y="3686175"/>
            <a:ext cx="4076699" cy="4076699"/>
          </a:xfrm>
          <a:prstGeom prst="ellipse">
            <a:avLst/>
          </a:prstGeom>
          <a:solidFill>
            <a:srgbClr val="D7E9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193905" y="4297680"/>
            <a:ext cx="2853690" cy="285369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805410" y="4909184"/>
            <a:ext cx="1630680" cy="163068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25793" y="5438775"/>
            <a:ext cx="15899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5822" y="4419980"/>
            <a:ext cx="26498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 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0069" y="7151370"/>
            <a:ext cx="326136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6000" y="8001000"/>
            <a:ext cx="74295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22 + 48 + 20 = 90 · 候选要素分层</a:t>
            </a:r>
          </a:p>
        </p:txBody>
      </p:sp>
      <p:sp>
        <p:nvSpPr>
          <p:cNvPr id="28" name="Oval 27"/>
          <p:cNvSpPr/>
          <p:nvPr/>
        </p:nvSpPr>
        <p:spPr>
          <a:xfrm>
            <a:off x="2149078" y="8149828"/>
            <a:ext cx="216693" cy="216693"/>
          </a:xfrm>
          <a:prstGeom prst="ellipse">
            <a:avLst/>
          </a:prstGeom>
          <a:noFill/>
          <a:ln w="1905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195512" y="8258175"/>
            <a:ext cx="46434" cy="46434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241946" y="8211740"/>
            <a:ext cx="85130" cy="92869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2533650" y="8039099"/>
            <a:ext cx="5381625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0B2A4A"/>
                </a:solidFill>
                <a:latin typeface="Noto Sans CJK SC"/>
                <a:ea typeface="Noto Sans CJK SC"/>
              </a:rPr>
              <a:t>90 行单调性校验通过 · 无倒挂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BA5AF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产业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技术内核不同，能力要求需要差异化配置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07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2857500"/>
            <a:ext cx="8001000" cy="485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7787" y="3457575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62112" y="3457575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462087" y="3514725"/>
            <a:ext cx="20002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590675" y="3457575"/>
            <a:ext cx="71437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1590675" y="3514725"/>
            <a:ext cx="71437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2038349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新型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Noto Sans CJK SC"/>
                <a:ea typeface="Noto Sans CJK SC"/>
              </a:rPr>
              <a:t>数字与信息技术内核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信息技术 · 自动化 · 软件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传感 · 网络 · 系统整合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数字化 · 跨领域协同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2857500"/>
            <a:ext cx="8001000" cy="4857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29787" y="3457575"/>
            <a:ext cx="114300" cy="114300"/>
          </a:xfrm>
          <a:prstGeom prst="ellipse">
            <a:avLst/>
          </a:prstGeom>
          <a:noFill/>
          <a:ln w="1905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44112" y="3457575"/>
            <a:ext cx="114300" cy="114300"/>
          </a:xfrm>
          <a:prstGeom prst="ellipse">
            <a:avLst/>
          </a:prstGeom>
          <a:noFill/>
          <a:ln w="1905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844087" y="3514725"/>
            <a:ext cx="200025" cy="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9972675" y="3457575"/>
            <a:ext cx="71437" cy="5715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9972675" y="3514725"/>
            <a:ext cx="71437" cy="57150"/>
          </a:xfrm>
          <a:prstGeom prst="line">
            <a:avLst/>
          </a:prstGeom>
          <a:ln w="19050">
            <a:solidFill>
              <a:srgbClr val="00A6A6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10420350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B2A4A"/>
                </a:solidFill>
                <a:latin typeface="Noto Sans CJK SC"/>
                <a:ea typeface="Noto Sans CJK SC"/>
              </a:rPr>
              <a:t>旧型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0A6A6"/>
                </a:solidFill>
                <a:latin typeface="Noto Sans CJK SC"/>
                <a:ea typeface="Noto Sans CJK SC"/>
              </a:rPr>
              <a:t>既有工艺与材料技术内核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5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物理 · 生物 · 化学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5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新材料 · 纳米 · 工艺积累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合规 · 流程 · 吸收数字化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3143250"/>
            <a:ext cx="0" cy="4305300"/>
          </a:xfrm>
          <a:prstGeom prst="line">
            <a:avLst/>
          </a:prstGeom>
          <a:ln w="19050">
            <a:solidFill>
              <a:srgbClr val="E1E5EA"/>
            </a:solidFill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952500" y="8143875"/>
            <a:ext cx="16383000" cy="666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2500" y="8143875"/>
            <a:ext cx="47625" cy="666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9200" y="8191500"/>
            <a:ext cx="15811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同一企业可以并存两类岗位逻辑；请按核心工艺与业务功能判断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8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7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人才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五类人才按工作功能划分，覆盖操作到战略的完整链条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08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1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1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智能制造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设备操作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参数控制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现场协作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725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437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437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技术创新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研发验证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成果转化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0095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860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数字化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数据治理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系统协同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流程优化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25175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282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282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282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需求转译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跨域融合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项目协同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076575"/>
            <a:ext cx="3086100" cy="4057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4970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00A6A6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970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B2A4A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970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方向判断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资源配置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战略落地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724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4895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73175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58220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" y="7848600"/>
            <a:ext cx="1638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技术应用  →  创新研发  →  系统管理  →  跨界融合  →  战略引领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" y="8610600"/>
            <a:ext cx="16383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功能递进是认知路径；五类不等同于单一晋升阶梯。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能力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硬、软、元三维能力，用三问逐项校验归属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09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52500" y="285750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100" y="302895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4049" y="297180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证书 / 作品 / 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4049" y="354330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能否用技能成果直接验证？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3250" y="338137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53250" y="338137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447675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1100" y="464820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4049" y="459105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互动 / 协商 / 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49" y="516255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核心是否依赖人与人协作？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53250" y="500062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3250" y="500062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2500" y="6096000"/>
            <a:ext cx="7620000" cy="143827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1100" y="6267450"/>
            <a:ext cx="619125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00A6A6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4049" y="6210300"/>
            <a:ext cx="495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跨任务 / 跨情境迁移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4049" y="6781800"/>
            <a:ext cx="4953000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66666"/>
                </a:solidFill>
                <a:latin typeface="Noto Sans CJK SC"/>
                <a:ea typeface="Noto Sans CJK SC"/>
              </a:rPr>
              <a:t>能否在变化中学习、适应与重组？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53250" y="6619875"/>
            <a:ext cx="1333500" cy="4381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6619875"/>
            <a:ext cx="1333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A6A6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34500" y="2857500"/>
            <a:ext cx="8001000" cy="467677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67875" y="3381375"/>
            <a:ext cx="7334250" cy="904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F58220"/>
                </a:solidFill>
                <a:latin typeface="DejaVu Sans"/>
                <a:ea typeface="Noto Sans CJK SC"/>
              </a:rPr>
              <a:t>90 / 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7875" y="4438650"/>
            <a:ext cx="733425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要素全部纳入归属校验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7875" y="5162550"/>
            <a:ext cx="73342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58220"/>
                </a:solidFill>
                <a:latin typeface="Noto Sans CJK SC"/>
                <a:ea typeface="Noto Sans CJK SC"/>
              </a:rPr>
              <a:t>2 项归属不一致 · 提交团队复核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0750" y="5829300"/>
            <a:ext cx="7048500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Noto Sans CJK SC"/>
                <a:ea typeface="Noto Sans CJK SC"/>
              </a:rPr>
              <a:t>跨域项目管理：硬技能 ↔ 元技能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Noto Sans CJK SC"/>
                <a:ea typeface="Noto Sans CJK SC"/>
              </a:rPr>
              <a:t>团队管理（旧·战略）：硬技能 ↔ 软技能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750" y="6800850"/>
            <a:ext cx="7048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按种子词典暂归类，复核后回填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2500" y="811530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2500" y="811530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81629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核心问题：三问判定法是否符合立白真实岗位任务？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BA5AF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分类逻辑 · 层级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三级人才回答“谁”，三层标准回答“要求什么”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10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人才角色 · 三级</a:t>
            </a:r>
          </a:p>
        </p:txBody>
      </p:sp>
      <p:sp>
        <p:nvSpPr>
          <p:cNvPr id="10" name="Freeform 9"/>
          <p:cNvSpPr/>
          <p:nvPr/>
        </p:nvSpPr>
        <p:spPr>
          <a:xfrm>
            <a:off x="2905125" y="3381375"/>
            <a:ext cx="3429000" cy="1428750"/>
          </a:xfrm>
          <a:custGeom>
            <a:avLst/>
            <a:gdLst/>
            <a:ahLst/>
            <a:cxnLst/>
            <a:rect l="l" t="t" r="r" b="b"/>
            <a:pathLst>
              <a:path w="360" h="150">
                <a:moveTo>
                  <a:pt x="140" y="0"/>
                </a:moveTo>
                <a:lnTo>
                  <a:pt x="220" y="0"/>
                </a:lnTo>
                <a:lnTo>
                  <a:pt x="360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8500" y="3838575"/>
            <a:ext cx="2762250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12" name="Freeform 11"/>
          <p:cNvSpPr/>
          <p:nvPr/>
        </p:nvSpPr>
        <p:spPr>
          <a:xfrm>
            <a:off x="1447800" y="4943475"/>
            <a:ext cx="6343650" cy="1428750"/>
          </a:xfrm>
          <a:custGeom>
            <a:avLst/>
            <a:gdLst/>
            <a:ahLst/>
            <a:cxnLst/>
            <a:rect l="l" t="t" r="r" b="b"/>
            <a:pathLst>
              <a:path w="666" h="150">
                <a:moveTo>
                  <a:pt x="140" y="0"/>
                </a:moveTo>
                <a:lnTo>
                  <a:pt x="526" y="0"/>
                </a:lnTo>
                <a:lnTo>
                  <a:pt x="666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1250" y="5343525"/>
            <a:ext cx="447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14" name="Freeform 13"/>
          <p:cNvSpPr/>
          <p:nvPr/>
        </p:nvSpPr>
        <p:spPr>
          <a:xfrm>
            <a:off x="723900" y="6505575"/>
            <a:ext cx="7791450" cy="609600"/>
          </a:xfrm>
          <a:custGeom>
            <a:avLst/>
            <a:gdLst/>
            <a:ahLst/>
            <a:cxnLst/>
            <a:rect l="l" t="t" r="r" b="b"/>
            <a:pathLst>
              <a:path w="818" h="64">
                <a:moveTo>
                  <a:pt x="63" y="0"/>
                </a:moveTo>
                <a:lnTo>
                  <a:pt x="755" y="0"/>
                </a:lnTo>
                <a:lnTo>
                  <a:pt x="818" y="64"/>
                </a:lnTo>
                <a:lnTo>
                  <a:pt x="0" y="64"/>
                </a:lnTo>
                <a:close/>
              </a:path>
            </a:pathLst>
          </a:custGeom>
          <a:solidFill>
            <a:srgbClr val="D7E9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95499" y="6581775"/>
            <a:ext cx="50482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25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0B2A4A"/>
                </a:solidFill>
                <a:latin typeface="Noto Sans CJK SC"/>
                <a:ea typeface="Noto Sans CJK SC"/>
              </a:rPr>
              <a:t>标准适用范围 · 三层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0" y="3248025"/>
            <a:ext cx="3810000" cy="3810000"/>
          </a:xfrm>
          <a:prstGeom prst="ellipse">
            <a:avLst/>
          </a:prstGeom>
          <a:solidFill>
            <a:srgbClr val="D7E9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001500" y="3819524"/>
            <a:ext cx="2667000" cy="26670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573000" y="4391025"/>
            <a:ext cx="1524000" cy="15240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92050" y="4867275"/>
            <a:ext cx="14859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96750" y="3933824"/>
            <a:ext cx="2476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11000" y="6486525"/>
            <a:ext cx="3048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53399" y="5067300"/>
            <a:ext cx="3038476" cy="0"/>
          </a:xfrm>
          <a:prstGeom prst="line">
            <a:avLst/>
          </a:prstGeom>
          <a:ln w="19050">
            <a:solidFill>
              <a:srgbClr val="E1E5EA"/>
            </a:solidFill>
            <a:prstDash val="dash"/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7953374" y="4257675"/>
            <a:ext cx="3429000" cy="638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按岗位配置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66666"/>
                </a:solidFill>
                <a:latin typeface="Noto Sans CJK SC"/>
                <a:ea typeface="Noto Sans CJK SC"/>
              </a:rPr>
              <a:t>三层组合要求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5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25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2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指导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按规范完成基础任务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054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054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721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独立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959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交付常规成果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83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583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488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250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优化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488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改进流程与协调资源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411200" y="7867649"/>
            <a:ext cx="3924300" cy="112395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411200" y="7867649"/>
            <a:ext cx="38100" cy="11239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6017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2779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主导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017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构建体系与赋能团队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1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模型总览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五类 × 三维 × 三级，以三层标准承载产业差异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一个统一骨架，按产业背景与岗位功能配置具体行为标准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11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619375"/>
            <a:ext cx="528637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标准适用范围</a:t>
            </a:r>
          </a:p>
        </p:txBody>
      </p:sp>
      <p:sp>
        <p:nvSpPr>
          <p:cNvPr id="11" name="Oval 10"/>
          <p:cNvSpPr/>
          <p:nvPr/>
        </p:nvSpPr>
        <p:spPr>
          <a:xfrm>
            <a:off x="1685925" y="3286125"/>
            <a:ext cx="3867150" cy="3867150"/>
          </a:xfrm>
          <a:prstGeom prst="ellipse">
            <a:avLst/>
          </a:prstGeom>
          <a:solidFill>
            <a:srgbClr val="D7E9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65997" y="3866197"/>
            <a:ext cx="2707005" cy="2707005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070" y="4446270"/>
            <a:ext cx="1546860" cy="154686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5405" y="4933950"/>
            <a:ext cx="15081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2676" y="3982211"/>
            <a:ext cx="25136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2640" y="6573202"/>
            <a:ext cx="309372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0B2A4A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0" y="2619375"/>
            <a:ext cx="457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五类人才功能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2750" y="323850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2750" y="323850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2775" y="33051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智能制造操作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2775" y="36195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设备 · 参数 · 现场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2750" y="4048124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2750" y="4048124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2775" y="411480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2775" y="442912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研发 · 创新 · 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2750" y="485775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2750" y="485775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62775" y="492442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数字化管理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2775" y="523875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数据 · 系统 · 流程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2750" y="5667375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2750" y="5667375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2775" y="573405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2775" y="604837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跨域 · 项目 · 转译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62750" y="6477000"/>
            <a:ext cx="4572000" cy="6858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62750" y="6477000"/>
            <a:ext cx="38100" cy="6858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62775" y="65436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2775" y="68580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方向 · 资源 · 落地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11000" y="2619375"/>
            <a:ext cx="5524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B2A4A"/>
                </a:solidFill>
                <a:latin typeface="Noto Sans CJK SC"/>
                <a:ea typeface="Noto Sans CJK SC"/>
              </a:rPr>
              <a:t>能力维度 × 人才层级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6682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682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2303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2303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792449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792449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1950" y="402907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668250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444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规范操作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230350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3065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准确沟通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792449" y="395287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8686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学习适应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91950" y="5029200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668250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7444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任务优化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230350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3065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资源协调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792449" y="4953000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8686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问题拆解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1950" y="602932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B2A4A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8250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444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系统主导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230350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3065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跨域协同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792449" y="5953125"/>
            <a:ext cx="1409700" cy="838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8686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创新引领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06250" y="7229475"/>
            <a:ext cx="542925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  <a:ea typeface="Noto Sans CJK SC"/>
              </a:rPr>
              <a:t>概念示意：各岗位另配 1—4 级行为锚点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500" y="8315325"/>
            <a:ext cx="163830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按人才功能识别岗位，以三维能力和三级要求配置三层标准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4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20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21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现有做法对比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分类分级、数据驱动、行为可评，是模型的系统升级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12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52500" y="2762250"/>
          <a:ext cx="16383000" cy="4467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/>
                <a:gridCol w="6715125"/>
                <a:gridCol w="7477125"/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比较维度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现有做法 · 常见局限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本模型 · 拟升级方向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统一岗位标签，分类边界不清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五类人才，按工作功能区分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能力结构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重专业技能，协同与适应零散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硬技能 + 软技能 + 元技能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层级要求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经验判断，级别与行为关系模糊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三级人才 + 1—4级行为锚点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产业适配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统一标准，技术背景差异不足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新 / 旧产业差异化配置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证据来源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依赖经验，缺少可复核过程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招聘数据 + 访谈 + 专家校验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应用方式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评价、培养与岗位配置衔接弱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通用 / 产业 / 岗位三层组合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952500" y="800100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800100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8048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在分类、能力、分级与产业差异上升级，并与立白现有实践衔接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8791575"/>
            <a:ext cx="1638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请专家逐行判断：更适用 / 需调整 / 不适用；以实际制度与案例佐证。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行为标准 · 新型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智能制造操作能力，从“会操作”走向“能主导”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13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52500" y="271462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设备操作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能操作基础智能化生产设备，完成简单加工任务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可熟练操作核心生产设备，精准控制生产参数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能优化设备运行参数，提升生产精度与效率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可主导设备智能化升级后的操作适配，培训团队操作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4686300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ERP操作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能使用ERP生产模块录入生产数据，查询订单进度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可独立通过ERP下达生产计划，跟踪物料需求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能通过ERP分析生产瓶颈，调整生产调度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可主导ERP生产模块与设备数据联动，实现数字化生产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2500" y="665797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CAD解读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能识别简单零件图纸，理解基础加工要求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可解读复杂装配图纸，明确关键加工节点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能根据图纸优化加工路径，提升加工效率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可结合图纸与设备特性，提出工艺优化建议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13096875" y="2714625"/>
            <a:ext cx="4238625" cy="575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87375" y="2876550"/>
            <a:ext cx="3857625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三级人才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配置对照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216187" y="4939950"/>
            <a:ext cx="197313" cy="341757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H="1">
            <a:off x="15018874" y="5281707"/>
            <a:ext cx="394626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15018874" y="4939950"/>
            <a:ext cx="197313" cy="341757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15254287" y="48447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216187" y="4712112"/>
            <a:ext cx="394627" cy="683514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14821560" y="5395626"/>
            <a:ext cx="789254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4821560" y="4712112"/>
            <a:ext cx="394627" cy="683514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15254287" y="4616862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5216187" y="4484274"/>
            <a:ext cx="591940" cy="1025271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4624247" y="4484274"/>
            <a:ext cx="591940" cy="1025271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254287" y="4389024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14426933" y="4256436"/>
            <a:ext cx="789254" cy="1367028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5254287" y="416118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4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5216187" y="4256436"/>
            <a:ext cx="0" cy="911352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5216187" y="5167788"/>
            <a:ext cx="789254" cy="455676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H="1">
            <a:off x="14426933" y="5167788"/>
            <a:ext cx="789254" cy="455676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14073187" y="3799236"/>
            <a:ext cx="22860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设备操作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98457" y="5756814"/>
            <a:ext cx="1976437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ERP操作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39750" y="5756814"/>
            <a:ext cx="19764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Noto Sans CJK SC"/>
                <a:ea typeface="Noto Sans CJK SC"/>
              </a:rPr>
              <a:t>CAD解读</a:t>
            </a:r>
          </a:p>
        </p:txBody>
      </p:sp>
      <p:sp>
        <p:nvSpPr>
          <p:cNvPr id="36" name="Oval 35"/>
          <p:cNvSpPr/>
          <p:nvPr/>
        </p:nvSpPr>
        <p:spPr>
          <a:xfrm>
            <a:off x="15178087" y="4218336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586147" y="5471445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21590">
            <a:solidFill>
              <a:srgbClr val="A4B6C5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H="1" flipV="1">
            <a:off x="14624247" y="5509545"/>
            <a:ext cx="1381194" cy="113919"/>
          </a:xfrm>
          <a:prstGeom prst="line">
            <a:avLst/>
          </a:prstGeom>
          <a:ln w="21590">
            <a:solidFill>
              <a:srgbClr val="A4B6C5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14624247" y="4256436"/>
            <a:ext cx="591940" cy="1253109"/>
          </a:xfrm>
          <a:prstGeom prst="line">
            <a:avLst/>
          </a:prstGeom>
          <a:ln w="21590">
            <a:solidFill>
              <a:srgbClr val="A4B6C5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13287375" y="6562725"/>
            <a:ext cx="209550" cy="0"/>
          </a:xfrm>
          <a:prstGeom prst="line">
            <a:avLst/>
          </a:prstGeom>
          <a:ln w="21590">
            <a:solidFill>
              <a:srgbClr val="A4B6C5"/>
            </a:solidFill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1356360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44" name="Oval 43"/>
          <p:cNvSpPr/>
          <p:nvPr/>
        </p:nvSpPr>
        <p:spPr>
          <a:xfrm>
            <a:off x="15178087" y="4446174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4388833" y="5585364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5216187" y="4484274"/>
            <a:ext cx="789254" cy="1139190"/>
          </a:xfrm>
          <a:prstGeom prst="line">
            <a:avLst/>
          </a:prstGeom>
          <a:ln w="21590">
            <a:solidFill>
              <a:srgbClr val="00A6A6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21590">
            <a:solidFill>
              <a:srgbClr val="00A6A6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4426933" y="4484274"/>
            <a:ext cx="789254" cy="1139190"/>
          </a:xfrm>
          <a:prstGeom prst="line">
            <a:avLst/>
          </a:prstGeom>
          <a:ln w="21590">
            <a:solidFill>
              <a:srgbClr val="00A6A6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4605000" y="6562725"/>
            <a:ext cx="209550" cy="0"/>
          </a:xfrm>
          <a:prstGeom prst="line">
            <a:avLst/>
          </a:prstGeom>
          <a:ln w="21590">
            <a:solidFill>
              <a:srgbClr val="00A6A6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4881224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52" name="Oval 51"/>
          <p:cNvSpPr/>
          <p:nvPr/>
        </p:nvSpPr>
        <p:spPr>
          <a:xfrm>
            <a:off x="15178087" y="4674012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5770027" y="5471445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86147" y="5471445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5216187" y="4712112"/>
            <a:ext cx="591940" cy="797433"/>
          </a:xfrm>
          <a:prstGeom prst="line">
            <a:avLst/>
          </a:prstGeom>
          <a:ln w="21590">
            <a:solidFill>
              <a:srgbClr val="0B2A4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21590">
            <a:solidFill>
              <a:srgbClr val="0B2A4A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14624247" y="4712112"/>
            <a:ext cx="591940" cy="797433"/>
          </a:xfrm>
          <a:prstGeom prst="line">
            <a:avLst/>
          </a:prstGeom>
          <a:ln w="21590">
            <a:solidFill>
              <a:srgbClr val="0B2A4A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5922625" y="6562725"/>
            <a:ext cx="209550" cy="0"/>
          </a:xfrm>
          <a:prstGeom prst="line">
            <a:avLst/>
          </a:prstGeom>
          <a:ln w="21590">
            <a:solidFill>
              <a:srgbClr val="0B2A4A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619885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287375" y="7105650"/>
            <a:ext cx="3857625" cy="99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三条线代表基础、骨干、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高端三级配置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刻度 1—4 级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3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4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行为标准 · 旧型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旧型产业能力，更强调合规、流程与经验传承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14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52500" y="271462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GMP合规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能了解GMP基础条款，遵守简单合规要求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可熟练掌握GMP核心条款，规范执行操作流程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能检查操作中的GMP合规性，纠正违规行为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可主导企业GMP体系优化，通过合规审核并降低风险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4686300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SOP执行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能阅读SOP文档，按指导完成基础操作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可独立严格执行SOP流程，记录操作过程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能发现SOP中的优化点，提出修订建议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可主导SOP体系修订与培训，推动全员规范执行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2500" y="665797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经验积累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能记录基础操作经验，总结简单操作规律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可整理个人操作经验，形成基础操作笔记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能提炼班组共性经验，形成标准化操作建议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可构建企业级操作经验库，指导全员提升技能</a:t>
                      </a: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13096875" y="2714625"/>
            <a:ext cx="4238625" cy="575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87375" y="2876550"/>
            <a:ext cx="3857625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三级人才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B2A4A"/>
                </a:solidFill>
                <a:latin typeface="Noto Sans CJK SC"/>
                <a:ea typeface="Noto Sans CJK SC"/>
              </a:rPr>
              <a:t>配置对照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216187" y="4939950"/>
            <a:ext cx="197313" cy="341757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H="1">
            <a:off x="15018874" y="5281707"/>
            <a:ext cx="394626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15018874" y="4939950"/>
            <a:ext cx="197313" cy="341757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15254287" y="48447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216187" y="4712112"/>
            <a:ext cx="394627" cy="683514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14821560" y="5395626"/>
            <a:ext cx="789254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4821560" y="4712112"/>
            <a:ext cx="394627" cy="683514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15254287" y="4616862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5216187" y="4484274"/>
            <a:ext cx="591940" cy="1025271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4624247" y="4484274"/>
            <a:ext cx="591940" cy="1025271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254287" y="4389024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14426933" y="4256436"/>
            <a:ext cx="789254" cy="1367028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5254287" y="416118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66666"/>
                </a:solidFill>
                <a:latin typeface="DejaVu Sans"/>
                <a:ea typeface="Noto Sans CJK SC"/>
              </a:rPr>
              <a:t>4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5216187" y="4256436"/>
            <a:ext cx="0" cy="911352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5216187" y="5167788"/>
            <a:ext cx="789254" cy="455676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H="1">
            <a:off x="14426933" y="5167788"/>
            <a:ext cx="789254" cy="455676"/>
          </a:xfrm>
          <a:prstGeom prst="line">
            <a:avLst/>
          </a:prstGeom>
          <a:ln w="8255">
            <a:solidFill>
              <a:srgbClr val="E1E5EA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14073187" y="3799236"/>
            <a:ext cx="22860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GMP合规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98457" y="5756814"/>
            <a:ext cx="1976437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Noto Sans CJK SC"/>
                <a:ea typeface="Noto Sans CJK SC"/>
              </a:rPr>
              <a:t>SOP执行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39750" y="5756814"/>
            <a:ext cx="19764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经验积累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待验证</a:t>
            </a:r>
          </a:p>
        </p:txBody>
      </p:sp>
      <p:sp>
        <p:nvSpPr>
          <p:cNvPr id="36" name="Oval 35"/>
          <p:cNvSpPr/>
          <p:nvPr/>
        </p:nvSpPr>
        <p:spPr>
          <a:xfrm>
            <a:off x="15178087" y="4901850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5375400" y="5243607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3287375" y="6524625"/>
            <a:ext cx="76200" cy="76200"/>
          </a:xfrm>
          <a:prstGeom prst="ellipse">
            <a:avLst/>
          </a:prstGeom>
          <a:solidFill>
            <a:srgbClr val="A4B6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6360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40" name="Oval 39"/>
          <p:cNvSpPr/>
          <p:nvPr/>
        </p:nvSpPr>
        <p:spPr>
          <a:xfrm>
            <a:off x="15178087" y="4674012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5572714" y="5357526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605000" y="6524625"/>
            <a:ext cx="76200" cy="76200"/>
          </a:xfrm>
          <a:prstGeom prst="ellipse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881224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44" name="Oval 43"/>
          <p:cNvSpPr/>
          <p:nvPr/>
        </p:nvSpPr>
        <p:spPr>
          <a:xfrm>
            <a:off x="15178087" y="4218336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922625" y="6524625"/>
            <a:ext cx="76200" cy="76200"/>
          </a:xfrm>
          <a:prstGeom prst="ellipse">
            <a:avLst/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885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B2A4A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87375" y="7029450"/>
            <a:ext cx="3857625" cy="1133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三色点代表三级配置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经验积累待验证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  <a:ea typeface="Noto Sans CJK SC"/>
              </a:rPr>
              <a:t>缺失维度不绘值、不连线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3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4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专家验证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模型是否成立，取决于专家判断与真实岗位证据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15</a:t>
            </a:r>
          </a:p>
        </p:txBody>
      </p:sp>
      <p:pic>
        <p:nvPicPr>
          <p:cNvPr id="8" name="Picture 7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2500" y="28003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28003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五类人才分类是否完整、边界清楚？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2500" y="352425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952500" y="36195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36195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硬 / 软 / 元能力能否解释岗位表现？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2500" y="434340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952500" y="44386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2600" y="44386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三级人才与1—4级行为是否合理？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516255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952500" y="52578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52578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新 / 旧产业差异是否符合实际？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598170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952500" y="60769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600" y="60769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总图能否支撑评价与人才培养？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500" y="680085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952500" y="68961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58220"/>
                </a:solidFill>
                <a:latin typeface="DejaVu Sans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68961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333333"/>
                </a:solidFill>
                <a:latin typeface="Noto Sans CJK SC"/>
                <a:ea typeface="Noto Sans CJK SC"/>
              </a:rPr>
              <a:t>还缺少哪些能力、岗位或情境？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2500" y="7620000"/>
            <a:ext cx="7620000" cy="0"/>
          </a:xfrm>
          <a:prstGeom prst="line">
            <a:avLst/>
          </a:prstGeom>
          <a:ln w="8890">
            <a:solidFill>
              <a:srgbClr val="E1E5EA"/>
            </a:solidFill>
          </a:ln>
          <a:effectLst/>
        </p:spPr>
      </p:cxnSp>
      <p:sp>
        <p:nvSpPr>
          <p:cNvPr id="27" name="Rounded Rectangle 26"/>
          <p:cNvSpPr/>
          <p:nvPr/>
        </p:nvSpPr>
        <p:spPr>
          <a:xfrm>
            <a:off x="9334500" y="28098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34500" y="280987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0" y="3067050"/>
            <a:ext cx="266700" cy="2667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9658350" y="3200400"/>
            <a:ext cx="57150" cy="571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715500" y="3143250"/>
            <a:ext cx="104775" cy="1143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100774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现场评分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1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六维度统一尺度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449300" y="28098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449300" y="280987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92200" y="3067050"/>
            <a:ext cx="114300" cy="1143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3735050" y="328612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3735050" y="3238500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3792200" y="3238500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13906500" y="3238500"/>
            <a:ext cx="5715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3963650" y="3286125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141922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岗位对照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969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选择最熟悉岗位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34500" y="442912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34500" y="442912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648825" y="4686300"/>
            <a:ext cx="14287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9791700" y="4686300"/>
            <a:ext cx="47625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9839325" y="4733925"/>
            <a:ext cx="0" cy="2190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H="1">
            <a:off x="9648825" y="4953000"/>
            <a:ext cx="1905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9648825" y="4686300"/>
            <a:ext cx="0" cy="2667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9791700" y="4686300"/>
            <a:ext cx="0" cy="476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9791700" y="4733925"/>
            <a:ext cx="47625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9686925" y="4791075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9686925" y="4848225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9686925" y="4905375"/>
            <a:ext cx="11430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100774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案例佐证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821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用真实行为说明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449300" y="442912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3449300" y="442912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3725525" y="4933950"/>
            <a:ext cx="2476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13725525" y="4695825"/>
            <a:ext cx="0" cy="2381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3782675" y="4838700"/>
            <a:ext cx="0" cy="762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13858875" y="4772025"/>
            <a:ext cx="0" cy="14287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13935075" y="4714875"/>
            <a:ext cx="0" cy="200025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65" name="TextBox 64"/>
          <p:cNvSpPr txBox="1"/>
          <p:nvPr/>
        </p:nvSpPr>
        <p:spPr>
          <a:xfrm>
            <a:off x="141922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边界检验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6969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识别交叉与遗漏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34500" y="60483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334500" y="604837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591675" y="64008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801225" y="6400800"/>
            <a:ext cx="76200" cy="762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667875" y="6438900"/>
            <a:ext cx="133350" cy="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9753600" y="64008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9753600" y="6438900"/>
            <a:ext cx="47625" cy="3810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00774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等级校准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21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核对任务复杂度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449300" y="6048375"/>
            <a:ext cx="38862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449300" y="6048375"/>
            <a:ext cx="28575" cy="142875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3716000" y="6305550"/>
            <a:ext cx="266700" cy="26670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782675" y="6372225"/>
            <a:ext cx="133350" cy="133350"/>
          </a:xfrm>
          <a:prstGeom prst="ellipse">
            <a:avLst/>
          </a:prstGeom>
          <a:noFill/>
          <a:ln w="19050">
            <a:solidFill>
              <a:srgbClr val="0B2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3849350" y="6305550"/>
            <a:ext cx="133350" cy="133350"/>
          </a:xfrm>
          <a:prstGeom prst="line">
            <a:avLst/>
          </a:prstGeom>
          <a:ln w="19050">
            <a:solidFill>
              <a:srgbClr val="0B2A4A"/>
            </a:solidFill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141922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Noto Sans CJK SC"/>
                <a:ea typeface="Noto Sans CJK SC"/>
              </a:rPr>
              <a:t>修改建议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6969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Noto Sans CJK SC"/>
                <a:ea typeface="Noto Sans CJK SC"/>
              </a:rPr>
              <a:t>提出可执行调整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52500" y="8286750"/>
            <a:ext cx="16383000" cy="619125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52500" y="8286750"/>
            <a:ext cx="47625" cy="619125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9200" y="833437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Noto Sans CJK SC"/>
                <a:ea typeface="Noto Sans CJK SC"/>
              </a:rPr>
              <a:t>反馈记录：维度 + 1—5 分 + 一个岗位案例 + 一条修改建议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16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18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628650"/>
            <a:ext cx="1428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A6A6"/>
                </a:solidFill>
                <a:latin typeface="Noto Sans CJK SC"/>
                <a:ea typeface="Noto Sans CJK SC"/>
              </a:rPr>
              <a:t>评分与下一步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1047749"/>
            <a:ext cx="1638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B2A4A"/>
                </a:solidFill>
                <a:latin typeface="Noto Sans CJK SC"/>
                <a:ea typeface="Noto Sans CJK SC"/>
              </a:rPr>
              <a:t>请现场评分，专家判断将直接指向模型修订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2257425"/>
            <a:ext cx="762000" cy="381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52624" y="2114550"/>
            <a:ext cx="15049499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66666"/>
                </a:solidFill>
                <a:latin typeface="Noto Sans CJK SC"/>
                <a:ea typeface="Noto Sans CJK SC"/>
              </a:rPr>
              <a:t>1 不成立 · 2 大幅修改 · 3 基本成立 · 4 较适用 · 5 高度适用 · N/A 不适用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E9EDF2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0ABB6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0ABB6"/>
                </a:solidFill>
                <a:latin typeface="Noto Sans CJK SC"/>
                <a:ea typeface="Noto Sans CJK SC"/>
              </a:rPr>
              <a:t>先进制造业人才标准 | 16</a:t>
            </a:r>
          </a:p>
        </p:txBody>
      </p:sp>
      <p:pic>
        <p:nvPicPr>
          <p:cNvPr id="9" name="Picture 8" descr="exec-7ea0c041-660a-4e39-951e-eb2d527afb9f.png"/>
          <p:cNvPicPr>
            <a:picLocks noChangeAspect="1"/>
          </p:cNvPicPr>
          <p:nvPr/>
        </p:nvPicPr>
        <p:blipFill>
          <a:blip r:embed="rId2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52500" y="2686050"/>
          <a:ext cx="16382999" cy="5581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5238750"/>
                <a:gridCol w="1428750"/>
                <a:gridCol w="7810499"/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验证维度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核心问题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1—5 分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修改建议 / 岗位案例</a:t>
                      </a:r>
                    </a:p>
                  </a:txBody>
                  <a:tcPr marL="171450" marR="114300" marT="28575" marB="28575" anchor="ctr">
                    <a:solidFill>
                      <a:srgbClr val="0B2A4A"/>
                    </a:solidFill>
                    <a:lnL w="0">
                      <a:solidFill>
                        <a:srgbClr val="0B2A4A"/>
                      </a:solidFill>
                    </a:lnL>
                    <a:lnR w="0">
                      <a:solidFill>
                        <a:srgbClr val="0B2A4A"/>
                      </a:solidFill>
                    </a:lnR>
                    <a:lnT w="0">
                      <a:solidFill>
                        <a:srgbClr val="0B2A4A"/>
                      </a:solidFill>
                    </a:lnT>
                    <a:lnB w="6350">
                      <a:solidFill>
                        <a:srgbClr val="0B2A4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五类是否完整，边界是否清楚？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能力维度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硬 / 软 / 元能否解释岗位表现？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人才分级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三级人才与行为等级是否合理？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产业差异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新 / 旧能力侧重是否符合实际？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模型总图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整体框架能否用于评价与培养？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2A4A"/>
                          </a:solidFill>
                          <a:latin typeface="Noto Sans CJK SC"/>
                          <a:ea typeface="Noto Sans CJK SC"/>
                        </a:rPr>
                        <a:t>缺失项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关键能力、岗位、情境是否遗漏？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333333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AFBFD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7F8FA"/>
                    </a:solidFill>
                    <a:lnL w="0">
                      <a:solidFill>
                        <a:srgbClr val="E1E5EA"/>
                      </a:solidFill>
                    </a:lnL>
                    <a:lnR w="0">
                      <a:solidFill>
                        <a:srgbClr val="E1E5EA"/>
                      </a:solidFill>
                    </a:lnR>
                    <a:lnT w="0">
                      <a:solidFill>
                        <a:srgbClr val="E1E5EA"/>
                      </a:solidFill>
                    </a:lnT>
                    <a:lnB w="6350">
                      <a:solidFill>
                        <a:srgbClr val="E1E5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52500" y="8467725"/>
            <a:ext cx="14859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0B2A4A"/>
                </a:solidFill>
                <a:latin typeface="Noto Sans CJK SC"/>
                <a:ea typeface="Noto Sans CJK SC"/>
              </a:rPr>
              <a:t>现场评分  →  3 工作日汇总  →  团队研判  →  10 工作日反馈  →  待议复核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8972550"/>
            <a:ext cx="14859000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  <a:ea typeface="Noto Sans CJK SC"/>
              </a:rPr>
              <a:t>感谢专家共同验证  ·  采纳 / 部分采纳 / 待议 / 不采纳，均反馈处理理由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383000" y="8582025"/>
            <a:ext cx="9525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0" y="8639175"/>
            <a:ext cx="800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BA5AF"/>
                </a:solidFill>
                <a:latin typeface="Noto Sans CJK SC"/>
                <a:ea typeface="Noto Sans CJK SC"/>
              </a:rPr>
              <a:t>问卷链接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BA5AF"/>
                </a:solidFill>
                <a:latin typeface="Noto Sans CJK SC"/>
                <a:ea typeface="Noto Sans CJK SC"/>
              </a:rPr>
              <a:t>待补充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14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基于胜任力模型的先进制造业人才标准框架与体系——立白科技调研座谈会</dc:title>
  <dc:subject>企业专家验证交流稿 · 2026年10月09日</dc:subject>
  <dc:creator>广东工业大学管理学院 | 粤来粤好队 | 罗琳</dc:creator>
  <cp:keywords>胜任力模型,先进制造业,人才标准,立白科技,专家验证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