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 type="screen4x3"/>
  <p:notesSz cx="6858000" cy="9144000"/>
  <p:embeddedFontLst>
    <p:embeddedFont>
      <p:font typeface="Ma Shan Zheng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font" Target="fonts/font1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新型先进制造业</c:v>
                </c:pt>
              </c:strCache>
            </c:strRef>
          </c:tx>
          <c:spPr>
            <a:solidFill>
              <a:srgbClr val="45BAC9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招聘样本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290635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旧型先进制造业</c:v>
                </c:pt>
              </c:strCache>
            </c:strRef>
          </c:tx>
          <c:spPr>
            <a:solidFill>
              <a:srgbClr val="E5C17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招聘样本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49059</c:v>
                </c:pt>
              </c:numCache>
            </c:numRef>
          </c:val>
        </c:ser>
        <c:gapWidth val="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9694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ln w="25400">
              <a:solidFill>
                <a:srgbClr val="9CBFD8"/>
              </a:solidFill>
            </a:ln>
          </c:spPr>
          <c:marker>
            <c:symbol val="circle"/>
            <c:size val="6"/>
            <c:spPr>
              <a:solidFill>
                <a:srgbClr val="9CBFD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ln w="25400">
              <a:solidFill>
                <a:srgbClr val="45BAC9"/>
              </a:solidFill>
            </a:ln>
          </c:spPr>
          <c:marker>
            <c:symbol val="circle"/>
            <c:size val="6"/>
            <c:spPr>
              <a:solidFill>
                <a:srgbClr val="45BAC9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ln w="25400">
              <a:solidFill>
                <a:srgbClr val="E5C178"/>
              </a:solidFill>
            </a:ln>
          </c:spPr>
          <c:marker>
            <c:symbol val="circle"/>
            <c:size val="6"/>
            <c:spPr>
              <a:solidFill>
                <a:srgbClr val="E5C17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A9C2D5"/>
                </a:solidFill>
                <a:latin typeface="Noto Sans CJK SC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4.0"/>
          <c:min val="0.0"/>
        </c:scaling>
        <c:delete val="0"/>
        <c:axPos val="l"/>
        <c:majorGridlines>
          <c:spPr>
            <a:ln w="9525">
              <a:solidFill>
                <a:srgbClr val="29475C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9C2D5"/>
                </a:solidFill>
                <a:latin typeface="Noto Sans CJK SC"/>
              </a:defRPr>
            </a:pPr>
          </a:p>
        </c:txPr>
        <c:crossAx val="2073612648"/>
        <c:crosses val="autoZero"/>
        <c:crossBetween val="between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>
          <a:solidFill>
            <a:srgbClr val="E5EFF5"/>
          </a:solidFill>
          <a:latin typeface="Noto Sans CJK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9CBFD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45BAC9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E5C17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A9C2D5"/>
                </a:solidFill>
                <a:latin typeface="Noto Sans CJK SC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4.0"/>
          <c:min val="0.0"/>
        </c:scaling>
        <c:delete val="0"/>
        <c:axPos val="l"/>
        <c:majorGridlines>
          <c:spPr>
            <a:ln w="9525">
              <a:solidFill>
                <a:srgbClr val="29475C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9C2D5"/>
                </a:solidFill>
                <a:latin typeface="Noto Sans CJK SC"/>
              </a:defRPr>
            </a:pPr>
          </a:p>
        </c:txPr>
        <c:crossAx val="2073612648"/>
        <c:crosses val="autoZero"/>
        <c:crossBetween val="between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>
          <a:solidFill>
            <a:srgbClr val="E5EFF5"/>
          </a:solidFill>
          <a:latin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【第1页】基于胜任力模型的先进制造业人才标准框架与体系</a:t>
            </a:r>
          </a:p>
          <a:p>
            <a:r>
              <a:t>建议时长：1分钟</a:t>
            </a:r>
          </a:p>
          <a:p>
            <a:r>
              <a:t>开场问候。今天希望在立白的真实岗位与管理实践中，验证模型分类、能力维度、分级以及产业差异。说明本次是专家验证交流稿，并非模型效度已得到最终确认。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【第2页】介绍模型、请您验证，共同判断模型是否成立</a:t>
            </a:r>
          </a:p>
          <a:p>
            <a:r>
              <a:t>建议时长：2分钟</a:t>
            </a:r>
          </a:p>
          <a:p>
            <a:r>
              <a:t>强调不是单向汇报，而是请专家做专业判断。先介绍模型怎么来，再请专家用岗位案例评分；不了解的维度可以标注不适用，不要强迫评分。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【第3页】人才标准成为竞争变量，四类瓶颈需要系统回应</a:t>
            </a:r>
          </a:p>
          <a:p>
            <a:r>
              <a:t>建议时长：2分钟</a:t>
            </a:r>
          </a:p>
          <a:p>
            <a:r>
              <a:t>请专家对照立白实际：哪一项最突出？请给一个岗位例子。将企业反馈区分为关键人才供给、能力配置、评价依据和培养衔接四类。</a:t>
            </a:r>
          </a:p>
          <a:p/>
          <a:p>
            <a:r>
              <a:t>资料来源与核验说明：</a:t>
            </a:r>
          </a:p>
          <a:p>
            <a:r>
              <a:t>《优化版本项目报告》§3.4人才队伍建设短板；《智造人才画像》绪论。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【第4页】招聘数据与五类方法，为模型提供可复核依据</a:t>
            </a:r>
          </a:p>
          <a:p>
            <a:r>
              <a:t>建议时长：2分钟</a:t>
            </a:r>
          </a:p>
          <a:p>
            <a:r>
              <a:t>强调数据是招聘市场公开能力表达，不是已录用结果。新旧样本量不同，不能直接把频次差异解释为需求强度差异。请专家判断样本覆盖与方法组合是否可信。</a:t>
            </a:r>
          </a:p>
          <a:p/>
          <a:p>
            <a:r>
              <a:t>资料来源与核验说明：</a:t>
            </a:r>
          </a:p>
          <a:p>
            <a:r>
              <a:t>核心来源：《202602优化版本-先进制造业人才标准项目报告0201》§4.2.1；《智造人才画像》仅作佐证。2025年公开招聘文本：总计339,694，新型290,635，旧型49,059。招聘表达不等同于实际录用、岗位绩效或因果验证。 方法来源：《优化版本项目报告》§2.4。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【第5页】独立编码与分歧裁定，让每项能力可追溯、可复核</a:t>
            </a:r>
          </a:p>
          <a:p>
            <a:r>
              <a:t>建议时长：3分钟</a:t>
            </a:r>
          </a:p>
          <a:p>
            <a:r>
              <a:t>本页专门讲解编码方法，补充Excel为编码示例，正式模型仍以主报告为准。解释：Kappa衡量扣除随机一致性后的编码者一致性，不代表模型效度。每个条目对应90项要素判定，111万是编码矩阵规模。示例招聘文本数量与正式全国样本数量不可混淆，问专家流程和阈值是否可接受。</a:t>
            </a:r>
          </a:p>
          <a:p/>
          <a:p>
            <a:r>
              <a:t>资料来源与核验说明：</a:t>
            </a:r>
          </a:p>
          <a:p>
            <a:r>
              <a:t>补充附件仅为编码示例，不能替代《202602优化版本项目报告0201》的正式研究结论。示例来源07_总体Kappa、第三人裁定与最终编码及10_分歧清单第三人裁判结果：N=12,416×90=1,117,440，A命中11,473，B命中12,551，交集10,824；Po=0.9978737113、Pe=0.9787315003、Kappa=0.9000263916（显示0.900）；分歧2,376，裁定命中553，最终命中11,377。示例工作簿说明页标注模拟研究，用户已明确补充附件用于编码示例。展示表内核验结果用于讲解流程，不声称正式样本完成这些编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【第6页】三轮收敛聚焦关键要素，三层框架区分适用范围</a:t>
            </a:r>
          </a:p>
          <a:p>
            <a:r>
              <a:t>建议时长：3分钟</a:t>
            </a:r>
          </a:p>
          <a:p>
            <a:r>
              <a:t>本页数字和无倒挂结论仅对应编码示例，不替代主报告正式模型。请专家判断低频阈值小于5次、每类每维度至多3项是否适用。初始90与保留73为不同口径；三层22+48+20=90也为示例初始池。示例层级采用规则赋值，所以单调性不能替代企业验证。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【第7页】技术内核不同，能力要求需要差异化配置</a:t>
            </a:r>
          </a:p>
          <a:p>
            <a:r>
              <a:t>建议时长：2分钟</a:t>
            </a:r>
          </a:p>
          <a:p>
            <a:r>
              <a:t>请专家判断立白的核心工艺与数字化部门如何定位。新旧是本研究分析标签，不是对产业先进程度的排序；传统化学日化生产同样可能具有高度智能化设备和系统。不要让企业或员工被强行归入单一类别。</a:t>
            </a:r>
          </a:p>
          <a:p/>
          <a:p>
            <a:r>
              <a:t>资料来源与核验说明：</a:t>
            </a:r>
          </a:p>
          <a:p>
            <a:r>
              <a:t>《优化版本项目报告》§3.2、§3.3；《智造人才画像》§4.3。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【第8页】五类人才按工作功能划分，覆盖操作到战略的完整链条</a:t>
            </a:r>
          </a:p>
          <a:p>
            <a:r>
              <a:t>建议时长：3分钟</a:t>
            </a:r>
          </a:p>
          <a:p>
            <a:r>
              <a:t>请专家判断五类是否完整、边界是否清楚，是否缺少质量、安全、供应链等重要职能。递进路径是认知与职能范围的展开，不代表员工必须按五类逐级晋升；复合岗位可设主类别与兼具能力。</a:t>
            </a:r>
          </a:p>
          <a:p/>
          <a:p>
            <a:r>
              <a:t>资料来源与核验说明：</a:t>
            </a:r>
          </a:p>
          <a:p>
            <a:r>
              <a:t>《优化版本项目报告》§4.1；《智造人才画像》§4.1。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【第9页】硬、软、元三维能力，用三问逐项校验归属</a:t>
            </a:r>
          </a:p>
          <a:p>
            <a:r>
              <a:t>建议时长：3分钟</a:t>
            </a:r>
          </a:p>
          <a:p>
            <a:r>
              <a:t>硬、软、元三维结构以主报告为准。三问、90/90覆盖以及2项争议为补充编码示例，用于说明如何核验归属，不声称是主报告正式编码结果。种子词典可作为当前基准，但允许专家以真实任务建议修订。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【第10页】人才定角色，标准定内容，行为等级定评价尺度</a:t>
            </a:r>
          </a:p>
          <a:p>
            <a:r>
              <a:t>建议时长：3分钟</a:t>
            </a:r>
          </a:p>
          <a:p>
            <a:r>
              <a:t>请专家判断人才层级与标准层次是否清楚。三级是基础、骨干、高端的人才角色；三层是通用、产业背景、岗位专有的适用范围。每个层级均需组合三层要求，不是基础等于通用、高端等于岗位专有。1—4级是单项能力行为刻度，也不同于三级人才。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 行为锚点：《智造人才画像》附录表30。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【第11页】分类、评价、分级与组合，共同生成岗位人才标准</a:t>
            </a:r>
          </a:p>
          <a:p>
            <a:r>
              <a:t>建议时长：3分钟</a:t>
            </a:r>
          </a:p>
          <a:p>
            <a:r>
              <a:t>总图先按五类工作功能识别岗位，再并行确定三维能力、三级人才与三层标准，三者组合为具体岗位标准。新旧产业是能力配置的情境条件；四级行为是单项能力的评价尺度。连接线表达组合关系，不表达已验证的因果关系。请专家用最熟悉的岗位从左到右、从上到下检验。三层数量仅在编码示例页展示，模型总图不将示例数量写为正式模型参数。</a:t>
            </a:r>
          </a:p>
          <a:p/>
          <a:p>
            <a:r>
              <a:t>资料来源与核验说明：</a:t>
            </a:r>
          </a:p>
          <a:p>
            <a:r>
              <a:t>模型主结构：《202602优化版本项目报告0201》摘要、§4—§6；行为描述以主报告原文为准。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【第12页】分类分级、数据驱动、行为可评，是模型的系统升级</a:t>
            </a:r>
          </a:p>
          <a:p>
            <a:r>
              <a:t>建议时长：3分钟</a:t>
            </a:r>
          </a:p>
          <a:p>
            <a:r>
              <a:t>现有做法列是研究提出的对比假设，不代表所有企业都如此；请立白逐行判断哪些适用，哪些不适用。模型尚未完成绩效预测效度验证，所以避免直接宣称优于现有标准。</a:t>
            </a:r>
          </a:p>
          <a:p/>
          <a:p>
            <a:r>
              <a:t>资料来源与核验说明：</a:t>
            </a:r>
          </a:p>
          <a:p>
            <a:r>
              <a:t>《优化版本项目报告》§5—§7；对比表由两份报告与用户方案整理，现有做法为典型概括，非立白现状诊断。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【第13页】智能制造操作能力，从“会操作”走向“能主导”</a:t>
            </a:r>
          </a:p>
          <a:p>
            <a:r>
              <a:t>建议时长：2分钟</a:t>
            </a:r>
          </a:p>
          <a:p>
            <a:r>
              <a:t>请专家逐项判断行为描述是否可观察、可评价，结合立白案例提出修改。表格逐字引自主报告新型智能制造操作人才评价表的12条行为原文；图值取主报告表4-11：设备4/3/2、ERP4/4/3、CAD3/4/3。按用户核心口径要求保留原报告矩阵，不用补充示例的不同数字覆盖。原矩阵存在非单调项目，请在座谈中确认这些数值是否表达不同角色的专业要求，还是最低准入等级需要调整。</a:t>
            </a:r>
          </a:p>
          <a:p/>
          <a:p>
            <a:r>
              <a:t>资料来源与核验说明：</a:t>
            </a:r>
          </a:p>
          <a:p>
            <a:r>
              <a:t>核心来源：《202602优化版本项目报告0201》行为评价表（Word内部表索引32，从0开始）与表4-11/4-16能力矩阵。行为描述逐字引用；雷达仅采用主报告配置值，不采用补充编码示例。新型设备4/3/2、ERP4/4/3、CAD3/4/3；旧型GMP1/2/4、SOP1/2/4。主报告经验积累有1—4级行为描述，但对应矩阵没有三级配置值，因此不虚构经验积累雷达分值。图不是立白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【第14页】旧型产业能力，更强调合规、流程与经验传承</a:t>
            </a:r>
          </a:p>
          <a:p>
            <a:r>
              <a:t>建议时长：2分钟</a:t>
            </a:r>
          </a:p>
          <a:p>
            <a:r>
              <a:t>请专家判断新旧差异是否成立。全部行为描述来自主报告旧型智能制造操作人才评价表原文；GMP、SOP的三级配置取主报告表4-16，均为1/2/4。GMP适用范围按立白实际业务判断，不使用补充编码示例中的无命中占位结论评价正式模型。经验积累在主报告有完整行为锚点，但矩阵未给三级配置值，所以雷达该轴留空，待专家赋值；缺失不是0分。</a:t>
            </a:r>
          </a:p>
          <a:p/>
          <a:p>
            <a:r>
              <a:t>资料来源与核验说明：</a:t>
            </a:r>
          </a:p>
          <a:p>
            <a:r>
              <a:t>核心来源：《202602优化版本项目报告0201》行为评价表（Word内部表索引38，从0开始）与表4-11/4-16能力矩阵。行为描述逐字引用；雷达仅采用主报告配置值，不采用补充编码示例。新型设备4/3/2、ERP4/4/3、CAD3/4/3；旧型GMP1/2/4、SOP1/2/4。主报告经验积累有1—4级行为描述，但对应矩阵没有三级配置值，因此不虚构经验积累雷达分值。图不是立白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【第15页】模型是否成立，取决于专家判断与真实岗位证据</a:t>
            </a:r>
          </a:p>
          <a:p>
            <a:r>
              <a:t>建议时长：3分钟</a:t>
            </a:r>
          </a:p>
          <a:p>
            <a:r>
              <a:t>请专家先选最熟悉的岗位或人才类别，再对分类、能力、分级、差异、总图与缺失项评分。六种方法为本次座谈的实施建议；不是声称已经执行完毕的验证结果。</a:t>
            </a:r>
          </a:p>
          <a:p/>
          <a:p>
            <a:r>
              <a:t>资料来源与核验说明：</a:t>
            </a:r>
          </a:p>
          <a:p>
            <a:r>
              <a:t>依据用户座谈方案整理；参照《智造人才画像》企业访谈提纲与问卷结构。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【第16页】请现场评分，专家判断将直接指向模型修订</a:t>
            </a:r>
          </a:p>
          <a:p>
            <a:r>
              <a:t>建议时长：15分钟评分 + 3分钟总结</a:t>
            </a:r>
          </a:p>
          <a:p>
            <a:r>
              <a:t>评分规则：1=不成立，2=需较大修改，3=基本成立但需调整，4=较适用，5=高度适用。不熟悉或不适用的维度记N/A，不计入均值。15分钟独立评分，随后3分钟总结。建议写明具体岗位、行为案例与修改条目。3工作日汇总、10工作日反馈为本次拟定处理机制，不声称企业已批准。采纳状态包含采纳、部分采纳、待议、不采纳，并提供理由；待议事项另约复核。没有问卷链接，因此不生成虚假二维码。</a:t>
            </a:r>
          </a:p>
          <a:p/>
          <a:p>
            <a:r>
              <a:t>资料来源与核验说明：</a:t>
            </a:r>
          </a:p>
          <a:p>
            <a:r>
              <a:t>用户指定评分表与反馈流程；该评分表评价模型适配性，1—5分不同于能力行为1—4级。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Relationship Id="rId5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Relationship Id="rId5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Relationship Id="rId5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885825"/>
            <a:ext cx="10001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4E1EC"/>
                </a:solidFill>
                <a:latin typeface="Noto Sans CJK SC"/>
                <a:ea typeface="Noto Sans CJK SC"/>
              </a:rPr>
              <a:t>广东工业大学管理学院  /  粤来粤好队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52500" y="1504950"/>
            <a:ext cx="1333500" cy="0"/>
          </a:xfrm>
          <a:prstGeom prst="line">
            <a:avLst/>
          </a:prstGeom>
          <a:ln w="25400">
            <a:solidFill>
              <a:srgbClr val="E5C178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952500" y="2533650"/>
            <a:ext cx="10001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基于胜任力模型的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162300"/>
            <a:ext cx="10382250" cy="1276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600" b="0">
                <a:solidFill>
                  <a:srgbClr val="E5C178"/>
                </a:solidFill>
                <a:latin typeface="Ma Shan Zheng"/>
                <a:ea typeface="Ma Shan Zheng"/>
              </a:rPr>
              <a:t>先进制造业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438650"/>
            <a:ext cx="1085850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0">
                <a:solidFill>
                  <a:srgbClr val="E5C178"/>
                </a:solidFill>
                <a:latin typeface="Ma Shan Zheng"/>
                <a:ea typeface="Ma Shan Zheng"/>
              </a:rPr>
              <a:t>人才标准框架与体系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5962650"/>
            <a:ext cx="8420100" cy="82867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2500" y="5962650"/>
            <a:ext cx="38100" cy="828675"/>
          </a:xfrm>
          <a:prstGeom prst="rect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1100" y="6038850"/>
            <a:ext cx="79057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立白科技调研座谈会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7705725"/>
            <a:ext cx="107632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D1DBE4"/>
                </a:solidFill>
                <a:latin typeface="Noto Sans CJK SC"/>
                <a:ea typeface="Noto Sans CJK SC"/>
              </a:rPr>
              <a:t>汇报人：罗琳  |  2026年10月09日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8391525"/>
            <a:ext cx="108585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4E4EC"/>
                </a:solidFill>
                <a:latin typeface="Noto Sans CJK SC"/>
                <a:ea typeface="Noto Sans CJK SC"/>
              </a:rPr>
              <a:t>五类人才  ×  三维能力  ×  三级人才  ·  三层标准组合</a:t>
            </a:r>
          </a:p>
        </p:txBody>
      </p:sp>
      <p:sp>
        <p:nvSpPr>
          <p:cNvPr id="13" name="Oval 12"/>
          <p:cNvSpPr/>
          <p:nvPr/>
        </p:nvSpPr>
        <p:spPr>
          <a:xfrm>
            <a:off x="15620999" y="866775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4"/>
          <a:srcRect l="55000" r="8300" t="3400" b="3800"/>
          <a:stretch>
            <a:fillRect/>
          </a:stretch>
        </p:blipFill>
        <p:spPr>
          <a:xfrm>
            <a:off x="15659100" y="8705850"/>
            <a:ext cx="685800" cy="6858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6630650" y="866775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4"/>
          <a:srcRect l="8800" r="54500" t="3400" b="3800"/>
          <a:stretch>
            <a:fillRect/>
          </a:stretch>
        </p:blipFill>
        <p:spPr>
          <a:xfrm>
            <a:off x="16668750" y="8705850"/>
            <a:ext cx="685800" cy="685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430250" y="9553575"/>
            <a:ext cx="3924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EC1D0"/>
                </a:solidFill>
                <a:latin typeface="Noto Sans CJK SC"/>
                <a:ea typeface="Noto Sans CJK SC"/>
              </a:rPr>
              <a:t>先进制造业人才标准 | 01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500"/>
                      <p:tgtEl>
                        <p:spTgt spid="3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500"/>
                      <p:tgtEl>
                        <p:spTgt spid="5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500"/>
                      <p:tgtEl>
                        <p:spTgt spid="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500"/>
                      <p:tgtEl>
                        <p:spTgt spid="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会议目标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2014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介绍模型、请您验证，共同判断模型是否成立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952500" y="2095499"/>
            <a:ext cx="16383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分类是否合理 · 行为是否可评 · 标准是否适配立白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02</a:t>
            </a:r>
          </a:p>
        </p:txBody>
      </p:sp>
      <p:sp>
        <p:nvSpPr>
          <p:cNvPr id="18" name="Oval 17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52500" y="3048000"/>
            <a:ext cx="5181600" cy="2190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2500" y="3257550"/>
            <a:ext cx="28575" cy="1771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266825" y="3305175"/>
            <a:ext cx="14287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409700" y="3305175"/>
            <a:ext cx="47625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457325" y="3352800"/>
            <a:ext cx="0" cy="21907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H="1">
            <a:off x="1266825" y="3571875"/>
            <a:ext cx="1905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1266825" y="3305175"/>
            <a:ext cx="0" cy="2667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409700" y="3305175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409700" y="3352800"/>
            <a:ext cx="4762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304925" y="3409950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304925" y="3467100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304925" y="3524250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1695450" y="3238500"/>
            <a:ext cx="42100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介绍模型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0150" y="3800475"/>
            <a:ext cx="4686300" cy="1276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怎么来 · 为什么这样分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一页看清整体框架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3200" y="3048000"/>
            <a:ext cx="5181600" cy="2190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53200" y="3257550"/>
            <a:ext cx="28575" cy="1771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19900" y="3305175"/>
            <a:ext cx="266700" cy="2667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877050" y="3438525"/>
            <a:ext cx="57150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6934200" y="3381375"/>
            <a:ext cx="104775" cy="1143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7296150" y="3238500"/>
            <a:ext cx="42100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请您验证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0850" y="3800475"/>
            <a:ext cx="4686300" cy="1276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分类 · 能力 · 分级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差异 · 总图 · 缺失项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153900" y="3048000"/>
            <a:ext cx="5181600" cy="2190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153900" y="3257550"/>
            <a:ext cx="28575" cy="1771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496800" y="3305175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12439650" y="3524250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2439650" y="3476625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12496800" y="3476625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2611100" y="3476625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12668250" y="3524250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12896850" y="3238500"/>
            <a:ext cx="42100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提供反馈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01550" y="3800475"/>
            <a:ext cx="4686300" cy="1276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现场评分 + 实际案例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佐证判断 + 修改建议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" y="5857875"/>
            <a:ext cx="1638300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5C178"/>
                </a:solidFill>
                <a:latin typeface="Ma Shan Zheng"/>
                <a:ea typeface="Ma Shan Zheng"/>
              </a:rPr>
              <a:t>专家经验是校准器，真实岗位是检验场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2500" y="7429500"/>
            <a:ext cx="16383000" cy="12573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90625" y="7610474"/>
            <a:ext cx="2952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现场评分结构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29125" y="7667624"/>
            <a:ext cx="1838324" cy="5905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29125" y="7705725"/>
            <a:ext cx="1838324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分类  1—5分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6050" y="7667624"/>
            <a:ext cx="1838324" cy="5905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6050" y="7705725"/>
            <a:ext cx="1838324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能力  1—5分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62975" y="7667624"/>
            <a:ext cx="1838324" cy="5905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62975" y="7705725"/>
            <a:ext cx="1838324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分级  1—5分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629900" y="7667624"/>
            <a:ext cx="1838324" cy="5905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29900" y="7705725"/>
            <a:ext cx="1838324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差异  1—5分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696825" y="7667624"/>
            <a:ext cx="1838324" cy="5905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696825" y="7705725"/>
            <a:ext cx="1838324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总图  1—5分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763749" y="7667624"/>
            <a:ext cx="1838324" cy="5905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763749" y="7705725"/>
            <a:ext cx="1838324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缺失项  1—5分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90625" y="8143875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C2D5"/>
                </a:solidFill>
                <a:latin typeface="Noto Sans CJK SC"/>
                <a:ea typeface="Noto Sans CJK SC"/>
              </a:rPr>
              <a:t>每项附案例与修改建议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3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32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3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33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9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4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4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9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5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50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5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5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产业痛点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2014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人才标准成为竞争变量，四类瓶颈需要系统回应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03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52500" y="2762250"/>
            <a:ext cx="5905500" cy="50482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8737" y="3352800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43062" y="3352800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443037" y="3409950"/>
            <a:ext cx="20002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571625" y="3352800"/>
            <a:ext cx="71437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1571625" y="3409950"/>
            <a:ext cx="71437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1314450" y="3933824"/>
            <a:ext cx="4953000" cy="1047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</a:rPr>
              <a:t>技术迭代加速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</a:rPr>
              <a:t>人才能力同步重构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4450" y="5381625"/>
            <a:ext cx="4953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从“岗位有人”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走向“能力匹配”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标准连接需求、评价与培养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4450" y="70104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5BAC9"/>
                </a:solidFill>
                <a:latin typeface="Noto Sans CJK SC"/>
                <a:ea typeface="Noto Sans CJK SC"/>
              </a:rPr>
              <a:t>请立白专家：选出最突出的一项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762250"/>
            <a:ext cx="4838700" cy="24098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29500" y="2971800"/>
            <a:ext cx="28575" cy="1990725"/>
          </a:xfrm>
          <a:prstGeom prst="rect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0" y="3019425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7715250" y="3238500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7715250" y="3190875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7772400" y="3190875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7886700" y="3190875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943850" y="3238500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172450" y="2952750"/>
            <a:ext cx="38671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关键人才不足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7150" y="3514725"/>
            <a:ext cx="4343400" cy="1495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高端领军 · 核心技术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供给速度跟不上业务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496800" y="2762250"/>
            <a:ext cx="4838700" cy="24098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496800" y="2971800"/>
            <a:ext cx="28575" cy="1990725"/>
          </a:xfrm>
          <a:prstGeom prst="rect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2773025" y="3267075"/>
            <a:ext cx="2476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12773025" y="3028950"/>
            <a:ext cx="0" cy="2381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2830175" y="3171825"/>
            <a:ext cx="0" cy="762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12906375" y="3105150"/>
            <a:ext cx="0" cy="14287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2982575" y="3048000"/>
            <a:ext cx="0" cy="2000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3239750" y="2952750"/>
            <a:ext cx="38671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能力结构错配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44450" y="3514725"/>
            <a:ext cx="4343400" cy="1495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岗位升级 · 技能滞后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数字能力与工艺脱节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29500" y="5400675"/>
            <a:ext cx="4838700" cy="24098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29500" y="5610225"/>
            <a:ext cx="28575" cy="1990725"/>
          </a:xfrm>
          <a:prstGeom prst="rect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696199" y="5657850"/>
            <a:ext cx="266700" cy="2667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753349" y="5791200"/>
            <a:ext cx="57150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7810499" y="5734050"/>
            <a:ext cx="104776" cy="1143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8172450" y="5591175"/>
            <a:ext cx="38671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评价依据不足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77150" y="6153150"/>
            <a:ext cx="4343400" cy="1495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重学历资历 · 轻行为证据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绩效与能力缺少连接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496800" y="5400675"/>
            <a:ext cx="4838700" cy="24098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496800" y="5610225"/>
            <a:ext cx="28575" cy="1990725"/>
          </a:xfrm>
          <a:prstGeom prst="rect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753975" y="5753100"/>
            <a:ext cx="76200" cy="762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963525" y="5753100"/>
            <a:ext cx="76200" cy="762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830175" y="5791200"/>
            <a:ext cx="1333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12915900" y="5753100"/>
            <a:ext cx="47625" cy="381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12915900" y="5791200"/>
            <a:ext cx="47625" cy="381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13239750" y="5591175"/>
            <a:ext cx="38671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培养对接不足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744450" y="6153150"/>
            <a:ext cx="4343400" cy="1495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课程更新慢 · 实践不足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培养到上岗存在断层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2500" y="8248650"/>
            <a:ext cx="16383000" cy="6191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2500" y="8362950"/>
            <a:ext cx="28575" cy="390525"/>
          </a:xfrm>
          <a:prstGeom prst="rect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8296274"/>
            <a:ext cx="157734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用可观察、可评价的行为标准，连接“选、育、用、留”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6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7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5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6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研究设计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2065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招聘数据与五类方法，为模型提供可复核依据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952500" y="2095499"/>
            <a:ext cx="16383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招聘文本、访谈与专家意见交叉验证，形成初始模型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04</a:t>
            </a:r>
          </a:p>
        </p:txBody>
      </p:sp>
      <p:sp>
        <p:nvSpPr>
          <p:cNvPr id="18" name="Oval 17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500" y="2895600"/>
            <a:ext cx="103822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A9C2D5"/>
                </a:solidFill>
                <a:latin typeface="Noto Sans CJK SC"/>
                <a:ea typeface="Noto Sans CJK SC"/>
              </a:rPr>
              <a:t>有效招聘信息 · 总样本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438525"/>
            <a:ext cx="10572750" cy="1457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600" b="1">
                <a:solidFill>
                  <a:srgbClr val="E5C178"/>
                </a:solidFill>
                <a:latin typeface="DejaVu Sans"/>
                <a:ea typeface="Noto Sans CJK SC"/>
              </a:rPr>
              <a:t>339,694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500" y="5219700"/>
            <a:ext cx="5000625" cy="15430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0150" y="5343525"/>
            <a:ext cx="4505325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DejaVu Sans"/>
                <a:ea typeface="Noto Sans CJK SC"/>
              </a:rPr>
              <a:t>290,635</a:t>
            </a:r>
          </a:p>
        </p:txBody>
      </p:sp>
      <p:sp>
        <p:nvSpPr>
          <p:cNvPr id="24" name="Oval 23"/>
          <p:cNvSpPr/>
          <p:nvPr/>
        </p:nvSpPr>
        <p:spPr>
          <a:xfrm>
            <a:off x="1219200" y="6324600"/>
            <a:ext cx="95250" cy="95250"/>
          </a:xfrm>
          <a:prstGeom prst="ellipse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38275" y="6153150"/>
            <a:ext cx="4190999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A9C2D5"/>
                </a:solidFill>
                <a:latin typeface="Noto Sans CJK SC"/>
                <a:ea typeface="Noto Sans CJK SC"/>
              </a:rPr>
              <a:t>新型 · 85.6%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4125" y="5219700"/>
            <a:ext cx="5000625" cy="15430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1775" y="5343525"/>
            <a:ext cx="4505325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DejaVu Sans"/>
                <a:ea typeface="Noto Sans CJK SC"/>
              </a:rPr>
              <a:t>49,059</a:t>
            </a:r>
          </a:p>
        </p:txBody>
      </p:sp>
      <p:sp>
        <p:nvSpPr>
          <p:cNvPr id="28" name="Oval 27"/>
          <p:cNvSpPr/>
          <p:nvPr/>
        </p:nvSpPr>
        <p:spPr>
          <a:xfrm>
            <a:off x="6600825" y="6324600"/>
            <a:ext cx="95250" cy="95250"/>
          </a:xfrm>
          <a:prstGeom prst="ellipse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9900" y="6153150"/>
            <a:ext cx="4190999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A9C2D5"/>
                </a:solidFill>
                <a:latin typeface="Noto Sans CJK SC"/>
                <a:ea typeface="Noto Sans CJK SC"/>
              </a:rPr>
              <a:t>旧型 · 14.4%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66775" y="7115175"/>
          <a:ext cx="10553700" cy="7239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52500" y="7839074"/>
            <a:ext cx="10382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样本分布按有效招聘条数计算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906250" y="2886075"/>
            <a:ext cx="5429250" cy="51625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39625" y="3086100"/>
            <a:ext cx="47625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五类方法 · 交叉验证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334875" y="3952875"/>
            <a:ext cx="14287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2477750" y="3952875"/>
            <a:ext cx="47625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12525375" y="4000500"/>
            <a:ext cx="0" cy="21907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H="1">
            <a:off x="12334875" y="4219575"/>
            <a:ext cx="1905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2334875" y="3952875"/>
            <a:ext cx="0" cy="2667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2477750" y="3952875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12477750" y="4000500"/>
            <a:ext cx="4762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2372975" y="4057650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12372975" y="4114800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2372975" y="4171950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12858750" y="3857625"/>
            <a:ext cx="40957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文献研究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58750" y="4190999"/>
            <a:ext cx="4095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理论与政策依据</a:t>
            </a:r>
          </a:p>
        </p:txBody>
      </p:sp>
      <p:sp>
        <p:nvSpPr>
          <p:cNvPr id="46" name="Oval 45"/>
          <p:cNvSpPr/>
          <p:nvPr/>
        </p:nvSpPr>
        <p:spPr>
          <a:xfrm>
            <a:off x="12363450" y="4752975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2306300" y="4972050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2306300" y="4924425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2363450" y="4924425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12477750" y="4924425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2534900" y="4972050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12858750" y="4657725"/>
            <a:ext cx="40957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行为事件访谈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58750" y="4991100"/>
            <a:ext cx="4095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高绩效行为与真实任务</a:t>
            </a:r>
          </a:p>
        </p:txBody>
      </p:sp>
      <p:sp>
        <p:nvSpPr>
          <p:cNvPr id="54" name="Oval 53"/>
          <p:cNvSpPr/>
          <p:nvPr/>
        </p:nvSpPr>
        <p:spPr>
          <a:xfrm>
            <a:off x="12287250" y="5553075"/>
            <a:ext cx="266700" cy="2667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2344400" y="5686425"/>
            <a:ext cx="57150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12401550" y="5629275"/>
            <a:ext cx="104775" cy="1143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2858750" y="5457825"/>
            <a:ext cx="40957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德尔菲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58750" y="5791200"/>
            <a:ext cx="4095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多轮专家判断与修订</a:t>
            </a:r>
          </a:p>
        </p:txBody>
      </p:sp>
      <p:sp>
        <p:nvSpPr>
          <p:cNvPr id="59" name="Oval 58"/>
          <p:cNvSpPr/>
          <p:nvPr/>
        </p:nvSpPr>
        <p:spPr>
          <a:xfrm>
            <a:off x="12277725" y="6448425"/>
            <a:ext cx="76200" cy="762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487275" y="6448425"/>
            <a:ext cx="76200" cy="762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2353925" y="6486525"/>
            <a:ext cx="1333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12439650" y="6448425"/>
            <a:ext cx="47625" cy="381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12439650" y="6486525"/>
            <a:ext cx="47625" cy="381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12858750" y="6257925"/>
            <a:ext cx="40957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比较分析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58750" y="6591300"/>
            <a:ext cx="4095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共性识别与产业差异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2296775" y="7400925"/>
            <a:ext cx="2476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12296775" y="7162800"/>
            <a:ext cx="0" cy="2381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12353925" y="7305675"/>
            <a:ext cx="0" cy="76199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12430125" y="7239000"/>
            <a:ext cx="0" cy="142874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12506325" y="7181850"/>
            <a:ext cx="0" cy="200024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12858750" y="7058025"/>
            <a:ext cx="40957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大数据分析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58750" y="7391400"/>
            <a:ext cx="4095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招聘表达与要素提取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2500" y="8381999"/>
            <a:ext cx="16383000" cy="6191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2500" y="8496300"/>
            <a:ext cx="28575" cy="390525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38250" y="8429625"/>
            <a:ext cx="157734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同类内部看排序：新型偏技术创新，旧型操作岗偏沟通表达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3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编码过程 · 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2065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独立编码与分歧裁定，让每项能力可追溯、可复核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05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2847975"/>
            <a:ext cx="103822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A9C2D5"/>
                </a:solidFill>
                <a:latin typeface="Noto Sans CJK SC"/>
                <a:ea typeface="Noto Sans CJK SC"/>
              </a:rPr>
              <a:t>编码规模 = 能力条目 × 候选要素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500" y="3524250"/>
            <a:ext cx="4953000" cy="17240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657600"/>
            <a:ext cx="4381500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FFFFFF"/>
                </a:solidFill>
                <a:latin typeface="DejaVu Sans"/>
                <a:ea typeface="Noto Sans CJK SC"/>
              </a:rPr>
              <a:t>12,416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775" y="4600575"/>
            <a:ext cx="43815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A9C2D5"/>
                </a:solidFill>
                <a:latin typeface="Noto Sans CJK SC"/>
                <a:ea typeface="Noto Sans CJK SC"/>
              </a:rPr>
              <a:t>能力条目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1750" y="3524250"/>
            <a:ext cx="4953000" cy="17240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0" y="3657600"/>
            <a:ext cx="4381500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FFFFFF"/>
                </a:solidFill>
                <a:latin typeface="DejaVu Sans"/>
                <a:ea typeface="Noto Sans CJK SC"/>
              </a:rPr>
              <a:t>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7025" y="4600575"/>
            <a:ext cx="43815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A9C2D5"/>
                </a:solidFill>
                <a:latin typeface="Noto Sans CJK SC"/>
                <a:ea typeface="Noto Sans CJK SC"/>
              </a:rPr>
              <a:t>初始要素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3125" y="4029075"/>
            <a:ext cx="390525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45BAC9"/>
                </a:solidFill>
                <a:latin typeface="Noto Sans CJK SC"/>
                <a:ea typeface="Noto Sans CJK SC"/>
              </a:rPr>
              <a:t>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500" y="5610225"/>
            <a:ext cx="10382250" cy="20288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0150" y="5743575"/>
            <a:ext cx="9886950" cy="1047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5900" b="1">
                <a:solidFill>
                  <a:srgbClr val="E5C178"/>
                </a:solidFill>
                <a:latin typeface="DejaVu Sans"/>
                <a:ea typeface="Noto Sans CJK SC"/>
              </a:rPr>
              <a:t>1,117,440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6877050"/>
            <a:ext cx="9525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A9C2D5"/>
                </a:solidFill>
                <a:latin typeface="Noto Sans CJK SC"/>
                <a:ea typeface="Noto Sans CJK SC"/>
              </a:rPr>
              <a:t>编码单元 · 每一判断可追溯、可复核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06250" y="3524250"/>
            <a:ext cx="5429250" cy="41148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49150" y="3752850"/>
            <a:ext cx="474345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Kappa · 编码一致性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7700" y="4467225"/>
            <a:ext cx="5095875" cy="134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000" b="1">
                <a:solidFill>
                  <a:srgbClr val="E5C178"/>
                </a:solidFill>
                <a:latin typeface="DejaVu Sans"/>
                <a:ea typeface="Noto Sans CJK SC"/>
              </a:rPr>
              <a:t>0.900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87250" y="6153150"/>
            <a:ext cx="46672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A9C2D5"/>
                </a:solidFill>
                <a:latin typeface="DejaVu Sans"/>
                <a:ea typeface="Noto Sans CJK SC"/>
              </a:rPr>
              <a:t>Po 0.9979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A9C2D5"/>
                </a:solidFill>
                <a:latin typeface="DejaVu Sans"/>
                <a:ea typeface="Noto Sans CJK SC"/>
              </a:rPr>
              <a:t>Pe 0.9787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2500" y="8115300"/>
            <a:ext cx="16383000" cy="6191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2500" y="8229600"/>
            <a:ext cx="28575" cy="390525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8250" y="8162925"/>
            <a:ext cx="157734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双人独立编码  →  2,376 对分歧  →  第三人裁定  →  11,377 对最终命中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" y="9039225"/>
            <a:ext cx="15240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5B9C8"/>
                </a:solidFill>
                <a:latin typeface="Noto Sans CJK SC"/>
                <a:ea typeface="Noto Sans CJK SC"/>
              </a:rPr>
              <a:t>本节为编码方法示意，正式结果以主报告为准。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编码过程 · 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2065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三轮收敛聚焦关键要素，三层框架区分适用范围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06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2790825"/>
            <a:ext cx="752474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要素收敛 · 90 − 17 = 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2790825"/>
            <a:ext cx="74295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适用范围 · 通用、产业、岗位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500" y="4057650"/>
            <a:ext cx="2190750" cy="24003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5375" y="4276725"/>
            <a:ext cx="1905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6200" b="1">
                <a:solidFill>
                  <a:srgbClr val="FFFFFF"/>
                </a:solidFill>
                <a:latin typeface="DejaVu Sans"/>
                <a:ea typeface="Noto Sans CJK SC"/>
              </a:rPr>
              <a:t>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375" y="5553075"/>
            <a:ext cx="19050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初始要素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9500" y="4057650"/>
            <a:ext cx="2190750" cy="24003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2374" y="4276725"/>
            <a:ext cx="1905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6200" b="1">
                <a:solidFill>
                  <a:srgbClr val="A9C2D5"/>
                </a:solidFill>
                <a:latin typeface="DejaVu Sans"/>
                <a:ea typeface="Noto Sans CJK SC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2374" y="5553075"/>
            <a:ext cx="19050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A9C2D5"/>
                </a:solidFill>
                <a:latin typeface="Noto Sans CJK SC"/>
                <a:ea typeface="Noto Sans CJK SC"/>
              </a:rPr>
              <a:t>剔除 17 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4057650"/>
            <a:ext cx="2190750" cy="24003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9375" y="4276725"/>
            <a:ext cx="19050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6200" b="1">
                <a:solidFill>
                  <a:srgbClr val="E5C178"/>
                </a:solidFill>
                <a:latin typeface="DejaVu Sans"/>
                <a:ea typeface="Noto Sans CJK SC"/>
              </a:rPr>
              <a:t>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5553075"/>
            <a:ext cx="19050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5C178"/>
                </a:solidFill>
                <a:latin typeface="Noto Sans CJK SC"/>
                <a:ea typeface="Noto Sans CJK SC"/>
              </a:rPr>
              <a:t>保留 73 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90875" y="5248275"/>
            <a:ext cx="342900" cy="0"/>
          </a:xfrm>
          <a:prstGeom prst="line">
            <a:avLst/>
          </a:prstGeom>
          <a:ln w="19050">
            <a:solidFill>
              <a:srgbClr val="45BAC9"/>
            </a:solidFill>
            <a:tailEnd type="triangle" w="sm" len="sm"/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857875" y="5248275"/>
            <a:ext cx="342900" cy="0"/>
          </a:xfrm>
          <a:prstGeom prst="line">
            <a:avLst/>
          </a:prstGeom>
          <a:ln w="19050">
            <a:solidFill>
              <a:srgbClr val="45BAC9"/>
            </a:solidFill>
            <a:tailEnd type="triangle" w="sm" len="sm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952500" y="6867525"/>
            <a:ext cx="7524749" cy="885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A9C2D5"/>
                </a:solidFill>
                <a:latin typeface="Noto Sans CJK SC"/>
                <a:ea typeface="Noto Sans CJK SC"/>
              </a:rPr>
              <a:t>同义整理  /  低频剔除  /  结构收敛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3050" y="3476625"/>
            <a:ext cx="0" cy="4581525"/>
          </a:xfrm>
          <a:prstGeom prst="line">
            <a:avLst/>
          </a:prstGeom>
          <a:ln w="12700">
            <a:solidFill>
              <a:srgbClr val="29475C"/>
            </a:solidFill>
          </a:ln>
          <a:effectLst/>
        </p:spPr>
      </p:cxnSp>
      <p:sp>
        <p:nvSpPr>
          <p:cNvPr id="34" name="Oval 33"/>
          <p:cNvSpPr/>
          <p:nvPr/>
        </p:nvSpPr>
        <p:spPr>
          <a:xfrm>
            <a:off x="11582400" y="3686175"/>
            <a:ext cx="4076699" cy="4076699"/>
          </a:xfrm>
          <a:prstGeom prst="ellipse">
            <a:avLst/>
          </a:prstGeom>
          <a:solidFill>
            <a:srgbClr val="285C7C"/>
          </a:solidFill>
          <a:ln w="1270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193905" y="4297680"/>
            <a:ext cx="2853690" cy="2853690"/>
          </a:xfrm>
          <a:prstGeom prst="ellipse">
            <a:avLst/>
          </a:prstGeom>
          <a:solidFill>
            <a:srgbClr val="167AA0"/>
          </a:solidFill>
          <a:ln w="1270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805410" y="4909184"/>
            <a:ext cx="1630680" cy="1630680"/>
          </a:xfrm>
          <a:prstGeom prst="ellipse">
            <a:avLst/>
          </a:prstGeom>
          <a:solidFill>
            <a:srgbClr val="16A8BE"/>
          </a:solidFill>
          <a:ln w="1270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25793" y="5438775"/>
            <a:ext cx="1589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通用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95822" y="4419980"/>
            <a:ext cx="26498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产业背景 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90069" y="7151370"/>
            <a:ext cx="326136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岗位专有 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6000" y="8001000"/>
            <a:ext cx="74295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A9C2D5"/>
                </a:solidFill>
                <a:latin typeface="Noto Sans CJK SC"/>
                <a:ea typeface="Noto Sans CJK SC"/>
              </a:rPr>
              <a:t>22 + 48 + 20 = 90 · 候选要素分层</a:t>
            </a:r>
          </a:p>
        </p:txBody>
      </p:sp>
      <p:sp>
        <p:nvSpPr>
          <p:cNvPr id="41" name="Oval 40"/>
          <p:cNvSpPr/>
          <p:nvPr/>
        </p:nvSpPr>
        <p:spPr>
          <a:xfrm>
            <a:off x="2149078" y="8149828"/>
            <a:ext cx="216693" cy="216693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195512" y="8258175"/>
            <a:ext cx="46434" cy="46434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241946" y="8211740"/>
            <a:ext cx="85130" cy="92869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2533650" y="8039099"/>
            <a:ext cx="5381625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</a:rPr>
              <a:t>90 行单调性校验通过 · 无倒挂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500" y="9039225"/>
            <a:ext cx="15240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5B9C8"/>
                </a:solidFill>
                <a:latin typeface="Noto Sans CJK SC"/>
                <a:ea typeface="Noto Sans CJK SC"/>
              </a:rPr>
              <a:t>本节为编码方法示意，正式结果以主报告为准。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分类逻辑 · 产业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技术内核不同，能力要求需要差异化配置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07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52500" y="2857500"/>
            <a:ext cx="8001000" cy="4857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47787" y="3457575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62112" y="3457575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462087" y="3514725"/>
            <a:ext cx="20002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590675" y="3457575"/>
            <a:ext cx="71437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1590675" y="3514725"/>
            <a:ext cx="71437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2038349" y="3124200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</a:rPr>
              <a:t>新型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4010025"/>
            <a:ext cx="723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45BAC9"/>
                </a:solidFill>
                <a:latin typeface="Noto Sans CJK SC"/>
                <a:ea typeface="Noto Sans CJK SC"/>
              </a:rPr>
              <a:t>数字与信息技术内核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4905375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信息技术 · 自动化 · 软件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3500" y="560070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传感 · 网络 · 系统整合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3500" y="6296025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数字化 · 跨领域协同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4500" y="2857500"/>
            <a:ext cx="8001000" cy="4857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29787" y="3457575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44112" y="3457575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844087" y="3514725"/>
            <a:ext cx="20002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9972675" y="3457575"/>
            <a:ext cx="71437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9972675" y="3514725"/>
            <a:ext cx="71437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0420350" y="3124200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</a:rPr>
              <a:t>旧型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5500" y="4010025"/>
            <a:ext cx="723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45BAC9"/>
                </a:solidFill>
                <a:latin typeface="Noto Sans CJK SC"/>
                <a:ea typeface="Noto Sans CJK SC"/>
              </a:rPr>
              <a:t>既有工艺与材料技术内核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5500" y="4905375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物理 · 生物 · 化学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5500" y="560070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新材料 · 纳米 · 工艺积累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5500" y="6296025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合规 · 流程 · 吸收数字化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3143250"/>
            <a:ext cx="0" cy="4305300"/>
          </a:xfrm>
          <a:prstGeom prst="line">
            <a:avLst/>
          </a:prstGeom>
          <a:ln w="19050">
            <a:solidFill>
              <a:srgbClr val="29475C"/>
            </a:solidFill>
          </a:ln>
          <a:effectLst/>
        </p:spPr>
      </p:cxnSp>
      <p:sp>
        <p:nvSpPr>
          <p:cNvPr id="42" name="Rounded Rectangle 41"/>
          <p:cNvSpPr/>
          <p:nvPr/>
        </p:nvSpPr>
        <p:spPr>
          <a:xfrm>
            <a:off x="952500" y="8143875"/>
            <a:ext cx="16383000" cy="666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2500" y="8258175"/>
            <a:ext cx="28575" cy="438150"/>
          </a:xfrm>
          <a:prstGeom prst="rect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8250" y="8191500"/>
            <a:ext cx="157734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同一企业可以并存两类岗位逻辑；请按核心工艺与业务功能判断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3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3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3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分类逻辑 · 人才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五类人才按工作功能划分，覆盖操作到战略的完整链条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08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52500" y="3076575"/>
            <a:ext cx="3086100" cy="40576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333750"/>
            <a:ext cx="25717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45BAC9"/>
                </a:solidFill>
                <a:latin typeface="DejaVu Sans"/>
                <a:ea typeface="Noto Sans CJK SC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4286250"/>
            <a:ext cx="257175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智能制造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5619750"/>
            <a:ext cx="2571750" cy="1190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设备操作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参数控制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现场协作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6725" y="3076575"/>
            <a:ext cx="3086100" cy="40576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4375" y="3333750"/>
            <a:ext cx="25717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45BAC9"/>
                </a:solidFill>
                <a:latin typeface="DejaVu Sans"/>
                <a:ea typeface="Noto Sans CJK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4375" y="4286250"/>
            <a:ext cx="257175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4375" y="5619750"/>
            <a:ext cx="2571750" cy="1190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技术创新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研发验证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成果转化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00950" y="3076575"/>
            <a:ext cx="3086100" cy="40576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8600" y="3333750"/>
            <a:ext cx="25717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45BAC9"/>
                </a:solidFill>
                <a:latin typeface="DejaVu Sans"/>
                <a:ea typeface="Noto Sans CJK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0" y="4286250"/>
            <a:ext cx="257175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数字化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8600" y="5619750"/>
            <a:ext cx="2571750" cy="1190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数据治理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系统协同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流程优化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25175" y="3076575"/>
            <a:ext cx="3086100" cy="40576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72825" y="3333750"/>
            <a:ext cx="25717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45BAC9"/>
                </a:solidFill>
                <a:latin typeface="DejaVu Sans"/>
                <a:ea typeface="Noto Sans CJK SC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72825" y="4286250"/>
            <a:ext cx="257175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2825" y="5619750"/>
            <a:ext cx="2571750" cy="1190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需求转译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跨域融合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项目协同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249400" y="3076575"/>
            <a:ext cx="3086100" cy="40576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497050" y="3333750"/>
            <a:ext cx="25717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45BAC9"/>
                </a:solidFill>
                <a:latin typeface="DejaVu Sans"/>
                <a:ea typeface="Noto Sans CJK S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97050" y="4286250"/>
            <a:ext cx="257175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97050" y="5619750"/>
            <a:ext cx="2571750" cy="1190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方向判断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资源配置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战略落地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0500" y="7334250"/>
            <a:ext cx="4286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4724" y="7334250"/>
            <a:ext cx="4286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48950" y="7334250"/>
            <a:ext cx="4286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73175" y="7334250"/>
            <a:ext cx="4286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" y="7848600"/>
            <a:ext cx="1638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技术应用  →  创新研发  →  系统管理  →  跨界融合  →  战略引领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500" y="8610600"/>
            <a:ext cx="16383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功能递进是认知路径；五类不等同于单一晋升阶梯。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分类逻辑 ·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硬、软、元三维能力，用三问逐项校验归属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09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09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52500" y="2867025"/>
            <a:ext cx="5181600" cy="45339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181100" y="2867025"/>
            <a:ext cx="47244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276350" y="3105150"/>
            <a:ext cx="6858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5C178"/>
                </a:solidFill>
                <a:latin typeface="DejaVu Sans"/>
                <a:ea typeface="Noto Sans CJK SC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5499" y="3105150"/>
            <a:ext cx="36385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erif CJK SC"/>
                <a:ea typeface="Noto Serif CJK SC"/>
              </a:rPr>
              <a:t>硬技能</a:t>
            </a:r>
          </a:p>
        </p:txBody>
      </p:sp>
      <p:sp>
        <p:nvSpPr>
          <p:cNvPr id="23" name="Oval 22"/>
          <p:cNvSpPr/>
          <p:nvPr/>
        </p:nvSpPr>
        <p:spPr>
          <a:xfrm>
            <a:off x="3048000" y="4057650"/>
            <a:ext cx="990599" cy="990599"/>
          </a:xfrm>
          <a:prstGeom prst="ellipse">
            <a:avLst/>
          </a:prstGeom>
          <a:noFill/>
          <a:ln w="1270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414712" y="4352925"/>
            <a:ext cx="214313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629025" y="4352925"/>
            <a:ext cx="71437" cy="71437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700462" y="4424362"/>
            <a:ext cx="0" cy="328613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3414712" y="4752975"/>
            <a:ext cx="2857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3414712" y="4352925"/>
            <a:ext cx="0" cy="4000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3629025" y="4352925"/>
            <a:ext cx="0" cy="71437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3629025" y="4424362"/>
            <a:ext cx="71437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471862" y="4510087"/>
            <a:ext cx="1714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471862" y="4595812"/>
            <a:ext cx="1714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3471862" y="4681537"/>
            <a:ext cx="1714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1238250" y="5372100"/>
            <a:ext cx="461010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E5C178"/>
                </a:solidFill>
                <a:latin typeface="Noto Sans CJK SC"/>
                <a:ea typeface="Noto Sans CJK SC"/>
              </a:rPr>
              <a:t>证书 / 作品 / 参数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248400"/>
            <a:ext cx="44196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E5EFF5"/>
                </a:solidFill>
                <a:latin typeface="Noto Sans CJK SC"/>
                <a:ea typeface="Noto Sans CJK SC"/>
              </a:rPr>
              <a:t>能否用技能成果直接验证？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3200" y="2867025"/>
            <a:ext cx="5181600" cy="45339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781800" y="2867025"/>
            <a:ext cx="47244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6877050" y="3105150"/>
            <a:ext cx="6858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5C178"/>
                </a:solidFill>
                <a:latin typeface="DejaVu Sans"/>
                <a:ea typeface="Noto Sans CJK SC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6199" y="3105150"/>
            <a:ext cx="36385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erif CJK SC"/>
                <a:ea typeface="Noto Serif CJK SC"/>
              </a:rPr>
              <a:t>软技能</a:t>
            </a:r>
          </a:p>
        </p:txBody>
      </p:sp>
      <p:sp>
        <p:nvSpPr>
          <p:cNvPr id="40" name="Oval 39"/>
          <p:cNvSpPr/>
          <p:nvPr/>
        </p:nvSpPr>
        <p:spPr>
          <a:xfrm>
            <a:off x="8648700" y="4057650"/>
            <a:ext cx="990599" cy="990599"/>
          </a:xfrm>
          <a:prstGeom prst="ellipse">
            <a:avLst/>
          </a:prstGeom>
          <a:noFill/>
          <a:ln w="1270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58275" y="4352925"/>
            <a:ext cx="171450" cy="17145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8972550" y="4681537"/>
            <a:ext cx="0" cy="71438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8972550" y="4610100"/>
            <a:ext cx="85725" cy="71437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9058275" y="4610100"/>
            <a:ext cx="1714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9229725" y="4610100"/>
            <a:ext cx="85725" cy="71437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9315450" y="4681537"/>
            <a:ext cx="0" cy="71438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838950" y="5372100"/>
            <a:ext cx="461010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E5C178"/>
                </a:solidFill>
                <a:latin typeface="Noto Sans CJK SC"/>
                <a:ea typeface="Noto Sans CJK SC"/>
              </a:rPr>
              <a:t>互动 / 协商 / 协同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4200" y="6248400"/>
            <a:ext cx="44196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E5EFF5"/>
                </a:solidFill>
                <a:latin typeface="Noto Sans CJK SC"/>
                <a:ea typeface="Noto Sans CJK SC"/>
              </a:rPr>
              <a:t>核心是否依赖人与人协作？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153900" y="2867025"/>
            <a:ext cx="5181600" cy="45339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2382500" y="2867025"/>
            <a:ext cx="47244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2477750" y="3105150"/>
            <a:ext cx="6858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5C178"/>
                </a:solidFill>
                <a:latin typeface="DejaVu Sans"/>
                <a:ea typeface="Noto Sans CJK SC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96900" y="3105150"/>
            <a:ext cx="36385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erif CJK SC"/>
                <a:ea typeface="Noto Serif CJK SC"/>
              </a:rPr>
              <a:t>元技能</a:t>
            </a:r>
          </a:p>
        </p:txBody>
      </p:sp>
      <p:sp>
        <p:nvSpPr>
          <p:cNvPr id="53" name="Oval 52"/>
          <p:cNvSpPr/>
          <p:nvPr/>
        </p:nvSpPr>
        <p:spPr>
          <a:xfrm>
            <a:off x="14249400" y="4057650"/>
            <a:ext cx="990599" cy="990599"/>
          </a:xfrm>
          <a:prstGeom prst="ellipse">
            <a:avLst/>
          </a:prstGeom>
          <a:noFill/>
          <a:ln w="1270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544675" y="4352925"/>
            <a:ext cx="400050" cy="40005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4644687" y="4452937"/>
            <a:ext cx="200025" cy="200025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14744700" y="4352925"/>
            <a:ext cx="200025" cy="2000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2439650" y="5372100"/>
            <a:ext cx="461010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E5C178"/>
                </a:solidFill>
                <a:latin typeface="Noto Sans CJK SC"/>
                <a:ea typeface="Noto Sans CJK SC"/>
              </a:rPr>
              <a:t>跨任务 / 跨情境迁移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534900" y="6248400"/>
            <a:ext cx="44196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E5EFF5"/>
                </a:solidFill>
                <a:latin typeface="Noto Sans CJK SC"/>
                <a:ea typeface="Noto Sans CJK SC"/>
              </a:rPr>
              <a:t>能否在变化中学习、适应与重组？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2500" y="7743825"/>
            <a:ext cx="16383000" cy="990599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9675" y="7848600"/>
            <a:ext cx="2524125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>
                <a:solidFill>
                  <a:srgbClr val="E5C178"/>
                </a:solidFill>
                <a:latin typeface="DejaVu Sans"/>
                <a:ea typeface="Noto Sans CJK SC"/>
              </a:rPr>
              <a:t>90 / 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19549" y="7820025"/>
            <a:ext cx="5257800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要素全部纳入归属校验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5EFF5"/>
                </a:solidFill>
                <a:latin typeface="Noto Sans CJK SC"/>
                <a:ea typeface="Noto Sans CJK SC"/>
              </a:rPr>
              <a:t>按种子词典暂归类，复核后回填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20250" y="7820025"/>
            <a:ext cx="7239000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5C178"/>
                </a:solidFill>
                <a:latin typeface="Noto Sans CJK SC"/>
                <a:ea typeface="Noto Sans CJK SC"/>
              </a:rPr>
              <a:t>2 项归属不一致 · 提交团队复核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5C178"/>
                </a:solidFill>
                <a:latin typeface="Noto Sans CJK SC"/>
                <a:ea typeface="Noto Sans CJK SC"/>
              </a:rPr>
              <a:t>跨域项目管理、旧型战略团队管理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2500" y="9039225"/>
            <a:ext cx="15240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5B9C8"/>
                </a:solidFill>
                <a:latin typeface="Noto Sans CJK SC"/>
                <a:ea typeface="Noto Sans CJK SC"/>
              </a:rPr>
              <a:t>本节为编码方法示意，正式结果以主报告为准。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4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5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8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3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39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分类逻辑 · 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人才定角色，标准定内容，行为等级定评价尺度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10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52500" y="2952750"/>
            <a:ext cx="5181600" cy="498157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8250" y="3190875"/>
            <a:ext cx="7429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5C178"/>
                </a:solidFill>
                <a:latin typeface="DejaVu Sans"/>
                <a:ea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8375" y="3171825"/>
            <a:ext cx="3552825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三级人才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3857625"/>
            <a:ext cx="457200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A9C2D5"/>
                </a:solidFill>
                <a:latin typeface="Noto Sans CJK SC"/>
                <a:ea typeface="Noto Sans CJK SC"/>
              </a:rPr>
              <a:t>回答：由谁承担任务？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3200" y="2952750"/>
            <a:ext cx="5181600" cy="498157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8950" y="3190875"/>
            <a:ext cx="7429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5C178"/>
                </a:solidFill>
                <a:latin typeface="DejaVu Sans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9074" y="3171825"/>
            <a:ext cx="3552825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三层标准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8950" y="3857625"/>
            <a:ext cx="457200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A9C2D5"/>
                </a:solidFill>
                <a:latin typeface="Noto Sans CJK SC"/>
                <a:ea typeface="Noto Sans CJK SC"/>
              </a:rPr>
              <a:t>回答：岗位要求哪些能力？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53900" y="2952750"/>
            <a:ext cx="5181600" cy="498157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39650" y="3190875"/>
            <a:ext cx="7429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5C178"/>
                </a:solidFill>
                <a:latin typeface="DejaVu Sans"/>
                <a:ea typeface="Noto Sans CJK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39775" y="3171825"/>
            <a:ext cx="3552825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四级行为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9650" y="3857625"/>
            <a:ext cx="457200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A9C2D5"/>
                </a:solidFill>
                <a:latin typeface="Noto Sans CJK SC"/>
                <a:ea typeface="Noto Sans CJK SC"/>
              </a:rPr>
              <a:t>回答：能力如何观察与评价？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33500" y="6429375"/>
            <a:ext cx="1314450" cy="1000125"/>
          </a:xfrm>
          <a:prstGeom prst="rect">
            <a:avLst/>
          </a:prstGeom>
          <a:solidFill>
            <a:srgbClr val="285C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33500" y="6543675"/>
            <a:ext cx="131445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6075" y="5572125"/>
            <a:ext cx="1314450" cy="1857375"/>
          </a:xfrm>
          <a:prstGeom prst="rect">
            <a:avLst/>
          </a:prstGeom>
          <a:solidFill>
            <a:srgbClr val="1C76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6075" y="5686425"/>
            <a:ext cx="131445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8650" y="4714875"/>
            <a:ext cx="1314450" cy="2714625"/>
          </a:xfrm>
          <a:prstGeom prst="rect">
            <a:avLst/>
          </a:prstGeom>
          <a:solidFill>
            <a:srgbClr val="228D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8650" y="4829175"/>
            <a:ext cx="131445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67525" y="4667250"/>
            <a:ext cx="4552950" cy="781050"/>
          </a:xfrm>
          <a:prstGeom prst="rect">
            <a:avLst/>
          </a:prstGeom>
          <a:solidFill>
            <a:srgbClr val="285C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8975" y="4733925"/>
            <a:ext cx="151447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通用要素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500" y="4781550"/>
            <a:ext cx="26479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5EFF5"/>
                </a:solidFill>
                <a:latin typeface="Noto Sans CJK SC"/>
                <a:ea typeface="Noto Sans CJK SC"/>
              </a:rPr>
              <a:t>跨产业、跨岗位共有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67525" y="5600700"/>
            <a:ext cx="4552950" cy="781050"/>
          </a:xfrm>
          <a:prstGeom prst="rect">
            <a:avLst/>
          </a:prstGeom>
          <a:solidFill>
            <a:srgbClr val="1C76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38975" y="5667375"/>
            <a:ext cx="151447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产业背景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500" y="5715000"/>
            <a:ext cx="26479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5EFF5"/>
                </a:solidFill>
                <a:latin typeface="Noto Sans CJK SC"/>
                <a:ea typeface="Noto Sans CJK SC"/>
              </a:rPr>
              <a:t>同类产业共有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67525" y="6534150"/>
            <a:ext cx="4552950" cy="781050"/>
          </a:xfrm>
          <a:prstGeom prst="rect">
            <a:avLst/>
          </a:prstGeom>
          <a:solidFill>
            <a:srgbClr val="228D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38975" y="6600825"/>
            <a:ext cx="151447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岗位专有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2500" y="6648450"/>
            <a:ext cx="26479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5EFF5"/>
                </a:solidFill>
                <a:latin typeface="Noto Sans CJK SC"/>
                <a:ea typeface="Noto Sans CJK SC"/>
              </a:rPr>
              <a:t>具体岗位特有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96800" y="4667250"/>
            <a:ext cx="523874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5C178"/>
                </a:solidFill>
                <a:latin typeface="DejaVu Sans"/>
                <a:ea typeface="Noto Sans CJK SC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68325" y="46672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指导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68325" y="4991100"/>
            <a:ext cx="3429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按规范完成基础任务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96800" y="5391150"/>
            <a:ext cx="523874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5C178"/>
                </a:solidFill>
                <a:latin typeface="DejaVu Sans"/>
                <a:ea typeface="Noto Sans CJK SC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68325" y="53911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独立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68325" y="5715000"/>
            <a:ext cx="3429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交付常规成果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496800" y="6115050"/>
            <a:ext cx="523874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5C178"/>
                </a:solidFill>
                <a:latin typeface="DejaVu Sans"/>
                <a:ea typeface="Noto Sans CJK SC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68325" y="61150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优化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68325" y="6438900"/>
            <a:ext cx="3429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改进流程与协调资源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496800" y="6838950"/>
            <a:ext cx="523874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5C178"/>
                </a:solidFill>
                <a:latin typeface="DejaVu Sans"/>
                <a:ea typeface="Noto Sans CJK SC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68325" y="68389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主导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68325" y="7162800"/>
            <a:ext cx="3429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构建体系与赋能团队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2500" y="8267699"/>
            <a:ext cx="16383000" cy="6191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2500" y="8381999"/>
            <a:ext cx="28575" cy="390525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8250" y="8315325"/>
            <a:ext cx="157734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每一级人才均组合三层标准；每项能力再用 1—4 级行为锚点评价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模型总览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分类、评价、分级与组合，共同生成岗位人才标准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11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952500" y="2095499"/>
            <a:ext cx="16383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统一模型骨架，依据产业情境与工作任务配置具体岗位标准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11</a:t>
            </a:r>
          </a:p>
        </p:txBody>
      </p:sp>
      <p:sp>
        <p:nvSpPr>
          <p:cNvPr id="18" name="Oval 17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500" y="2771775"/>
            <a:ext cx="68580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① 识别工作功能 · 五类人才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750" y="2771775"/>
            <a:ext cx="48577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产业情境：新型 / 旧型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500" y="3352800"/>
            <a:ext cx="3086100" cy="6953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800" y="3390900"/>
            <a:ext cx="28575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智能制造操作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6725" y="3352800"/>
            <a:ext cx="3086100" cy="6953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1025" y="3390900"/>
            <a:ext cx="28575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00950" y="3352800"/>
            <a:ext cx="3086100" cy="6953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5250" y="3390900"/>
            <a:ext cx="28575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数字化管理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25175" y="3352800"/>
            <a:ext cx="3086100" cy="6953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39475" y="3390900"/>
            <a:ext cx="28575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49400" y="3352800"/>
            <a:ext cx="3086100" cy="6953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363700" y="3390900"/>
            <a:ext cx="28575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95550" y="4057650"/>
            <a:ext cx="0" cy="219075"/>
          </a:xfrm>
          <a:prstGeom prst="line">
            <a:avLst/>
          </a:prstGeom>
          <a:ln w="13970">
            <a:solidFill>
              <a:srgbClr val="45BAC9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819775" y="4057650"/>
            <a:ext cx="0" cy="219075"/>
          </a:xfrm>
          <a:prstGeom prst="line">
            <a:avLst/>
          </a:prstGeom>
          <a:ln w="13970">
            <a:solidFill>
              <a:srgbClr val="45BAC9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9144000" y="4057650"/>
            <a:ext cx="0" cy="219075"/>
          </a:xfrm>
          <a:prstGeom prst="line">
            <a:avLst/>
          </a:prstGeom>
          <a:ln w="13970">
            <a:solidFill>
              <a:srgbClr val="45BAC9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2468225" y="4057650"/>
            <a:ext cx="0" cy="219075"/>
          </a:xfrm>
          <a:prstGeom prst="line">
            <a:avLst/>
          </a:prstGeom>
          <a:ln w="13970">
            <a:solidFill>
              <a:srgbClr val="45BAC9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15792449" y="4057650"/>
            <a:ext cx="0" cy="219075"/>
          </a:xfrm>
          <a:prstGeom prst="line">
            <a:avLst/>
          </a:prstGeom>
          <a:ln w="13970">
            <a:solidFill>
              <a:srgbClr val="45BAC9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495550" y="4276725"/>
            <a:ext cx="13296899" cy="0"/>
          </a:xfrm>
          <a:prstGeom prst="line">
            <a:avLst/>
          </a:prstGeom>
          <a:ln w="13970">
            <a:solidFill>
              <a:srgbClr val="45BAC9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9144000" y="4276725"/>
            <a:ext cx="0" cy="276225"/>
          </a:xfrm>
          <a:prstGeom prst="line">
            <a:avLst/>
          </a:prstGeom>
          <a:ln w="15240">
            <a:solidFill>
              <a:srgbClr val="45BAC9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3543300" y="4552950"/>
            <a:ext cx="11201400" cy="0"/>
          </a:xfrm>
          <a:prstGeom prst="line">
            <a:avLst/>
          </a:prstGeom>
          <a:ln w="15240">
            <a:solidFill>
              <a:srgbClr val="45BAC9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3543300" y="4552950"/>
            <a:ext cx="0" cy="142875"/>
          </a:xfrm>
          <a:prstGeom prst="line">
            <a:avLst/>
          </a:prstGeom>
          <a:ln w="15240">
            <a:solidFill>
              <a:srgbClr val="45BAC9"/>
            </a:solidFill>
            <a:tailEnd type="triangle" w="sm" len="sm"/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9144000" y="4552950"/>
            <a:ext cx="0" cy="142875"/>
          </a:xfrm>
          <a:prstGeom prst="line">
            <a:avLst/>
          </a:prstGeom>
          <a:ln w="15240">
            <a:solidFill>
              <a:srgbClr val="45BAC9"/>
            </a:solidFill>
            <a:tailEnd type="triangle" w="sm" len="sm"/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14744700" y="4552950"/>
            <a:ext cx="0" cy="142875"/>
          </a:xfrm>
          <a:prstGeom prst="line">
            <a:avLst/>
          </a:prstGeom>
          <a:ln w="15240">
            <a:solidFill>
              <a:srgbClr val="45BAC9"/>
            </a:solidFill>
            <a:tailEnd type="triangle" w="sm" len="sm"/>
          </a:ln>
          <a:effectLst/>
        </p:spPr>
      </p:cxnSp>
      <p:sp>
        <p:nvSpPr>
          <p:cNvPr id="43" name="Rounded Rectangle 42"/>
          <p:cNvSpPr/>
          <p:nvPr/>
        </p:nvSpPr>
        <p:spPr>
          <a:xfrm>
            <a:off x="952500" y="4705350"/>
            <a:ext cx="5181600" cy="24574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00150" y="4876800"/>
            <a:ext cx="61912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Noto Sans CJK SC"/>
                <a:ea typeface="Noto Sans CJK SC"/>
              </a:rPr>
              <a:t>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1199" y="49053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三维能力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8250" y="5448300"/>
            <a:ext cx="4572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A9C2D5"/>
                </a:solidFill>
                <a:latin typeface="Noto Sans CJK SC"/>
                <a:ea typeface="Noto Sans CJK SC"/>
              </a:rPr>
              <a:t>明确能力的构成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53200" y="4705350"/>
            <a:ext cx="5181600" cy="24574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00850" y="4876800"/>
            <a:ext cx="61912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Noto Sans CJK SC"/>
                <a:ea typeface="Noto Sans CJK SC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1899" y="49053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三级人才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8950" y="5448300"/>
            <a:ext cx="4572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A9C2D5"/>
                </a:solidFill>
                <a:latin typeface="Noto Sans CJK SC"/>
                <a:ea typeface="Noto Sans CJK SC"/>
              </a:rPr>
              <a:t>明确任务承担角色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153900" y="4705350"/>
            <a:ext cx="5181600" cy="24574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01550" y="4876800"/>
            <a:ext cx="61912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Noto Sans CJK SC"/>
                <a:ea typeface="Noto Sans CJK SC"/>
              </a:rPr>
              <a:t>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182600" y="49053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三层标准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439650" y="5448300"/>
            <a:ext cx="4572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A9C2D5"/>
                </a:solidFill>
                <a:latin typeface="Noto Sans CJK SC"/>
                <a:ea typeface="Noto Sans CJK SC"/>
              </a:rPr>
              <a:t>明确能力的适用范围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1920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5730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硬技能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0035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845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软技能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150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1960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元技能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1990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0105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915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8220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2030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42060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45870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通用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00175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39850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产业背景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5582900" y="6076950"/>
            <a:ext cx="1466850" cy="638175"/>
          </a:xfrm>
          <a:prstGeom prst="roundRect">
            <a:avLst>
              <a:gd name="adj" fmla="val 12000"/>
            </a:avLst>
          </a:prstGeom>
          <a:solidFill>
            <a:srgbClr val="1944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620999" y="6134100"/>
            <a:ext cx="13906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45BAC9"/>
                </a:solidFill>
                <a:latin typeface="Noto Sans CJK SC"/>
                <a:ea typeface="Noto Sans CJK SC"/>
              </a:rPr>
              <a:t>岗位专有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543300" y="7172325"/>
            <a:ext cx="0" cy="361950"/>
          </a:xfrm>
          <a:prstGeom prst="line">
            <a:avLst/>
          </a:prstGeom>
          <a:ln w="17780">
            <a:solidFill>
              <a:srgbClr val="45BAC9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9144000" y="7172325"/>
            <a:ext cx="0" cy="361950"/>
          </a:xfrm>
          <a:prstGeom prst="line">
            <a:avLst/>
          </a:prstGeom>
          <a:ln w="17780">
            <a:solidFill>
              <a:srgbClr val="45BAC9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14744700" y="7172325"/>
            <a:ext cx="0" cy="361950"/>
          </a:xfrm>
          <a:prstGeom prst="line">
            <a:avLst/>
          </a:prstGeom>
          <a:ln w="17780">
            <a:solidFill>
              <a:srgbClr val="45BAC9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3543300" y="7534275"/>
            <a:ext cx="11201400" cy="0"/>
          </a:xfrm>
          <a:prstGeom prst="line">
            <a:avLst/>
          </a:prstGeom>
          <a:ln w="17780">
            <a:solidFill>
              <a:srgbClr val="45BAC9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9144000" y="7534275"/>
            <a:ext cx="0" cy="342900"/>
          </a:xfrm>
          <a:prstGeom prst="line">
            <a:avLst/>
          </a:prstGeom>
          <a:ln w="20320">
            <a:solidFill>
              <a:srgbClr val="45BAC9"/>
            </a:solidFill>
            <a:tailEnd type="triangle" w="sm" len="sm"/>
          </a:ln>
          <a:effectLst/>
        </p:spPr>
      </p:cxnSp>
      <p:sp>
        <p:nvSpPr>
          <p:cNvPr id="78" name="Rounded Rectangle 77"/>
          <p:cNvSpPr/>
          <p:nvPr/>
        </p:nvSpPr>
        <p:spPr>
          <a:xfrm>
            <a:off x="952500" y="7943850"/>
            <a:ext cx="16383000" cy="990599"/>
          </a:xfrm>
          <a:prstGeom prst="roundRect">
            <a:avLst>
              <a:gd name="adj" fmla="val 1600"/>
            </a:avLst>
          </a:prstGeom>
          <a:solidFill>
            <a:srgbClr val="0B3346"/>
          </a:solidFill>
          <a:ln w="12700">
            <a:solidFill>
              <a:srgbClr val="E5C1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19200" y="8058150"/>
            <a:ext cx="5467350" cy="695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C178"/>
                </a:solidFill>
                <a:latin typeface="Noto Sans CJK SC"/>
                <a:ea typeface="Noto Sans CJK SC"/>
              </a:rPr>
              <a:t>具体岗位的人才标准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867525" y="8162925"/>
            <a:ext cx="0" cy="523875"/>
          </a:xfrm>
          <a:prstGeom prst="line">
            <a:avLst/>
          </a:prstGeom>
          <a:ln w="12700">
            <a:solidFill>
              <a:srgbClr val="29475C"/>
            </a:solidFill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7210425" y="8067674"/>
            <a:ext cx="966787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将能力要素落到 1—4 级可观察行为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用于岗位对照、能力评价与培养衔接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3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现有做法对比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分类分级、数据驱动、行为可评，是模型的系统升级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12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52500" y="2762250"/>
          <a:ext cx="16383000" cy="446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/>
                <a:gridCol w="6715125"/>
                <a:gridCol w="7477125"/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比较维度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现有做法 · 常见局限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本模型 · 拟升级方向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人才分类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统一岗位标签，分类边界不清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五类人才，按工作功能区分</a:t>
                      </a:r>
                    </a:p>
                  </a:txBody>
                  <a:tcPr marL="171450" marR="114300" marT="28575" marB="28575" anchor="ctr">
                    <a:solidFill>
                      <a:srgbClr val="18415C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能力结构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重专业技能，协同与适应零散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硬技能 + 软技能 + 元技能</a:t>
                      </a:r>
                    </a:p>
                  </a:txBody>
                  <a:tcPr marL="171450" marR="114300" marT="28575" marB="28575" anchor="ctr">
                    <a:solidFill>
                      <a:srgbClr val="18415C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层级要求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经验判断，级别与行为关系模糊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三级人才 + 1—4级行为锚点</a:t>
                      </a:r>
                    </a:p>
                  </a:txBody>
                  <a:tcPr marL="171450" marR="114300" marT="28575" marB="28575" anchor="ctr">
                    <a:solidFill>
                      <a:srgbClr val="18415C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产业适配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统一标准，技术背景差异不足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新 / 旧产业差异化配置</a:t>
                      </a:r>
                    </a:p>
                  </a:txBody>
                  <a:tcPr marL="171450" marR="114300" marT="28575" marB="28575" anchor="ctr">
                    <a:solidFill>
                      <a:srgbClr val="18415C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证据来源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依赖经验，缺少可复核过程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招聘数据 + 访谈 + 专家校验</a:t>
                      </a:r>
                    </a:p>
                  </a:txBody>
                  <a:tcPr marL="171450" marR="114300" marT="28575" marB="28575" anchor="ctr">
                    <a:solidFill>
                      <a:srgbClr val="18415C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应用方式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评价、培养与岗位配置衔接弱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通用 / 产业 / 岗位三层组合</a:t>
                      </a:r>
                    </a:p>
                  </a:txBody>
                  <a:tcPr marL="171450" marR="114300" marT="28575" marB="28575" anchor="ctr">
                    <a:solidFill>
                      <a:srgbClr val="18415C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952500" y="8001000"/>
            <a:ext cx="16383000" cy="6191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2500" y="8115300"/>
            <a:ext cx="28575" cy="390525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8250" y="8048625"/>
            <a:ext cx="157734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在分类、能力、分级与产业差异上升级，并与立白现有实践衔接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8791575"/>
            <a:ext cx="1638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请专家逐行判断：更适用 / 需调整 / 不适用；以实际制度与案例佐证。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行为标准 · 新型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智能制造操作能力，从“会操作”走向“能主导”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13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13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52500" y="2714625"/>
          <a:ext cx="1171575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0382250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设备操作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能操作基础智能化生产设备，完成简单加工任务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可熟练操作核心生产设备，精准控制生产参数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能优化设备运行参数，提升生产精度与效率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可主导设备智能化升级后的操作适配，培训团队操作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52500" y="4686300"/>
          <a:ext cx="1171575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0382250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ERP操作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能使用ERP生产模块录入生产数据，查询订单进度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可独立通过ERP下达生产计划，跟踪物料需求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能通过ERP分析生产瓶颈，调整生产调度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可主导ERP生产模块与设备数据联动，实现数字化生产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52500" y="6657975"/>
          <a:ext cx="1171575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0382250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CAD解读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能识别简单零件图纸，理解基础加工要求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可解读复杂装配图纸，明确关键加工节点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能根据图纸优化加工路径，提升加工效率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可结合图纸与设备特性，提出工艺优化建议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3096875" y="2714625"/>
            <a:ext cx="4238625" cy="57531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87375" y="2876550"/>
            <a:ext cx="3857625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三级人才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配置对照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3192125" y="3867150"/>
          <a:ext cx="4048124" cy="26955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cxnSp>
        <p:nvCxnSpPr>
          <p:cNvPr id="25" name="Connector 24"/>
          <p:cNvCxnSpPr/>
          <p:nvPr/>
        </p:nvCxnSpPr>
        <p:spPr>
          <a:xfrm>
            <a:off x="13277850" y="6743700"/>
            <a:ext cx="219075" cy="0"/>
          </a:xfrm>
          <a:prstGeom prst="line">
            <a:avLst/>
          </a:prstGeom>
          <a:ln w="25400">
            <a:solidFill>
              <a:srgbClr val="9CBFD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3563600" y="6562725"/>
            <a:ext cx="1015999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</a:rPr>
              <a:t>基础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627225" y="6743700"/>
            <a:ext cx="219075" cy="0"/>
          </a:xfrm>
          <a:prstGeom prst="line">
            <a:avLst/>
          </a:prstGeom>
          <a:ln w="25400">
            <a:solidFill>
              <a:srgbClr val="45BAC9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14912975" y="6562725"/>
            <a:ext cx="1015999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</a:rPr>
              <a:t>骨干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976600" y="6743700"/>
            <a:ext cx="219074" cy="0"/>
          </a:xfrm>
          <a:prstGeom prst="line">
            <a:avLst/>
          </a:prstGeom>
          <a:ln w="25400">
            <a:solidFill>
              <a:srgbClr val="E5C178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6262350" y="6562725"/>
            <a:ext cx="1015999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87375" y="7105650"/>
            <a:ext cx="3857625" cy="9905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三条线代表基础、骨干、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高端三级配置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刻度 1—4 级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行为标准 · 旧型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3990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旧型产业能力，更强调合规、流程与经验传承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14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14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52500" y="2714625"/>
          <a:ext cx="1171575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0382250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GMP合规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能了解GMP基础条款，遵守简单合规要求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可熟练掌握GMP核心条款，规范执行操作流程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能检查操作中的GMP合规性，纠正违规行为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可主导企业GMP体系优化，通过合规审核并降低风险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52500" y="4686300"/>
          <a:ext cx="1171575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0382250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SOP执行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能阅读SOP文档，按指导完成基础操作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可独立严格执行SOP流程，记录操作过程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能发现SOP中的优化点，提出修订建议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可主导SOP体系修订与培训，推动全员规范执行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52500" y="6657975"/>
          <a:ext cx="1171575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0382250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经验积累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能记录基础操作经验，总结简单操作规律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可整理个人操作经验，形成基础操作笔记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能提炼班组共性经验，形成标准化操作建议</a:t>
                      </a:r>
                    </a:p>
                  </a:txBody>
                  <a:tcPr marL="171450" marR="114300" marT="28575" marB="28575" anchor="ctr">
                    <a:solidFill>
                      <a:srgbClr val="15354F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E5C178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E5EFF5"/>
                          </a:solidFill>
                          <a:latin typeface="Noto Sans CJK SC"/>
                          <a:ea typeface="Noto Sans CJK SC"/>
                        </a:rPr>
                        <a:t>可构建企业级操作经验库，指导全员提升技能</a:t>
                      </a:r>
                    </a:p>
                  </a:txBody>
                  <a:tcPr marL="171450" marR="114300" marT="28575" marB="28575" anchor="ctr">
                    <a:solidFill>
                      <a:srgbClr val="102B42"/>
                    </a:solidFill>
                    <a:lnL w="0">
                      <a:solidFill>
                        <a:srgbClr val="29475C"/>
                      </a:solidFill>
                    </a:lnL>
                    <a:lnR w="0">
                      <a:solidFill>
                        <a:srgbClr val="29475C"/>
                      </a:solidFill>
                    </a:lnR>
                    <a:lnT w="0">
                      <a:solidFill>
                        <a:srgbClr val="29475C"/>
                      </a:solidFill>
                    </a:lnT>
                    <a:lnB w="6350">
                      <a:solidFill>
                        <a:srgbClr val="29475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3096875" y="2714625"/>
            <a:ext cx="4238625" cy="57531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87375" y="2876550"/>
            <a:ext cx="3857625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三级人才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配置对照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3192125" y="3867150"/>
          <a:ext cx="4048124" cy="26955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Oval 24"/>
          <p:cNvSpPr/>
          <p:nvPr/>
        </p:nvSpPr>
        <p:spPr>
          <a:xfrm>
            <a:off x="13277850" y="6705600"/>
            <a:ext cx="76200" cy="76200"/>
          </a:xfrm>
          <a:prstGeom prst="ellipse">
            <a:avLst/>
          </a:prstGeom>
          <a:solidFill>
            <a:srgbClr val="9CB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63600" y="6562725"/>
            <a:ext cx="1015999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27" name="Oval 26"/>
          <p:cNvSpPr/>
          <p:nvPr/>
        </p:nvSpPr>
        <p:spPr>
          <a:xfrm>
            <a:off x="14627225" y="6705600"/>
            <a:ext cx="76200" cy="76200"/>
          </a:xfrm>
          <a:prstGeom prst="ellipse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12975" y="6562725"/>
            <a:ext cx="1015999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29" name="Oval 28"/>
          <p:cNvSpPr/>
          <p:nvPr/>
        </p:nvSpPr>
        <p:spPr>
          <a:xfrm>
            <a:off x="15976600" y="6705600"/>
            <a:ext cx="76200" cy="76200"/>
          </a:xfrm>
          <a:prstGeom prst="ellipse">
            <a:avLst/>
          </a:prstGeom>
          <a:solidFill>
            <a:srgbClr val="E5C1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62350" y="6562725"/>
            <a:ext cx="1015999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87375" y="7029450"/>
            <a:ext cx="3857625" cy="1133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三色点代表三级配置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经验积累待验证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9C2D5"/>
                </a:solidFill>
                <a:latin typeface="Noto Sans CJK SC"/>
                <a:ea typeface="Noto Sans CJK SC"/>
              </a:rPr>
              <a:t>缺失维度不绘值、不连线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5915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模型是否成立，取决于专家判断与真实岗位证据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15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15</a:t>
            </a:r>
          </a:p>
        </p:txBody>
      </p:sp>
      <p:sp>
        <p:nvSpPr>
          <p:cNvPr id="17" name="Oval 16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2800350"/>
            <a:ext cx="666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C178"/>
                </a:solidFill>
                <a:latin typeface="DejaVu Sans"/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2600" y="2800350"/>
            <a:ext cx="6667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五类人才分类是否完整、边界清楚？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500" y="3524250"/>
            <a:ext cx="7620000" cy="0"/>
          </a:xfrm>
          <a:prstGeom prst="line">
            <a:avLst/>
          </a:prstGeom>
          <a:ln w="8890">
            <a:solidFill>
              <a:srgbClr val="29475C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52500" y="3619500"/>
            <a:ext cx="666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C178"/>
                </a:solidFill>
                <a:latin typeface="DejaVu Sans"/>
                <a:ea typeface="Noto Sans CJK S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2600" y="3619500"/>
            <a:ext cx="6667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硬 / 软 / 元能力能否解释岗位表现？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2500" y="4343400"/>
            <a:ext cx="7620000" cy="0"/>
          </a:xfrm>
          <a:prstGeom prst="line">
            <a:avLst/>
          </a:prstGeom>
          <a:ln w="8890">
            <a:solidFill>
              <a:srgbClr val="29475C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952500" y="4438650"/>
            <a:ext cx="666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C178"/>
                </a:solidFill>
                <a:latin typeface="DejaVu Sans"/>
                <a:ea typeface="Noto Sans CJK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2600" y="4438650"/>
            <a:ext cx="6667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三级人才与1—4级行为是否合理？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2500" y="5162550"/>
            <a:ext cx="7620000" cy="0"/>
          </a:xfrm>
          <a:prstGeom prst="line">
            <a:avLst/>
          </a:prstGeom>
          <a:ln w="8890">
            <a:solidFill>
              <a:srgbClr val="29475C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952500" y="5257800"/>
            <a:ext cx="666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C178"/>
                </a:solidFill>
                <a:latin typeface="DejaVu Sans"/>
                <a:ea typeface="Noto Sans CJK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600" y="5257800"/>
            <a:ext cx="6667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新 / 旧产业差异是否符合实际？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500" y="5981700"/>
            <a:ext cx="7620000" cy="0"/>
          </a:xfrm>
          <a:prstGeom prst="line">
            <a:avLst/>
          </a:prstGeom>
          <a:ln w="8890">
            <a:solidFill>
              <a:srgbClr val="29475C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952500" y="6076950"/>
            <a:ext cx="666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C178"/>
                </a:solidFill>
                <a:latin typeface="DejaVu Sans"/>
                <a:ea typeface="Noto Sans CJK SC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2600" y="6076950"/>
            <a:ext cx="6667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总图能否支撑评价与人才培养？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2500" y="6800850"/>
            <a:ext cx="7620000" cy="0"/>
          </a:xfrm>
          <a:prstGeom prst="line">
            <a:avLst/>
          </a:prstGeom>
          <a:ln w="8890">
            <a:solidFill>
              <a:srgbClr val="29475C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952500" y="6896100"/>
            <a:ext cx="666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C178"/>
                </a:solidFill>
                <a:latin typeface="DejaVu Sans"/>
                <a:ea typeface="Noto Sans CJK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2600" y="6896100"/>
            <a:ext cx="6667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还缺少哪些能力、岗位或情境？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2500" y="7620000"/>
            <a:ext cx="7620000" cy="0"/>
          </a:xfrm>
          <a:prstGeom prst="line">
            <a:avLst/>
          </a:prstGeom>
          <a:ln w="8890">
            <a:solidFill>
              <a:srgbClr val="29475C"/>
            </a:solidFill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9334500" y="2809875"/>
            <a:ext cx="3886200" cy="1428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34500" y="3019425"/>
            <a:ext cx="28575" cy="1009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01200" y="3067050"/>
            <a:ext cx="266700" cy="2667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658350" y="3200400"/>
            <a:ext cx="57150" cy="571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9715500" y="3143250"/>
            <a:ext cx="104775" cy="1143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10077450" y="3000375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现场评分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150" y="356235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六维度统一尺度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449300" y="2809875"/>
            <a:ext cx="3886200" cy="1428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449300" y="3019425"/>
            <a:ext cx="28575" cy="1009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792200" y="3067050"/>
            <a:ext cx="114300" cy="1143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3735050" y="3286125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3735050" y="3238500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3792200" y="3238500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13906500" y="3238500"/>
            <a:ext cx="5715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3963650" y="3286125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14192250" y="3000375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岗位对照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696950" y="356235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选择最熟悉岗位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34500" y="4429125"/>
            <a:ext cx="3886200" cy="1428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34500" y="4638675"/>
            <a:ext cx="28575" cy="1009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648825" y="4686300"/>
            <a:ext cx="14287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9791700" y="4686300"/>
            <a:ext cx="47625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9839325" y="4733925"/>
            <a:ext cx="0" cy="21907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H="1">
            <a:off x="9648825" y="4953000"/>
            <a:ext cx="1905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9648825" y="4686300"/>
            <a:ext cx="0" cy="2667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9791700" y="4686300"/>
            <a:ext cx="0" cy="476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9791700" y="4733925"/>
            <a:ext cx="47625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9686925" y="4791075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9686925" y="4848225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9686925" y="4905375"/>
            <a:ext cx="11430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10077450" y="4619625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案例佐证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82150" y="51816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用真实行为说明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449300" y="4429125"/>
            <a:ext cx="3886200" cy="1428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449300" y="4638675"/>
            <a:ext cx="28575" cy="1009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3725525" y="4933950"/>
            <a:ext cx="2476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13725525" y="4695825"/>
            <a:ext cx="0" cy="2381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13782675" y="4838700"/>
            <a:ext cx="0" cy="762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13858875" y="4772025"/>
            <a:ext cx="0" cy="14287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13935075" y="4714875"/>
            <a:ext cx="0" cy="200025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14192250" y="4619625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边界检验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696950" y="51816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识别交叉与遗漏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334500" y="6048375"/>
            <a:ext cx="3886200" cy="1428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34500" y="6257925"/>
            <a:ext cx="28575" cy="1009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591675" y="6400800"/>
            <a:ext cx="76200" cy="762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801225" y="6400800"/>
            <a:ext cx="76200" cy="762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9667875" y="6438900"/>
            <a:ext cx="133350" cy="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9753600" y="6400800"/>
            <a:ext cx="47625" cy="381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9753600" y="6438900"/>
            <a:ext cx="47625" cy="3810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10077450" y="6238875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等级校准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82150" y="680085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核对任务复杂度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3449300" y="6048375"/>
            <a:ext cx="3886200" cy="142875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449300" y="6257925"/>
            <a:ext cx="28575" cy="1009650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3716000" y="6305550"/>
            <a:ext cx="266700" cy="26670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3782675" y="6372225"/>
            <a:ext cx="133350" cy="133350"/>
          </a:xfrm>
          <a:prstGeom prst="ellipse">
            <a:avLst/>
          </a:prstGeom>
          <a:noFill/>
          <a:ln w="19050">
            <a:solidFill>
              <a:srgbClr val="45BA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V="1">
            <a:off x="13849350" y="6305550"/>
            <a:ext cx="133350" cy="133350"/>
          </a:xfrm>
          <a:prstGeom prst="line">
            <a:avLst/>
          </a:prstGeom>
          <a:ln w="19050">
            <a:solidFill>
              <a:srgbClr val="45BAC9"/>
            </a:solidFill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14192250" y="6238875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修改建议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696950" y="680085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5EFF5"/>
                </a:solidFill>
                <a:latin typeface="Noto Sans CJK SC"/>
                <a:ea typeface="Noto Sans CJK SC"/>
              </a:rPr>
              <a:t>提出可执行调整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52500" y="8286750"/>
            <a:ext cx="16383000" cy="619125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52500" y="8401050"/>
            <a:ext cx="28575" cy="390525"/>
          </a:xfrm>
          <a:prstGeom prst="rect">
            <a:avLst/>
          </a:prstGeom>
          <a:solidFill>
            <a:srgbClr val="45BA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38250" y="8334375"/>
            <a:ext cx="157734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反馈记录：维度 + 1—5 分 + 一个岗位案例 + 一条修改建议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-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1B2D">
              <a:alpha val="7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85775"/>
            <a:ext cx="6667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5BAC9"/>
                </a:solidFill>
                <a:latin typeface="Noto Sans CJK SC"/>
                <a:ea typeface="Noto Sans CJK SC"/>
              </a:rPr>
              <a:t>评分与下一步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调研目标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研究依据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700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C2D5"/>
                </a:solidFill>
                <a:latin typeface="Noto Sans CJK SC"/>
                <a:ea typeface="Noto Sans CJK SC"/>
              </a:rPr>
              <a:t>模型结构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0" y="428625"/>
            <a:ext cx="16192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C178"/>
                </a:solidFill>
                <a:latin typeface="Noto Sans CJK SC"/>
                <a:ea typeface="Noto Sans CJK SC"/>
              </a:rPr>
              <a:t>专家验证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59150" y="866775"/>
            <a:ext cx="933450" cy="0"/>
          </a:xfrm>
          <a:prstGeom prst="line">
            <a:avLst/>
          </a:prstGeom>
          <a:ln w="13970">
            <a:solidFill>
              <a:srgbClr val="E5C178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952500" y="1143000"/>
            <a:ext cx="15573375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请现场评分，专家判断将直接指向模型修订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6849" y="1304925"/>
            <a:ext cx="628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5C178"/>
                </a:solidFill>
                <a:latin typeface="DejaVu Sans"/>
                <a:ea typeface="Noto Sans CJK SC"/>
              </a:rPr>
              <a:t>16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2486025"/>
            <a:ext cx="16383000" cy="0"/>
          </a:xfrm>
          <a:prstGeom prst="line">
            <a:avLst/>
          </a:prstGeom>
          <a:ln w="8255">
            <a:solidFill>
              <a:srgbClr val="2947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52500" y="2486025"/>
            <a:ext cx="914399" cy="0"/>
          </a:xfrm>
          <a:prstGeom prst="line">
            <a:avLst/>
          </a:prstGeom>
          <a:ln w="20320">
            <a:solidFill>
              <a:srgbClr val="45BAC9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952500" y="2095499"/>
            <a:ext cx="16383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9C2D5"/>
                </a:solidFill>
                <a:latin typeface="Noto Sans CJK SC"/>
                <a:ea typeface="Noto Sans CJK SC"/>
              </a:rPr>
              <a:t>1 不成立 · 2 大幅修改 · 3 基本成立 · 4 较适用 · 5 高度适用 · N/A 不适用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500" y="9382125"/>
            <a:ext cx="16383000" cy="0"/>
          </a:xfrm>
          <a:prstGeom prst="line">
            <a:avLst/>
          </a:prstGeom>
          <a:ln w="10160">
            <a:solidFill>
              <a:srgbClr val="29475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952500" y="9525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9BFD0"/>
                </a:solidFill>
                <a:latin typeface="Noto Sans CJK SC"/>
                <a:ea typeface="Noto Sans CJK SC"/>
              </a:rPr>
              <a:t>立白科技调研座谈会  ·  2026.10.09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0" y="9525000"/>
            <a:ext cx="376237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BFD0"/>
                </a:solidFill>
                <a:latin typeface="Noto Sans CJK SC"/>
                <a:ea typeface="Noto Sans CJK SC"/>
              </a:rPr>
              <a:t>先进制造业人才标准 | 16</a:t>
            </a:r>
          </a:p>
        </p:txBody>
      </p:sp>
      <p:sp>
        <p:nvSpPr>
          <p:cNvPr id="18" name="Oval 17"/>
          <p:cNvSpPr/>
          <p:nvPr/>
        </p:nvSpPr>
        <p:spPr>
          <a:xfrm>
            <a:off x="16840200" y="94297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878300" y="9467850"/>
            <a:ext cx="457200" cy="45720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52500" y="2686050"/>
          <a:ext cx="16382999" cy="558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5238750"/>
                <a:gridCol w="1428750"/>
                <a:gridCol w="7810499"/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验证维度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核心问题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1—5 分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修改建议 / 岗位案例</a:t>
                      </a:r>
                    </a:p>
                  </a:txBody>
                  <a:tcPr marL="171450" marR="114300" marT="28575" marB="28575" anchor="ctr">
                    <a:solidFill>
                      <a:srgbClr val="214969"/>
                    </a:solidFill>
                    <a:lnL w="0">
                      <a:solidFill>
                        <a:srgbClr val="45BAC9"/>
                      </a:solidFill>
                    </a:lnL>
                    <a:lnR w="0">
                      <a:solidFill>
                        <a:srgbClr val="45BAC9"/>
                      </a:solidFill>
                    </a:lnR>
                    <a:lnT w="0">
                      <a:solidFill>
                        <a:srgbClr val="45BAC9"/>
                      </a:solidFill>
                    </a:lnT>
                    <a:lnB w="6350">
                      <a:solidFill>
                        <a:srgbClr val="45BAC9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人才分类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五类是否完整，边界是否清楚？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71450" marR="114300" marT="28575" marB="28575" anchor="ctr">
                    <a:solidFill>
                      <a:srgbClr val="F5F7FA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能力维度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硬 / 软 / 元能否解释岗位表现？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71450" marR="114300" marT="28575" marB="28575" anchor="ctr">
                    <a:solidFill>
                      <a:srgbClr val="F5F7FA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人才分级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三级人才与行为等级是否合理？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71450" marR="114300" marT="28575" marB="28575" anchor="ctr">
                    <a:solidFill>
                      <a:srgbClr val="F5F7FA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产业差异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新 / 旧能力侧重是否符合实际？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71450" marR="114300" marT="28575" marB="28575" anchor="ctr">
                    <a:solidFill>
                      <a:srgbClr val="F5F7FA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模型总图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整体框架能否用于评价与培养？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71450" marR="114300" marT="28575" marB="28575" anchor="ctr">
                    <a:solidFill>
                      <a:srgbClr val="F5F7FA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缺失项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关键能力、岗位、情境是否遗漏？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4334D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71450" marR="114300" marT="28575" marB="28575" anchor="ctr">
                    <a:solidFill>
                      <a:srgbClr val="FFFFFF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71450" marR="114300" marT="28575" marB="28575" anchor="ctr">
                    <a:solidFill>
                      <a:srgbClr val="F5F7FA"/>
                    </a:solidFill>
                    <a:lnL w="0">
                      <a:solidFill>
                        <a:srgbClr val="D9E2EC"/>
                      </a:solidFill>
                    </a:lnL>
                    <a:lnR w="0">
                      <a:solidFill>
                        <a:srgbClr val="D9E2EC"/>
                      </a:solidFill>
                    </a:lnR>
                    <a:lnT w="0">
                      <a:solidFill>
                        <a:srgbClr val="D9E2EC"/>
                      </a:solidFill>
                    </a:lnT>
                    <a:lnB w="6350">
                      <a:solidFill>
                        <a:srgbClr val="D9E2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52500" y="8467725"/>
            <a:ext cx="1485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</a:rPr>
              <a:t>现场评分  →  3 工作日汇总  →  团队研判  →  10 工作日反馈  →  待议复核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8924925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E5C178"/>
                </a:solidFill>
                <a:latin typeface="Ma Shan Zheng"/>
                <a:ea typeface="Ma Shan Zheng"/>
              </a:rPr>
              <a:t>感谢各位专家，共同验证先进制造业人才标准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0" y="8972550"/>
            <a:ext cx="609600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C2D5"/>
                </a:solidFill>
                <a:latin typeface="Noto Sans CJK SC"/>
                <a:ea typeface="Noto Sans CJK SC"/>
              </a:rPr>
              <a:t>采纳 / 部分采纳 / 待议 / 不采纳，均反馈理由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383000" y="8582025"/>
            <a:ext cx="952500" cy="685800"/>
          </a:xfrm>
          <a:prstGeom prst="roundRect">
            <a:avLst>
              <a:gd name="adj" fmla="val 1799"/>
            </a:avLst>
          </a:prstGeom>
          <a:gradFill rotWithShape="1">
            <a:gsLst>
              <a:gs pos="0">
                <a:srgbClr val="17394F"/>
              </a:gs>
              <a:gs pos="100000">
                <a:srgbClr val="10293D"/>
              </a:gs>
            </a:gsLst>
            <a:lin ang="5400000" scaled="0"/>
          </a:gradFill>
          <a:ln w="12700">
            <a:solidFill>
              <a:srgbClr val="2947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0" y="8639175"/>
            <a:ext cx="800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BA5AF"/>
                </a:solidFill>
                <a:latin typeface="Noto Sans CJK SC"/>
                <a:ea typeface="Noto Sans CJK SC"/>
              </a:rPr>
              <a:t>问卷链接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BA5AF"/>
                </a:solidFill>
                <a:latin typeface="Noto Sans CJK SC"/>
                <a:ea typeface="Noto Sans CJK SC"/>
              </a:rPr>
              <a:t>待补充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基于胜任力模型的先进制造业人才标准框架与体系——立白科技调研座谈会</dc:title>
  <dc:subject>企业专家验证交流稿 · 2026年10月09日</dc:subject>
  <dc:creator>广东工业大学管理学院 | 粤来粤好队 | 罗琳</dc:creator>
  <cp:keywords>胜任力模型,先进制造业,人才标准,立白科技,专家验证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