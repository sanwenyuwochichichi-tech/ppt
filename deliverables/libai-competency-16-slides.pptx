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style val="10"/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基础</c:v>
                </c:pt>
              </c:strCache>
            </c:strRef>
          </c:tx>
          <c:spPr>
            <a:ln w="27940">
              <a:solidFill>
                <a:srgbClr val="B2DFDB"/>
              </a:solidFill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设备操作</c:v>
                </c:pt>
                <c:pt idx="1">
                  <c:v>ERP操作</c:v>
                </c:pt>
                <c:pt idx="2">
                  <c:v>CAD解读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4</c:v>
                </c:pt>
                <c:pt idx="2">
                  <c:v>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骨干</c:v>
                </c:pt>
              </c:strCache>
            </c:strRef>
          </c:tx>
          <c:spPr>
            <a:ln w="27940">
              <a:solidFill>
                <a:srgbClr val="00A6A6"/>
              </a:solidFill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设备操作</c:v>
                </c:pt>
                <c:pt idx="1">
                  <c:v>ERP操作</c:v>
                </c:pt>
                <c:pt idx="2">
                  <c:v>CAD解读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高端</c:v>
                </c:pt>
              </c:strCache>
            </c:strRef>
          </c:tx>
          <c:spPr>
            <a:ln w="27940">
              <a:solidFill>
                <a:srgbClr val="0B2A4A"/>
              </a:solidFill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设备操作</c:v>
                </c:pt>
                <c:pt idx="1">
                  <c:v>ERP操作</c:v>
                </c:pt>
                <c:pt idx="2">
                  <c:v>CAD解读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3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Noto Sans CJK SC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  <c:max val="4.0"/>
          <c:min val="0.0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073612648"/>
        <c:crosses val="autoZero"/>
        <c:crossBetween val="between"/>
        <c:majorUnit val="1.0"/>
      </c:valAx>
    </c:plotArea>
    <c:legend>
      <c:legendPos val="b"/>
      <c:overlay val="0"/>
      <c:txPr>
        <a:bodyPr/>
        <a:lstStyle/>
        <a:p>
          <a:pPr>
            <a:defRPr sz="1300">
              <a:latin typeface="Noto Sans CJK S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【第1页】基于胜任力模型的先进制造业人才标准框架与体系</a:t>
            </a:r>
          </a:p>
          <a:p>
            <a:r>
              <a:t>建议时长：1分钟</a:t>
            </a:r>
          </a:p>
          <a:p>
            <a:r>
              <a:t>开场问候。今天希望在立白的真实岗位与管理实践中，验证模型分类、能力维度、分级以及产业差异。说明本次是专家验证交流稿，并非模型效度已得到最终确认。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【第2页】介绍模型、请您验证，共同判断模型是否成立</a:t>
            </a:r>
          </a:p>
          <a:p>
            <a:r>
              <a:t>建议时长：2分钟</a:t>
            </a:r>
          </a:p>
          <a:p>
            <a:r>
              <a:t>强调不是单向汇报，而是请专家做专业判断。先介绍模型怎么来，再请专家用岗位案例评分；不了解的维度可以标注不适用，不要强迫评分。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【第3页】人才标准成为竞争变量，四类瓶颈需要系统回应</a:t>
            </a:r>
          </a:p>
          <a:p>
            <a:r>
              <a:t>建议时长：2分钟</a:t>
            </a:r>
          </a:p>
          <a:p>
            <a:r>
              <a:t>请专家对照立白实际：哪一项最突出？请给一个岗位例子。将企业反馈区分为关键人才供给、能力配置、评价依据和培养衔接四类。</a:t>
            </a:r>
          </a:p>
          <a:p/>
          <a:p>
            <a:r>
              <a:t>资料来源与核验说明：</a:t>
            </a:r>
          </a:p>
          <a:p>
            <a:r>
              <a:t>《优化版本项目报告》§3.4人才队伍建设短板；《智造人才画像》绪论。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【第4页】339,694 条招聘信息与五类方法，共同支撑建模</a:t>
            </a:r>
          </a:p>
          <a:p>
            <a:r>
              <a:t>建议时长：2分钟</a:t>
            </a:r>
          </a:p>
          <a:p>
            <a:r>
              <a:t>强调数据是招聘市场公开能力表达，不是已录用结果。新旧样本量不同，不能直接把频次差异解释为需求强度差异。请专家判断样本覆盖与方法组合是否可信。</a:t>
            </a:r>
          </a:p>
          <a:p/>
          <a:p>
            <a:r>
              <a:t>资料来源与核验说明：</a:t>
            </a:r>
          </a:p>
          <a:p>
            <a:r>
              <a:t>核心来源：《202602优化版本-先进制造业人才标准项目报告0201》§4.2.1；《智造人才画像》仅作佐证。2025年公开招聘文本：总计339,694，新型290,635，旧型49,059。招聘表达不等同于实际录用、岗位绩效或因果验证。 方法来源：《优化版本项目报告》§2.4。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【第5页】编码示例：111 万单元经核验，Kappa = 0.900</a:t>
            </a:r>
          </a:p>
          <a:p>
            <a:r>
              <a:t>建议时长：3分钟</a:t>
            </a:r>
          </a:p>
          <a:p>
            <a:r>
              <a:t>本页专门讲解编码方法，补充Excel为编码示例，正式模型仍以主报告为准。解释：Kappa衡量扣除随机一致性后的编码者一致性，不代表模型效度。每个条目对应90项要素判定，111万是编码矩阵规模。示例招聘文本数量与正式全国样本数量不可混淆，问专家流程和阈值是否可接受。</a:t>
            </a:r>
          </a:p>
          <a:p/>
          <a:p>
            <a:r>
              <a:t>资料来源与核验说明：</a:t>
            </a:r>
          </a:p>
          <a:p>
            <a:r>
              <a:t>补充附件仅为编码示例，不能替代《202602优化版本项目报告0201》的正式研究结论。示例来源07_总体Kappa、第三人裁定与最终编码及10_分歧清单第三人裁判结果：N=12,416×90=1,117,440，A命中11,473，B命中12,551，交集10,824；Po=0.9978737113、Pe=0.9787315003、Kappa=0.9000263916（显示0.900）；分歧2,376，裁定命中553，最终命中11,377。示例工作簿说明页标注模拟研究，用户已明确补充附件用于编码示例。展示表内核验结果用于讲解流程，不声称正式样本完成这些编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【第6页】编码示例：三问定维度、三轮收敛，90 行校验无倒挂</a:t>
            </a:r>
          </a:p>
          <a:p>
            <a:r>
              <a:t>建议时长：3分钟</a:t>
            </a:r>
          </a:p>
          <a:p>
            <a:r>
              <a:t>本页数字和无倒挂结论仅对应编码示例，不替代主报告正式模型。请专家判断低频阈值小于5次、每类每维度至多3项是否适用。初始90与保留73为不同口径；三层22+48+20=90也为示例初始池。示例层级采用规则赋值，所以单调性不能替代企业验证。</a:t>
            </a:r>
          </a:p>
          <a:p/>
          <a:p>
            <a:r>
              <a:t>资料来源与核验说明：</a:t>
            </a:r>
          </a:p>
          <a:p>
            <a:r>
              <a:t>核心模型以《202602优化版本项目报告0201》为准；补充08、09、12仅为编码示例。示例采用裁定后页：剔除17项保留73项；候选矩阵90行均满足基础≤骨干≤高端，通用22+产业背景48+岗位专有20=90，数量不得移作主报告正式框架结论。示例三层按跨人才类别覆盖度分组；包括17项剔除候选与16项无证据占位行。示例08：90项有唯一维度，2项与种子词典不一致。示例的单调性由赋值规则保证，不证明主报告矩阵也已无倒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【第7页】技术内核不同，能力要求需要差异化配置</a:t>
            </a:r>
          </a:p>
          <a:p>
            <a:r>
              <a:t>建议时长：2分钟</a:t>
            </a:r>
          </a:p>
          <a:p>
            <a:r>
              <a:t>请专家判断立白的核心工艺与数字化部门如何定位。新旧是本研究分析标签，不是对产业先进程度的排序；传统化学日化生产同样可能具有高度智能化设备和系统。不要让企业或员工被强行归入单一类别。</a:t>
            </a:r>
          </a:p>
          <a:p/>
          <a:p>
            <a:r>
              <a:t>资料来源与核验说明：</a:t>
            </a:r>
          </a:p>
          <a:p>
            <a:r>
              <a:t>《优化版本项目报告》§3.2、§3.3；《智造人才画像》§4.3。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【第8页】五类人才按工作功能划分，覆盖操作到战略的完整链条</a:t>
            </a:r>
          </a:p>
          <a:p>
            <a:r>
              <a:t>建议时长：3分钟</a:t>
            </a:r>
          </a:p>
          <a:p>
            <a:r>
              <a:t>请专家判断五类是否完整、边界是否清楚，是否缺少质量、安全、供应链等重要职能。递进路径是认知与职能范围的展开，不代表员工必须按五类逐级晋升；复合岗位可设主类别与兼具能力。</a:t>
            </a:r>
          </a:p>
          <a:p/>
          <a:p>
            <a:r>
              <a:t>资料来源与核验说明：</a:t>
            </a:r>
          </a:p>
          <a:p>
            <a:r>
              <a:t>《优化版本项目报告》§4.1；《智造人才画像》§4.1。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【第9页】硬、软、元三维能力，用三问逐项校验归属</a:t>
            </a:r>
          </a:p>
          <a:p>
            <a:r>
              <a:t>建议时长：3分钟</a:t>
            </a:r>
          </a:p>
          <a:p>
            <a:r>
              <a:t>硬、软、元三维结构以主报告为准。三问、90/90覆盖以及2项争议为补充编码示例，用于说明如何核验归属，不声称是主报告正式编码结果。种子词典可作为当前基准，但允许专家以真实任务建议修订。</a:t>
            </a:r>
          </a:p>
          <a:p/>
          <a:p>
            <a:r>
              <a:t>资料来源与核验说明：</a:t>
            </a:r>
          </a:p>
          <a:p>
            <a:r>
              <a:t>核心模型以《202602优化版本项目报告0201》为准；补充08、09、12仅为编码示例。示例采用裁定后页：剔除17项保留73项；候选矩阵90行均满足基础≤骨干≤高端，通用22+产业背景48+岗位专有20=90，数量不得移作主报告正式框架结论。示例三层按跨人才类别覆盖度分组；包括17项剔除候选与16项无证据占位行。示例08：90项有唯一维度，2项与种子词典不一致。示例的单调性由赋值规则保证，不证明主报告矩阵也已无倒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【第10页】三级人才回答“谁”，三层标准回答“要求什么”</a:t>
            </a:r>
          </a:p>
          <a:p>
            <a:r>
              <a:t>建议时长：3分钟</a:t>
            </a:r>
          </a:p>
          <a:p>
            <a:r>
              <a:t>请专家判断人才层级与标准层次是否清楚。三级是基础、骨干、高端的人才角色；三层是通用、产业背景、岗位专有的适用范围。每个层级均需组合三层要求，不是基础等于通用、高端等于岗位专有。1—4级是单项能力行为刻度，也不同于三级人才。</a:t>
            </a:r>
          </a:p>
          <a:p/>
          <a:p>
            <a:r>
              <a:t>资料来源与核验说明：</a:t>
            </a:r>
          </a:p>
          <a:p>
            <a:r>
              <a:t>核心模型以《202602优化版本项目报告0201》为准；补充08、09、12仅为编码示例。示例采用裁定后页：剔除17项保留73项；候选矩阵90行均满足基础≤骨干≤高端，通用22+产业背景48+岗位专有20=90，数量不得移作主报告正式框架结论。示例三层按跨人才类别覆盖度分组；包括17项剔除候选与16项无证据占位行。示例08：90项有唯一维度，2项与种子词典不一致。示例的单调性由赋值规则保证，不证明主报告矩阵也已无倒挂。 行为锚点：《智造人才画像》附录表30。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【第11页】五类 × 三维 × 三级，以三层标准承载产业差异</a:t>
            </a:r>
          </a:p>
          <a:p>
            <a:r>
              <a:t>建议时长：3分钟</a:t>
            </a:r>
          </a:p>
          <a:p>
            <a:r>
              <a:t>请专家判断总图是否清晰、框架是否完整。右侧是概念矩阵，以卡片呈现，不是新增数据表；关键词用于解释关系，不是所有岗位统一的最低能力等级。三层数量口径仍需与修订底表核对。</a:t>
            </a:r>
          </a:p>
          <a:p/>
          <a:p>
            <a:r>
              <a:t>资料来源与核验说明：</a:t>
            </a:r>
          </a:p>
          <a:p>
            <a:r>
              <a:t>核心模型以《202602优化版本项目报告0201》为准；补充08、09、12仅为编码示例。示例采用裁定后页：剔除17项保留73项；候选矩阵90行均满足基础≤骨干≤高端，通用22+产业背景48+岗位专有20=90，数量不得移作主报告正式框架结论。示例三层按跨人才类别覆盖度分组；包括17项剔除候选与16项无证据占位行。示例08：90项有唯一维度，2项与种子词典不一致。示例的单调性由赋值规则保证，不证明主报告矩阵也已无倒挂。 模型主结构：《优化版本项目报告》摘要、§6；《智造人才画像》§4.1—4.3。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【第12页】分类分级、数据驱动、行为可评，是模型的系统升级</a:t>
            </a:r>
          </a:p>
          <a:p>
            <a:r>
              <a:t>建议时长：3分钟</a:t>
            </a:r>
          </a:p>
          <a:p>
            <a:r>
              <a:t>现有做法列是研究提出的对比假设，不代表所有企业都如此；请立白逐行判断哪些适用，哪些不适用。模型尚未完成绩效预测效度验证，所以避免直接宣称优于现有标准。</a:t>
            </a:r>
          </a:p>
          <a:p/>
          <a:p>
            <a:r>
              <a:t>资料来源与核验说明：</a:t>
            </a:r>
          </a:p>
          <a:p>
            <a:r>
              <a:t>《优化版本项目报告》§5—§7；对比表由两份报告与用户方案整理，现有做法为典型概括，非立白现状诊断。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【第13页】智能制造操作能力，从“会操作”走向“能主导”</a:t>
            </a:r>
          </a:p>
          <a:p>
            <a:r>
              <a:t>建议时长：2分钟</a:t>
            </a:r>
          </a:p>
          <a:p>
            <a:r>
              <a:t>请专家逐项判断行为描述是否可观察、可评价，结合立白案例提出修改。表格逐字引自主报告新型智能制造操作人才评价表的12条行为原文；图值取主报告表4-11：设备4/3/2、ERP4/4/3、CAD3/4/3。按用户核心口径要求保留原报告矩阵，不用补充示例的不同数字覆盖。原矩阵存在非单调项目，请在座谈中确认这些数值是否表达不同角色的专业要求，还是最低准入等级需要调整。</a:t>
            </a:r>
          </a:p>
          <a:p/>
          <a:p>
            <a:r>
              <a:t>资料来源与核验说明：</a:t>
            </a:r>
          </a:p>
          <a:p>
            <a:r>
              <a:t>核心来源：《202602优化版本项目报告0201》行为评价表（Word内部表索引32，从0开始）与表4-11/4-16能力矩阵。行为描述逐字引用；雷达仅采用主报告配置值，不采用补充编码示例。新型设备4/3/2、ERP4/4/3、CAD3/4/3；旧型GMP1/2/4、SOP1/2/4。主报告经验积累有1—4级行为描述，但对应矩阵没有三级配置值，因此不虚构经验积累雷达分值。图不是立白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【第14页】旧型产业能力，更强调合规、流程与经验传承</a:t>
            </a:r>
          </a:p>
          <a:p>
            <a:r>
              <a:t>建议时长：2分钟</a:t>
            </a:r>
          </a:p>
          <a:p>
            <a:r>
              <a:t>请专家判断新旧差异是否成立。全部行为描述来自主报告旧型智能制造操作人才评价表原文；GMP、SOP的三级配置取主报告表4-16，均为1/2/4。GMP适用范围按立白实际业务判断，不使用补充编码示例中的无命中占位结论评价正式模型。经验积累在主报告有完整行为锚点，但矩阵未给三级配置值，所以雷达该轴留空，待专家赋值；缺失不是0分。</a:t>
            </a:r>
          </a:p>
          <a:p/>
          <a:p>
            <a:r>
              <a:t>资料来源与核验说明：</a:t>
            </a:r>
          </a:p>
          <a:p>
            <a:r>
              <a:t>核心来源：《202602优化版本项目报告0201》行为评价表（Word内部表索引38，从0开始）与表4-11/4-16能力矩阵。行为描述逐字引用；雷达仅采用主报告配置值，不采用补充编码示例。新型设备4/3/2、ERP4/4/3、CAD3/4/3；旧型GMP1/2/4、SOP1/2/4。主报告经验积累有1—4级行为描述，但对应矩阵没有三级配置值，因此不虚构经验积累雷达分值。图不是立白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【第15页】模型是否成立，取决于专家判断与真实岗位证据</a:t>
            </a:r>
          </a:p>
          <a:p>
            <a:r>
              <a:t>建议时长：3分钟</a:t>
            </a:r>
          </a:p>
          <a:p>
            <a:r>
              <a:t>请专家先选最熟悉的岗位或人才类别，再对分类、能力、分级、差异、总图与缺失项评分。六种方法为本次座谈的实施建议；不是声称已经执行完毕的验证结果。</a:t>
            </a:r>
          </a:p>
          <a:p/>
          <a:p>
            <a:r>
              <a:t>资料来源与核验说明：</a:t>
            </a:r>
          </a:p>
          <a:p>
            <a:r>
              <a:t>依据用户座谈方案整理；参照《智造人才画像》企业访谈提纲与问卷结构。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【第16页】请现场评分，专家判断将直接指向模型修订</a:t>
            </a:r>
          </a:p>
          <a:p>
            <a:r>
              <a:t>建议时长：15分钟评分 + 3分钟总结</a:t>
            </a:r>
          </a:p>
          <a:p>
            <a:r>
              <a:t>评分规则：1=不成立，2=需较大修改，3=基本成立但需调整，4=较适用，5=高度适用。不熟悉或不适用的维度记N/A，不计入均值。15分钟独立评分，随后3分钟总结。建议写明具体岗位、行为案例与修改条目。3工作日汇总、10工作日反馈为本次拟定处理机制，不声称企业已批准。采纳状态包含采纳、部分采纳、待议、不采纳，并提供理由；待议事项另约复核。没有问卷链接，因此不生成虚假二维码。</a:t>
            </a:r>
          </a:p>
          <a:p/>
          <a:p>
            <a:r>
              <a:t>资料来源与核验说明：</a:t>
            </a:r>
          </a:p>
          <a:p>
            <a:r>
              <a:t>用户指定评分表与反馈流程；该评分表评价模型适配性，1—5分不同于能力行为1—4级。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Relationship Id="rId4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4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H="1">
            <a:off x="35718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H="1">
            <a:off x="-357187" y="428166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 flipV="1">
            <a:off x="-714375" y="-190499"/>
            <a:ext cx="357188" cy="618665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-714375" y="-809166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-357187" y="-809166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5718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78593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07156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71437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71437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7156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78593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21468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50031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214312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14312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50031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21468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464343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392906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357187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57187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92906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64343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07218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535781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500062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00062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5781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7218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750093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678656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642937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42937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78656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50093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892968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821531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785812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85812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21531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92968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35843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964406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 flipV="1">
            <a:off x="928687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28687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64406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5843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178718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107281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1071562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071562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07281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178718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1321593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250156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1214437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214437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250156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321593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1464468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1393031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1357312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357312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393031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464468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1607343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1535906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 flipV="1">
            <a:off x="1500187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500187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535906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607343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1750218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1678781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 flipV="1">
            <a:off x="1643062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643062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678781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750218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1893093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1821656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 flipV="1">
            <a:off x="1785937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785937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821656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893093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2035968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964531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 flipV="1">
            <a:off x="1928812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1928812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964531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035968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107156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35718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 flipV="1">
            <a:off x="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5718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07156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250031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178593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 flipV="1">
            <a:off x="142875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142875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78593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50031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H="1">
            <a:off x="392906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321468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 flipV="1">
            <a:off x="285750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85750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21468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92906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535781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464343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 flipV="1">
            <a:off x="428625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428625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64343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535781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678656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607218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 flipV="1">
            <a:off x="571500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571500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607218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678656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>
            <a:off x="821531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>
            <a:off x="750093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 flipV="1">
            <a:off x="714375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714375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750093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821531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964406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892968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 flipV="1">
            <a:off x="857250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857250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892968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964406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>
            <a:off x="1107281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1035843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H="1" flipV="1">
            <a:off x="1000125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1000125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035843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1107281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>
            <a:off x="1250156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H="1">
            <a:off x="1178718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 flipV="1">
            <a:off x="1143000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1143000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178718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1250156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1393031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H="1">
            <a:off x="1321593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H="1" flipV="1">
            <a:off x="1285875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1285875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1321593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1393031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H="1">
            <a:off x="1535906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H="1">
            <a:off x="1464468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H="1" flipV="1">
            <a:off x="1428750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1428750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1464468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1535906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H="1">
            <a:off x="1678781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H="1">
            <a:off x="1607343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H="1" flipV="1">
            <a:off x="1571625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1571625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607343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1678781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1821656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>
            <a:off x="1750218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 flipV="1">
            <a:off x="1714500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1714500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1750218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1821656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H="1">
            <a:off x="1964531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H="1">
            <a:off x="1893093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 flipV="1">
            <a:off x="1857375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1857375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1893093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1964531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>
            <a:off x="2107406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>
            <a:off x="2035968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 flipV="1">
            <a:off x="2000250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2000250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2035968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2107406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H="1">
            <a:off x="357187" y="22669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H="1">
            <a:off x="-357187" y="2885616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H="1" flipV="1">
            <a:off x="-714375" y="22669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-714375" y="16482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-357187" y="1648283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57187" y="16482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H="1">
            <a:off x="1785937" y="22669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H="1">
            <a:off x="1071562" y="28856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H="1" flipV="1">
            <a:off x="714375" y="22669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714375" y="16482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1071562" y="16482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85937" y="16482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H="1">
            <a:off x="3214687" y="22669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H="1">
            <a:off x="2500312" y="28856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H="1" flipV="1">
            <a:off x="2143125" y="22669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2143125" y="16482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2500312" y="16482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3214687" y="16482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H="1">
            <a:off x="14644687" y="22669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H="1">
            <a:off x="13930312" y="28856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H="1" flipV="1">
            <a:off x="13573125" y="22669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13573125" y="16482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13930312" y="16482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14644687" y="16482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H="1">
            <a:off x="16073437" y="22669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H="1">
            <a:off x="15359062" y="28856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H="1" flipV="1">
            <a:off x="15001875" y="22669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15001875" y="16482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15359062" y="16482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16073437" y="16482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H="1">
            <a:off x="17502187" y="22669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H="1">
            <a:off x="16787812" y="28856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H="1" flipV="1">
            <a:off x="16430625" y="22669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16430625" y="16482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6787812" y="16482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7502187" y="16482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H="1">
            <a:off x="18930937" y="22669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H="1">
            <a:off x="18216562" y="28856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 flipV="1">
            <a:off x="17859375" y="22669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17859375" y="16482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18216562" y="16482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18930937" y="16482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H="1">
            <a:off x="20359687" y="22669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>
            <a:off x="19645312" y="28856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H="1" flipV="1">
            <a:off x="19288125" y="22669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19288125" y="16482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9645312" y="16482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20359687" y="16482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H="1">
            <a:off x="1071562" y="34956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H="1">
            <a:off x="357187" y="41143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H="1" flipV="1">
            <a:off x="0" y="34956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0" y="28770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357187" y="28770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1071562" y="28770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H="1">
            <a:off x="2500312" y="34956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H="1">
            <a:off x="1785937" y="41143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H="1" flipV="1">
            <a:off x="1428750" y="34956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1428750" y="28770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1785937" y="28770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2500312" y="28770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H="1">
            <a:off x="3929062" y="34956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H="1">
            <a:off x="3214687" y="41143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H="1" flipV="1">
            <a:off x="2857500" y="34956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2857500" y="28770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3214687" y="28770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3929062" y="28770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H="1">
            <a:off x="15359062" y="34956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H="1">
            <a:off x="14644687" y="41143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H="1" flipV="1">
            <a:off x="14287500" y="34956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14287500" y="28770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14644687" y="28770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15359062" y="28770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H="1">
            <a:off x="16787812" y="34956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H="1">
            <a:off x="16073437" y="41143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H="1" flipV="1">
            <a:off x="15716250" y="34956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15716250" y="28770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16073437" y="28770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16787812" y="28770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H="1">
            <a:off x="18216562" y="34956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H="1">
            <a:off x="17502187" y="41143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H="1" flipV="1">
            <a:off x="17145000" y="34956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17145000" y="28770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7502187" y="28770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18216562" y="28770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H="1">
            <a:off x="19645312" y="34956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H="1">
            <a:off x="18930937" y="41143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H="1" flipV="1">
            <a:off x="18573750" y="34956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18573750" y="28770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18930937" y="28770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19645312" y="28770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H="1">
            <a:off x="21074062" y="34956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H="1">
            <a:off x="20359687" y="41143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H="1" flipV="1">
            <a:off x="20002500" y="34956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20002500" y="28770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20359687" y="28770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21074062" y="28770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H="1">
            <a:off x="357187" y="47244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H="1">
            <a:off x="-357187" y="5343066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H="1" flipV="1">
            <a:off x="-714375" y="47244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-714375" y="41057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-357187" y="4105733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357187" y="41057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H="1">
            <a:off x="1785937" y="47244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H="1">
            <a:off x="1071562" y="53430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H="1" flipV="1">
            <a:off x="714375" y="47244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714375" y="41057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1071562" y="41057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1785937" y="41057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H="1">
            <a:off x="3214687" y="47244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H="1">
            <a:off x="2500312" y="53430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H="1" flipV="1">
            <a:off x="2143125" y="47244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2143125" y="41057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2500312" y="41057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3214687" y="41057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H="1">
            <a:off x="14644687" y="47244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H="1">
            <a:off x="13930312" y="53430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H="1" flipV="1">
            <a:off x="13573125" y="47244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13573125" y="41057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13930312" y="41057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14644687" y="41057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H="1">
            <a:off x="16073437" y="47244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H="1">
            <a:off x="15359062" y="53430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H="1" flipV="1">
            <a:off x="15001875" y="47244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15001875" y="41057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15359062" y="41057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16073437" y="41057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>
            <a:off x="17502187" y="47244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H="1">
            <a:off x="16787812" y="53430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H="1" flipV="1">
            <a:off x="16430625" y="47244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16430625" y="41057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16787812" y="41057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17502187" y="41057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H="1">
            <a:off x="18930937" y="47244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H="1">
            <a:off x="18216562" y="53430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H="1" flipV="1">
            <a:off x="17859375" y="47244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17859375" y="41057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18216562" y="41057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18930937" y="41057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H="1">
            <a:off x="20359687" y="47244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H="1">
            <a:off x="19645312" y="53430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H="1" flipV="1">
            <a:off x="19288125" y="47244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19288125" y="41057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9645312" y="41057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20359687" y="41057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H="1">
            <a:off x="1071562" y="59531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H="1">
            <a:off x="357187" y="65717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H="1" flipV="1">
            <a:off x="0" y="59531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0" y="53344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357187" y="53344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1071562" y="53344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H="1">
            <a:off x="2500312" y="59531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H="1">
            <a:off x="1785937" y="65717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 flipH="1" flipV="1">
            <a:off x="1428750" y="59531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 flipV="1">
            <a:off x="1428750" y="53344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1785937" y="53344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500312" y="53344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H="1">
            <a:off x="3929062" y="59531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H="1">
            <a:off x="3214687" y="65717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H="1" flipV="1">
            <a:off x="2857500" y="59531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2857500" y="53344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3214687" y="53344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3929062" y="53344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H="1">
            <a:off x="15359062" y="59531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H="1">
            <a:off x="14644687" y="65717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H="1" flipV="1">
            <a:off x="14287500" y="59531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V="1">
            <a:off x="14287500" y="53344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14644687" y="53344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15359062" y="53344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16787812" y="59531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H="1">
            <a:off x="16073437" y="65717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H="1" flipV="1">
            <a:off x="15716250" y="59531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 flipV="1">
            <a:off x="15716250" y="53344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16073437" y="53344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16787812" y="53344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 flipH="1">
            <a:off x="18216562" y="59531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 flipH="1">
            <a:off x="17502187" y="65717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H="1" flipV="1">
            <a:off x="17145000" y="59531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 flipV="1">
            <a:off x="17145000" y="53344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7502187" y="53344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8216562" y="53344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H="1">
            <a:off x="19645312" y="59531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 flipH="1">
            <a:off x="18930937" y="65717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H="1" flipV="1">
            <a:off x="18573750" y="59531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V="1">
            <a:off x="18573750" y="53344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18930937" y="53344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19645312" y="53344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H="1">
            <a:off x="21074062" y="59531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H="1">
            <a:off x="20359687" y="65717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H="1" flipV="1">
            <a:off x="20002500" y="59531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20002500" y="53344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0359687" y="53344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1074062" y="53344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H="1">
            <a:off x="357187" y="71818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H="1">
            <a:off x="-357187" y="7800516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H="1" flipV="1">
            <a:off x="-714375" y="71818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V="1">
            <a:off x="-714375" y="65631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-357187" y="6563183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357187" y="65631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H="1">
            <a:off x="1785937" y="71818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H="1">
            <a:off x="1071562" y="78005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H="1" flipV="1">
            <a:off x="714375" y="71818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714375" y="65631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1071562" y="65631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1785937" y="65631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H="1">
            <a:off x="3214687" y="71818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H="1">
            <a:off x="2500312" y="78005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H="1" flipV="1">
            <a:off x="2143125" y="71818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143125" y="65631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2500312" y="65631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3214687" y="65631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H="1">
            <a:off x="14644687" y="71818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H="1">
            <a:off x="13930312" y="78005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H="1" flipV="1">
            <a:off x="13573125" y="71818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V="1">
            <a:off x="13573125" y="65631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13930312" y="65631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14644687" y="65631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H="1">
            <a:off x="16073437" y="71818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H="1">
            <a:off x="15359062" y="78005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H="1" flipV="1">
            <a:off x="15001875" y="71818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V="1">
            <a:off x="15001875" y="65631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15359062" y="65631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16073437" y="65631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H="1">
            <a:off x="17502187" y="71818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H="1">
            <a:off x="16787812" y="78005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H="1" flipV="1">
            <a:off x="16430625" y="71818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V="1">
            <a:off x="16430625" y="65631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>
            <a:off x="16787812" y="65631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>
            <a:off x="17502187" y="65631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H="1">
            <a:off x="18930937" y="71818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H="1">
            <a:off x="18216562" y="78005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H="1" flipV="1">
            <a:off x="17859375" y="71818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V="1">
            <a:off x="17859375" y="65631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18216562" y="65631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>
            <a:off x="18930937" y="65631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H="1">
            <a:off x="20359687" y="71818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H="1">
            <a:off x="19645312" y="78005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H="1" flipV="1">
            <a:off x="19288125" y="71818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V="1">
            <a:off x="19288125" y="65631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>
            <a:off x="19645312" y="65631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>
            <a:off x="20359687" y="65631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H="1">
            <a:off x="107156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H="1">
            <a:off x="35718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H="1" flipV="1">
            <a:off x="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V="1">
            <a:off x="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35718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>
            <a:off x="107156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H="1">
            <a:off x="250031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H="1">
            <a:off x="178593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H="1" flipV="1">
            <a:off x="142875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 flipV="1">
            <a:off x="142875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>
            <a:off x="178593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>
            <a:off x="250031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 flipH="1">
            <a:off x="392906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 flipH="1">
            <a:off x="321468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 flipH="1" flipV="1">
            <a:off x="285750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 flipV="1">
            <a:off x="285750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321468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392906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 flipH="1">
            <a:off x="535781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 flipH="1">
            <a:off x="464343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 flipH="1" flipV="1">
            <a:off x="428625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 flipV="1">
            <a:off x="428625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464343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535781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 flipH="1">
            <a:off x="678656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 flipH="1">
            <a:off x="607218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 flipH="1" flipV="1">
            <a:off x="571500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 flipV="1">
            <a:off x="571500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607218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678656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 flipH="1">
            <a:off x="821531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 flipH="1">
            <a:off x="750093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 flipH="1" flipV="1">
            <a:off x="714375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V="1">
            <a:off x="714375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750093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821531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 flipH="1">
            <a:off x="964406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 flipH="1">
            <a:off x="892968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 flipH="1" flipV="1">
            <a:off x="857250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 flipV="1">
            <a:off x="857250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892968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964406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 flipH="1">
            <a:off x="1107281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 flipH="1">
            <a:off x="1035843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 flipH="1" flipV="1">
            <a:off x="1000125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 flipV="1">
            <a:off x="1000125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1035843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1107281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 flipH="1">
            <a:off x="1250156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 flipH="1">
            <a:off x="1178718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 flipH="1" flipV="1">
            <a:off x="1143000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 flipV="1">
            <a:off x="1143000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1178718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1250156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 flipH="1">
            <a:off x="1393031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 flipH="1">
            <a:off x="1321593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 flipH="1" flipV="1">
            <a:off x="1285875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 flipV="1">
            <a:off x="1285875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1321593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1393031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 flipH="1">
            <a:off x="1535906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 flipH="1">
            <a:off x="1464468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 flipH="1" flipV="1">
            <a:off x="1428750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 flipV="1">
            <a:off x="1428750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>
            <a:off x="1464468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>
            <a:off x="1535906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 flipH="1">
            <a:off x="1678781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 flipH="1">
            <a:off x="1607343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 flipH="1" flipV="1">
            <a:off x="1571625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 flipV="1">
            <a:off x="1571625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>
            <a:off x="1607343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>
            <a:off x="1678781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 flipH="1">
            <a:off x="1821656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 flipH="1">
            <a:off x="1750218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 flipH="1" flipV="1">
            <a:off x="1714500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 flipV="1">
            <a:off x="1714500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>
            <a:off x="1750218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>
            <a:off x="1821656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 flipH="1">
            <a:off x="1964531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 flipH="1">
            <a:off x="1893093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 flipH="1" flipV="1">
            <a:off x="1857375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 flipV="1">
            <a:off x="1857375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>
            <a:off x="1893093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>
            <a:off x="1964531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 flipH="1">
            <a:off x="2107406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 flipH="1">
            <a:off x="2035968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8" name="Connector 507"/>
          <p:cNvCxnSpPr/>
          <p:nvPr/>
        </p:nvCxnSpPr>
        <p:spPr>
          <a:xfrm flipH="1" flipV="1">
            <a:off x="2000250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nector 508"/>
          <p:cNvCxnSpPr/>
          <p:nvPr/>
        </p:nvCxnSpPr>
        <p:spPr>
          <a:xfrm flipV="1">
            <a:off x="2000250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>
            <a:off x="2035968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>
            <a:off x="2107406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 flipH="1">
            <a:off x="35718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 flipH="1">
            <a:off x="-357187" y="10257966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513"/>
          <p:cNvCxnSpPr/>
          <p:nvPr/>
        </p:nvCxnSpPr>
        <p:spPr>
          <a:xfrm flipH="1" flipV="1">
            <a:off x="-714375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 flipV="1">
            <a:off x="-714375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>
            <a:off x="-357187" y="9020633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>
            <a:off x="35718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517"/>
          <p:cNvCxnSpPr/>
          <p:nvPr/>
        </p:nvCxnSpPr>
        <p:spPr>
          <a:xfrm flipH="1">
            <a:off x="178593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 flipH="1">
            <a:off x="107156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 flipH="1" flipV="1">
            <a:off x="71437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 flipV="1">
            <a:off x="71437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>
            <a:off x="107156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522"/>
          <p:cNvCxnSpPr/>
          <p:nvPr/>
        </p:nvCxnSpPr>
        <p:spPr>
          <a:xfrm>
            <a:off x="178593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523"/>
          <p:cNvCxnSpPr/>
          <p:nvPr/>
        </p:nvCxnSpPr>
        <p:spPr>
          <a:xfrm flipH="1">
            <a:off x="321468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 flipH="1">
            <a:off x="250031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 flipH="1" flipV="1">
            <a:off x="214312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 flipV="1">
            <a:off x="214312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527"/>
          <p:cNvCxnSpPr/>
          <p:nvPr/>
        </p:nvCxnSpPr>
        <p:spPr>
          <a:xfrm>
            <a:off x="250031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528"/>
          <p:cNvCxnSpPr/>
          <p:nvPr/>
        </p:nvCxnSpPr>
        <p:spPr>
          <a:xfrm>
            <a:off x="321468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 flipH="1">
            <a:off x="464343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1" name="Connector 530"/>
          <p:cNvCxnSpPr/>
          <p:nvPr/>
        </p:nvCxnSpPr>
        <p:spPr>
          <a:xfrm flipH="1">
            <a:off x="392906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531"/>
          <p:cNvCxnSpPr/>
          <p:nvPr/>
        </p:nvCxnSpPr>
        <p:spPr>
          <a:xfrm flipH="1" flipV="1">
            <a:off x="357187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532"/>
          <p:cNvCxnSpPr/>
          <p:nvPr/>
        </p:nvCxnSpPr>
        <p:spPr>
          <a:xfrm flipV="1">
            <a:off x="357187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>
            <a:off x="392906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464343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 flipH="1">
            <a:off x="607218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7" name="Connector 536"/>
          <p:cNvCxnSpPr/>
          <p:nvPr/>
        </p:nvCxnSpPr>
        <p:spPr>
          <a:xfrm flipH="1">
            <a:off x="535781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8" name="Connector 537"/>
          <p:cNvCxnSpPr/>
          <p:nvPr/>
        </p:nvCxnSpPr>
        <p:spPr>
          <a:xfrm flipH="1" flipV="1">
            <a:off x="500062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9" name="Connector 538"/>
          <p:cNvCxnSpPr/>
          <p:nvPr/>
        </p:nvCxnSpPr>
        <p:spPr>
          <a:xfrm flipV="1">
            <a:off x="500062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0" name="Connector 539"/>
          <p:cNvCxnSpPr/>
          <p:nvPr/>
        </p:nvCxnSpPr>
        <p:spPr>
          <a:xfrm>
            <a:off x="535781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nector 540"/>
          <p:cNvCxnSpPr/>
          <p:nvPr/>
        </p:nvCxnSpPr>
        <p:spPr>
          <a:xfrm>
            <a:off x="607218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 541"/>
          <p:cNvCxnSpPr/>
          <p:nvPr/>
        </p:nvCxnSpPr>
        <p:spPr>
          <a:xfrm flipH="1">
            <a:off x="750093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nector 542"/>
          <p:cNvCxnSpPr/>
          <p:nvPr/>
        </p:nvCxnSpPr>
        <p:spPr>
          <a:xfrm flipH="1">
            <a:off x="678656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4" name="Connector 543"/>
          <p:cNvCxnSpPr/>
          <p:nvPr/>
        </p:nvCxnSpPr>
        <p:spPr>
          <a:xfrm flipH="1" flipV="1">
            <a:off x="642937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5" name="Connector 544"/>
          <p:cNvCxnSpPr/>
          <p:nvPr/>
        </p:nvCxnSpPr>
        <p:spPr>
          <a:xfrm flipV="1">
            <a:off x="642937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6" name="Connector 545"/>
          <p:cNvCxnSpPr/>
          <p:nvPr/>
        </p:nvCxnSpPr>
        <p:spPr>
          <a:xfrm>
            <a:off x="678656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546"/>
          <p:cNvCxnSpPr/>
          <p:nvPr/>
        </p:nvCxnSpPr>
        <p:spPr>
          <a:xfrm>
            <a:off x="750093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 flipH="1">
            <a:off x="892968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9" name="Connector 548"/>
          <p:cNvCxnSpPr/>
          <p:nvPr/>
        </p:nvCxnSpPr>
        <p:spPr>
          <a:xfrm flipH="1">
            <a:off x="821531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0" name="Connector 549"/>
          <p:cNvCxnSpPr/>
          <p:nvPr/>
        </p:nvCxnSpPr>
        <p:spPr>
          <a:xfrm flipH="1" flipV="1">
            <a:off x="785812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 flipV="1">
            <a:off x="785812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>
            <a:off x="821531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892968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 flipH="1">
            <a:off x="1035843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H="1">
            <a:off x="964406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 flipH="1" flipV="1">
            <a:off x="928687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 flipV="1">
            <a:off x="928687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>
            <a:off x="964406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1035843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 flipH="1">
            <a:off x="1178718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 flipH="1">
            <a:off x="1107281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H="1" flipV="1">
            <a:off x="1071562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1071562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>
            <a:off x="1107281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>
            <a:off x="1178718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H="1">
            <a:off x="1321593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H="1">
            <a:off x="1250156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H="1" flipV="1">
            <a:off x="1214437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V="1">
            <a:off x="1214437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>
            <a:off x="1250156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>
            <a:off x="1321593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H="1">
            <a:off x="1464468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H="1">
            <a:off x="1393031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H="1" flipV="1">
            <a:off x="1357312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V="1">
            <a:off x="1357312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>
            <a:off x="1393031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>
            <a:off x="1464468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H="1">
            <a:off x="1607343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 flipH="1">
            <a:off x="1535906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 flipH="1" flipV="1">
            <a:off x="1500187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 flipV="1">
            <a:off x="1500187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>
            <a:off x="1535906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>
            <a:off x="1607343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 flipH="1">
            <a:off x="1750218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 flipH="1">
            <a:off x="1678781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 flipH="1" flipV="1">
            <a:off x="1643062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 flipV="1">
            <a:off x="1643062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>
            <a:off x="1678781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1750218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 flipH="1">
            <a:off x="1893093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 flipH="1">
            <a:off x="1821656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 flipH="1" flipV="1">
            <a:off x="1785937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 flipV="1">
            <a:off x="1785937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1821656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1893093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 flipH="1">
            <a:off x="2035968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 flipH="1">
            <a:off x="1964531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 flipH="1" flipV="1">
            <a:off x="1928812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 flipV="1">
            <a:off x="1928812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>
            <a:off x="1964531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2035968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2" name="TextBox 601"/>
          <p:cNvSpPr txBox="1"/>
          <p:nvPr/>
        </p:nvSpPr>
        <p:spPr>
          <a:xfrm>
            <a:off x="952500" y="2000250"/>
            <a:ext cx="1638300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81B6CB"/>
                </a:solidFill>
                <a:latin typeface="DejaVu Sans"/>
                <a:ea typeface="Noto Sans CJK SC"/>
              </a:rPr>
              <a:t>COMPETENCY-BASED TALENT STANDARDS</a:t>
            </a:r>
          </a:p>
        </p:txBody>
      </p:sp>
      <p:sp>
        <p:nvSpPr>
          <p:cNvPr id="603" name="Rectangle 602"/>
          <p:cNvSpPr/>
          <p:nvPr/>
        </p:nvSpPr>
        <p:spPr>
          <a:xfrm>
            <a:off x="8572500" y="2857500"/>
            <a:ext cx="1143000" cy="47625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4" name="TextBox 603"/>
          <p:cNvSpPr txBox="1"/>
          <p:nvPr/>
        </p:nvSpPr>
        <p:spPr>
          <a:xfrm>
            <a:off x="1905000" y="3524250"/>
            <a:ext cx="14478000" cy="1762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  <a:ea typeface="Noto Sans CJK SC"/>
              </a:rPr>
              <a:t>基于胜任力模型的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  <a:ea typeface="Noto Sans CJK SC"/>
              </a:rPr>
              <a:t>先进制造业人才标准框架与体系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2381250" y="5619750"/>
            <a:ext cx="13525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0A6A6"/>
                </a:solidFill>
                <a:latin typeface="Noto Sans CJK SC"/>
                <a:ea typeface="Noto Sans CJK SC"/>
              </a:rPr>
              <a:t>立白科技调研座谈会</a:t>
            </a:r>
          </a:p>
        </p:txBody>
      </p:sp>
      <p:sp>
        <p:nvSpPr>
          <p:cNvPr id="606" name="TextBox 605"/>
          <p:cNvSpPr txBox="1"/>
          <p:nvPr/>
        </p:nvSpPr>
        <p:spPr>
          <a:xfrm>
            <a:off x="1905000" y="7810499"/>
            <a:ext cx="14478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D1DBE4"/>
                </a:solidFill>
                <a:latin typeface="Noto Sans CJK SC"/>
                <a:ea typeface="Noto Sans CJK SC"/>
              </a:rPr>
              <a:t>广东工业大学管理学院  |  粤来粤好队  |  汇报人：罗琳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1905000" y="8334375"/>
            <a:ext cx="14478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D1DBE4"/>
                </a:solidFill>
                <a:latin typeface="Noto Sans CJK SC"/>
                <a:ea typeface="Noto Sans CJK SC"/>
              </a:rPr>
              <a:t>2026年10月09日</a:t>
            </a:r>
          </a:p>
        </p:txBody>
      </p:sp>
      <p:pic>
        <p:nvPicPr>
          <p:cNvPr id="608" name="Picture 607" descr="exec-7ea0c041-660a-4e39-951e-eb2d527afb9f.png"/>
          <p:cNvPicPr>
            <a:picLocks noChangeAspect="1"/>
          </p:cNvPicPr>
          <p:nvPr/>
        </p:nvPicPr>
        <p:blipFill>
          <a:blip r:embed="rId3"/>
          <a:srcRect l="55000" r="8300" t="3400" b="3800"/>
          <a:stretch>
            <a:fillRect/>
          </a:stretch>
        </p:blipFill>
        <p:spPr>
          <a:xfrm>
            <a:off x="15659100" y="8772525"/>
            <a:ext cx="609600" cy="609600"/>
          </a:xfrm>
          <a:prstGeom prst="rect">
            <a:avLst/>
          </a:prstGeom>
        </p:spPr>
      </p:pic>
      <p:pic>
        <p:nvPicPr>
          <p:cNvPr id="609" name="Picture 608" descr="exec-7ea0c041-660a-4e39-951e-eb2d527afb9f.png"/>
          <p:cNvPicPr>
            <a:picLocks noChangeAspect="1"/>
          </p:cNvPicPr>
          <p:nvPr/>
        </p:nvPicPr>
        <p:blipFill>
          <a:blip r:embed="rId3"/>
          <a:srcRect l="8800" r="54500" t="3400" b="3800"/>
          <a:stretch>
            <a:fillRect/>
          </a:stretch>
        </p:blipFill>
        <p:spPr>
          <a:xfrm>
            <a:off x="16573500" y="8772525"/>
            <a:ext cx="609600" cy="609600"/>
          </a:xfrm>
          <a:prstGeom prst="rect">
            <a:avLst/>
          </a:prstGeom>
        </p:spPr>
      </p:pic>
      <p:sp>
        <p:nvSpPr>
          <p:cNvPr id="610" name="TextBox 609"/>
          <p:cNvSpPr txBox="1"/>
          <p:nvPr/>
        </p:nvSpPr>
        <p:spPr>
          <a:xfrm>
            <a:off x="13430250" y="9553575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EC1D0"/>
                </a:solidFill>
                <a:latin typeface="Noto Sans CJK SC"/>
                <a:ea typeface="Noto Sans CJK SC"/>
              </a:rPr>
              <a:t>先进制造业人才标准 | 01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60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500"/>
                      <p:tgtEl>
                        <p:spTgt spid="602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60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500"/>
                      <p:tgtEl>
                        <p:spTgt spid="604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60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500"/>
                      <p:tgtEl>
                        <p:spTgt spid="605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60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500"/>
                      <p:tgtEl>
                        <p:spTgt spid="606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会议目标  / 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介绍模型、请您验证，共同判断模型是否成立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52624" y="2114550"/>
            <a:ext cx="15049499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分类是否合理 · 行为是否可评 · 标准是否适配立白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02</a:t>
            </a:r>
          </a:p>
        </p:txBody>
      </p:sp>
      <p:pic>
        <p:nvPicPr>
          <p:cNvPr id="9" name="Picture 8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52500" y="3048000"/>
            <a:ext cx="5181600" cy="219075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3048000"/>
            <a:ext cx="38100" cy="219075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28725" y="3286125"/>
            <a:ext cx="247649" cy="30480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285875" y="3371850"/>
            <a:ext cx="133350" cy="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285875" y="3438525"/>
            <a:ext cx="133350" cy="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85875" y="3505200"/>
            <a:ext cx="133350" cy="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695450" y="3238500"/>
            <a:ext cx="42100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介绍模型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0150" y="3800475"/>
            <a:ext cx="4686300" cy="1276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怎么来 · 为什么这样分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一页看清整体框架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3200" y="3048000"/>
            <a:ext cx="5181600" cy="219075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53200" y="3048000"/>
            <a:ext cx="38100" cy="219075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00850" y="3286125"/>
            <a:ext cx="304800" cy="3048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858000" y="3448050"/>
            <a:ext cx="66675" cy="66675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924675" y="3362325"/>
            <a:ext cx="133350" cy="15240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296150" y="3238500"/>
            <a:ext cx="42100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请您验证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00850" y="3800475"/>
            <a:ext cx="4686300" cy="1276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分类 · 能力 · 分级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差异 · 总图 · 缺失项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153900" y="3048000"/>
            <a:ext cx="5181600" cy="219075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153900" y="3048000"/>
            <a:ext cx="38100" cy="219075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496038" y="3286125"/>
            <a:ext cx="115824" cy="115824"/>
          </a:xfrm>
          <a:prstGeom prst="ellipse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12447269" y="3481197"/>
            <a:ext cx="0" cy="85344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2447269" y="3481197"/>
            <a:ext cx="213361" cy="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660630" y="3481197"/>
            <a:ext cx="0" cy="85344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2896850" y="3238500"/>
            <a:ext cx="42100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提供反馈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401550" y="3800475"/>
            <a:ext cx="4686300" cy="1276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现场评分 + 实际案例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佐证判断 + 修改建议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" y="5953125"/>
            <a:ext cx="16383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0B2A4A"/>
                </a:solidFill>
                <a:latin typeface="Noto Sans CJK SC"/>
                <a:ea typeface="Noto Sans CJK SC"/>
              </a:rPr>
              <a:t>专家经验是校准器，真实岗位是检验场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2500" y="7429500"/>
            <a:ext cx="16383000" cy="12573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90625" y="7610474"/>
            <a:ext cx="29527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0B2A4A"/>
                </a:solidFill>
                <a:latin typeface="Noto Sans CJK SC"/>
                <a:ea typeface="Noto Sans CJK SC"/>
              </a:rPr>
              <a:t>现场评分结构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29125" y="7667624"/>
            <a:ext cx="1838324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29125" y="7705725"/>
            <a:ext cx="1838324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分类  1—5分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96050" y="7667624"/>
            <a:ext cx="1838324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6050" y="7705725"/>
            <a:ext cx="1838324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能力  1—5分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62975" y="7667624"/>
            <a:ext cx="1838324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62975" y="7705725"/>
            <a:ext cx="1838324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分级  1—5分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629900" y="7667624"/>
            <a:ext cx="1838324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29900" y="7705725"/>
            <a:ext cx="1838324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差异  1—5分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2696825" y="7667624"/>
            <a:ext cx="1838324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696825" y="7705725"/>
            <a:ext cx="1838324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总图  1—5分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763749" y="7667624"/>
            <a:ext cx="1838324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763749" y="7705725"/>
            <a:ext cx="1838324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缺失项  1—5分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90625" y="8143875"/>
            <a:ext cx="295275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每项附案例与修改建议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6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7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23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24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3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31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3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32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3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33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产业痛点  / 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人才标准成为竞争变量，四类瓶颈需要系统回应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03</a:t>
            </a:r>
          </a:p>
        </p:txBody>
      </p:sp>
      <p:pic>
        <p:nvPicPr>
          <p:cNvPr id="8" name="Picture 7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52500" y="2762250"/>
            <a:ext cx="5905500" cy="5048250"/>
          </a:xfrm>
          <a:prstGeom prst="roundRect">
            <a:avLst>
              <a:gd name="adj" fmla="val 12000"/>
            </a:avLst>
          </a:prstGeom>
          <a:solidFill>
            <a:srgbClr val="ED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14450" y="3181350"/>
            <a:ext cx="95250" cy="9525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24000" y="3181350"/>
            <a:ext cx="95250" cy="9525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19225" y="3390900"/>
            <a:ext cx="95250" cy="9525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362075" y="3276600"/>
            <a:ext cx="104775" cy="11430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466850" y="3276600"/>
            <a:ext cx="104775" cy="11430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14450" y="3933824"/>
            <a:ext cx="495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0B2A4A"/>
                </a:solidFill>
                <a:latin typeface="Noto Sans CJK SC"/>
                <a:ea typeface="Noto Sans CJK SC"/>
              </a:rPr>
              <a:t>技术迭代加速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0B2A4A"/>
                </a:solidFill>
                <a:latin typeface="Noto Sans CJK SC"/>
                <a:ea typeface="Noto Sans CJK SC"/>
              </a:rPr>
              <a:t>人才能力同步重构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4450" y="5381625"/>
            <a:ext cx="4953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从“岗位有人”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走向“能力匹配”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标准连接需求、评价与培养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4450" y="7010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0A6A6"/>
                </a:solidFill>
                <a:latin typeface="Noto Sans CJK SC"/>
                <a:ea typeface="Noto Sans CJK SC"/>
              </a:rPr>
              <a:t>请立白专家：选出最突出的一项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0" y="2762250"/>
            <a:ext cx="4838700" cy="2409825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9500" y="2762250"/>
            <a:ext cx="38100" cy="2409825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1637" y="3000375"/>
            <a:ext cx="115824" cy="115824"/>
          </a:xfrm>
          <a:prstGeom prst="ellipse">
            <a:avLst/>
          </a:prstGeom>
          <a:noFill/>
          <a:ln w="12700">
            <a:solidFill>
              <a:srgbClr val="F5822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7722870" y="3195447"/>
            <a:ext cx="0" cy="85344"/>
          </a:xfrm>
          <a:prstGeom prst="line">
            <a:avLst/>
          </a:prstGeom>
          <a:ln w="19050">
            <a:solidFill>
              <a:srgbClr val="F58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722870" y="3195447"/>
            <a:ext cx="213360" cy="0"/>
          </a:xfrm>
          <a:prstGeom prst="line">
            <a:avLst/>
          </a:prstGeom>
          <a:ln w="19050">
            <a:solidFill>
              <a:srgbClr val="F58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936230" y="3195447"/>
            <a:ext cx="0" cy="85344"/>
          </a:xfrm>
          <a:prstGeom prst="line">
            <a:avLst/>
          </a:prstGeom>
          <a:ln w="19050">
            <a:solidFill>
              <a:srgbClr val="F58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172450" y="2952750"/>
            <a:ext cx="38671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关键人才不足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77150" y="3514725"/>
            <a:ext cx="4343400" cy="1495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高端领军 · 核心技术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供给速度跟不上业务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496800" y="2762250"/>
            <a:ext cx="4838700" cy="2409825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496800" y="2762250"/>
            <a:ext cx="38100" cy="2409825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2744450" y="3000375"/>
            <a:ext cx="114300" cy="1143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F58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2744450" y="3171825"/>
            <a:ext cx="114300" cy="1143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F58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2915900" y="3000375"/>
            <a:ext cx="114300" cy="1143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F58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2915900" y="3171825"/>
            <a:ext cx="114300" cy="1143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F58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239750" y="2952750"/>
            <a:ext cx="38671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能力结构错配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744450" y="3514725"/>
            <a:ext cx="4343400" cy="1495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岗位升级 · 技能滞后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数字能力与工艺脱节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29500" y="5400675"/>
            <a:ext cx="4838700" cy="2409825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29500" y="5400675"/>
            <a:ext cx="38100" cy="2409825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677150" y="5638800"/>
            <a:ext cx="304800" cy="3048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F5822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7734300" y="5800725"/>
            <a:ext cx="66675" cy="66675"/>
          </a:xfrm>
          <a:prstGeom prst="line">
            <a:avLst/>
          </a:prstGeom>
          <a:ln w="19050">
            <a:solidFill>
              <a:srgbClr val="F58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800975" y="5715000"/>
            <a:ext cx="133350" cy="152400"/>
          </a:xfrm>
          <a:prstGeom prst="line">
            <a:avLst/>
          </a:prstGeom>
          <a:ln w="19050">
            <a:solidFill>
              <a:srgbClr val="F58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172450" y="5591175"/>
            <a:ext cx="38671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评价依据不足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77150" y="6153150"/>
            <a:ext cx="4343400" cy="1495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重学历资历 · 轻行为证据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绩效与能力缺少连接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496800" y="5400675"/>
            <a:ext cx="4838700" cy="2409825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2496800" y="5400675"/>
            <a:ext cx="38100" cy="2409825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2744450" y="5638800"/>
            <a:ext cx="95250" cy="95250"/>
          </a:xfrm>
          <a:prstGeom prst="rect">
            <a:avLst/>
          </a:prstGeom>
          <a:noFill/>
          <a:ln w="12700">
            <a:solidFill>
              <a:srgbClr val="F58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2954000" y="5638800"/>
            <a:ext cx="95250" cy="95250"/>
          </a:xfrm>
          <a:prstGeom prst="rect">
            <a:avLst/>
          </a:prstGeom>
          <a:noFill/>
          <a:ln w="12700">
            <a:solidFill>
              <a:srgbClr val="F58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2849225" y="5848350"/>
            <a:ext cx="95250" cy="95250"/>
          </a:xfrm>
          <a:prstGeom prst="rect">
            <a:avLst/>
          </a:prstGeom>
          <a:noFill/>
          <a:ln w="12700">
            <a:solidFill>
              <a:srgbClr val="F5822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2792075" y="5734050"/>
            <a:ext cx="104775" cy="114300"/>
          </a:xfrm>
          <a:prstGeom prst="line">
            <a:avLst/>
          </a:prstGeom>
          <a:ln w="19050">
            <a:solidFill>
              <a:srgbClr val="F58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12896850" y="5734050"/>
            <a:ext cx="104775" cy="114300"/>
          </a:xfrm>
          <a:prstGeom prst="line">
            <a:avLst/>
          </a:prstGeom>
          <a:ln w="19050">
            <a:solidFill>
              <a:srgbClr val="F58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3239750" y="5591175"/>
            <a:ext cx="38671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培养对接不足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44450" y="6153150"/>
            <a:ext cx="4343400" cy="1495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课程更新慢 · 实践不足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培养到上岗存在断层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2500" y="8248650"/>
            <a:ext cx="16383000" cy="619125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52500" y="8248650"/>
            <a:ext cx="47625" cy="619125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19200" y="8296274"/>
            <a:ext cx="1581150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用可观察、可评价的行为标准，连接“选、育、用、留”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6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7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24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25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3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32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3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33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研究设计  / 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339,694 条招聘信息与五类方法，共同支撑建模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52624" y="2114550"/>
            <a:ext cx="15049499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招聘文本、访谈与专家意见交叉验证，形成初始模型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04</a:t>
            </a:r>
          </a:p>
        </p:txBody>
      </p:sp>
      <p:pic>
        <p:nvPicPr>
          <p:cNvPr id="9" name="Picture 8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209675" y="2981325"/>
            <a:ext cx="247649" cy="304800"/>
          </a:xfrm>
          <a:prstGeom prst="rect">
            <a:avLst/>
          </a:prstGeom>
          <a:noFill/>
          <a:ln w="12700">
            <a:solidFill>
              <a:srgbClr val="0B2A4A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266825" y="3067050"/>
            <a:ext cx="133350" cy="0"/>
          </a:xfrm>
          <a:prstGeom prst="line">
            <a:avLst/>
          </a:prstGeom>
          <a:ln w="19050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66825" y="3133725"/>
            <a:ext cx="133350" cy="0"/>
          </a:xfrm>
          <a:prstGeom prst="line">
            <a:avLst/>
          </a:prstGeom>
          <a:ln w="19050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266825" y="3200400"/>
            <a:ext cx="133350" cy="0"/>
          </a:xfrm>
          <a:prstGeom prst="line">
            <a:avLst/>
          </a:prstGeom>
          <a:ln w="19050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743075" y="2809875"/>
            <a:ext cx="29527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文献研究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43075" y="3305175"/>
            <a:ext cx="457200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66666"/>
                </a:solidFill>
                <a:latin typeface="Noto Sans CJK SC"/>
                <a:ea typeface="Noto Sans CJK SC"/>
              </a:rPr>
              <a:t>理论与政策依据</a:t>
            </a:r>
          </a:p>
        </p:txBody>
      </p:sp>
      <p:sp>
        <p:nvSpPr>
          <p:cNvPr id="16" name="Oval 15"/>
          <p:cNvSpPr/>
          <p:nvPr/>
        </p:nvSpPr>
        <p:spPr>
          <a:xfrm>
            <a:off x="1275587" y="3981450"/>
            <a:ext cx="115824" cy="115824"/>
          </a:xfrm>
          <a:prstGeom prst="ellipse">
            <a:avLst/>
          </a:prstGeom>
          <a:noFill/>
          <a:ln w="12700">
            <a:solidFill>
              <a:srgbClr val="0B2A4A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1226820" y="4176522"/>
            <a:ext cx="0" cy="85344"/>
          </a:xfrm>
          <a:prstGeom prst="line">
            <a:avLst/>
          </a:prstGeom>
          <a:ln w="19050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26820" y="4176522"/>
            <a:ext cx="213360" cy="0"/>
          </a:xfrm>
          <a:prstGeom prst="line">
            <a:avLst/>
          </a:prstGeom>
          <a:ln w="19050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440180" y="4176522"/>
            <a:ext cx="0" cy="85344"/>
          </a:xfrm>
          <a:prstGeom prst="line">
            <a:avLst/>
          </a:prstGeom>
          <a:ln w="19050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743075" y="3810000"/>
            <a:ext cx="29527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行为事件访谈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43075" y="4305300"/>
            <a:ext cx="457200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66666"/>
                </a:solidFill>
                <a:latin typeface="Noto Sans CJK SC"/>
                <a:ea typeface="Noto Sans CJK SC"/>
              </a:rPr>
              <a:t>高绩效行为与真实任务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81100" y="4981575"/>
            <a:ext cx="304800" cy="3048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0B2A4A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238250" y="5143500"/>
            <a:ext cx="66675" cy="66675"/>
          </a:xfrm>
          <a:prstGeom prst="line">
            <a:avLst/>
          </a:prstGeom>
          <a:ln w="19050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304925" y="5057775"/>
            <a:ext cx="133350" cy="152400"/>
          </a:xfrm>
          <a:prstGeom prst="line">
            <a:avLst/>
          </a:prstGeom>
          <a:ln w="19050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743075" y="4810125"/>
            <a:ext cx="29527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德尔菲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43075" y="5305425"/>
            <a:ext cx="457200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66666"/>
                </a:solidFill>
                <a:latin typeface="Noto Sans CJK SC"/>
                <a:ea typeface="Noto Sans CJK SC"/>
              </a:rPr>
              <a:t>多轮专家判断与修订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81100" y="5981700"/>
            <a:ext cx="95250" cy="95250"/>
          </a:xfrm>
          <a:prstGeom prst="rect">
            <a:avLst/>
          </a:prstGeom>
          <a:noFill/>
          <a:ln w="12700">
            <a:solidFill>
              <a:srgbClr val="0B2A4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90650" y="5981700"/>
            <a:ext cx="95250" cy="95250"/>
          </a:xfrm>
          <a:prstGeom prst="rect">
            <a:avLst/>
          </a:prstGeom>
          <a:noFill/>
          <a:ln w="12700">
            <a:solidFill>
              <a:srgbClr val="0B2A4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85875" y="6191250"/>
            <a:ext cx="95250" cy="95250"/>
          </a:xfrm>
          <a:prstGeom prst="rect">
            <a:avLst/>
          </a:prstGeom>
          <a:noFill/>
          <a:ln w="12700">
            <a:solidFill>
              <a:srgbClr val="0B2A4A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228725" y="6076950"/>
            <a:ext cx="104775" cy="114300"/>
          </a:xfrm>
          <a:prstGeom prst="line">
            <a:avLst/>
          </a:prstGeom>
          <a:ln w="19050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1333500" y="6076950"/>
            <a:ext cx="104775" cy="114300"/>
          </a:xfrm>
          <a:prstGeom prst="line">
            <a:avLst/>
          </a:prstGeom>
          <a:ln w="19050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743075" y="5810250"/>
            <a:ext cx="29527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比较分析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3075" y="6305550"/>
            <a:ext cx="457200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66666"/>
                </a:solidFill>
                <a:latin typeface="Noto Sans CJK SC"/>
                <a:ea typeface="Noto Sans CJK SC"/>
              </a:rPr>
              <a:t>共性识别与产业差异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1100" y="6981825"/>
            <a:ext cx="114300" cy="1143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0B2A4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181100" y="7153275"/>
            <a:ext cx="114300" cy="1143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0B2A4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52550" y="6981825"/>
            <a:ext cx="114300" cy="1143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0B2A4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352550" y="7153275"/>
            <a:ext cx="114300" cy="1143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0B2A4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43075" y="6810375"/>
            <a:ext cx="29527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大数据分析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43075" y="7305675"/>
            <a:ext cx="457200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66666"/>
                </a:solidFill>
                <a:latin typeface="Noto Sans CJK SC"/>
                <a:ea typeface="Noto Sans CJK SC"/>
              </a:rPr>
              <a:t>招聘表达与要素提取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72500" y="2762250"/>
            <a:ext cx="8763000" cy="1552575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39200" y="2857500"/>
            <a:ext cx="8229600" cy="9004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F58220"/>
                </a:solidFill>
                <a:latin typeface="DejaVu Sans"/>
                <a:ea typeface="Noto Sans CJK SC"/>
              </a:rPr>
              <a:t>339,694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58250" y="3709320"/>
            <a:ext cx="8191500" cy="4812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有效招聘信息 · 总样本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72500" y="4562475"/>
            <a:ext cx="8763000" cy="1552575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9200" y="4657725"/>
            <a:ext cx="8229600" cy="9004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F58220"/>
                </a:solidFill>
                <a:latin typeface="DejaVu Sans"/>
                <a:ea typeface="Noto Sans CJK SC"/>
              </a:rPr>
              <a:t>290,635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8250" y="5509545"/>
            <a:ext cx="8191500" cy="4812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新型先进制造业 · 85.6%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72500" y="6362700"/>
            <a:ext cx="8763000" cy="1552575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839200" y="6457950"/>
            <a:ext cx="8229600" cy="9004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F58220"/>
                </a:solidFill>
                <a:latin typeface="DejaVu Sans"/>
                <a:ea typeface="Noto Sans CJK SC"/>
              </a:rPr>
              <a:t>49,059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58250" y="7309770"/>
            <a:ext cx="8191500" cy="4812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旧型先进制造业 · 14.4%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2500" y="8381999"/>
            <a:ext cx="16383000" cy="619125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52500" y="8381999"/>
            <a:ext cx="47625" cy="619125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19200" y="8429625"/>
            <a:ext cx="1581150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Noto Sans CJK SC"/>
                <a:ea typeface="Noto Sans CJK SC"/>
              </a:rPr>
              <a:t>同类内部看排序：新型偏技术创新，旧型操作岗偏沟通表达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52500" y="9144000"/>
            <a:ext cx="16383000" cy="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17268825" y="9077325"/>
            <a:ext cx="133350" cy="133350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4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20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21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25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26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3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32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编码过程示例 · Ⅰ  / 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编码示例：111 万单元经核验，Kappa = 0.900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52624" y="2114550"/>
            <a:ext cx="15049499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补充附件仅演示编码方法；正式模型以 202602 优化版本报告为准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05</a:t>
            </a:r>
          </a:p>
        </p:txBody>
      </p:sp>
      <p:pic>
        <p:nvPicPr>
          <p:cNvPr id="9" name="Picture 8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10" name="Freeform 9"/>
          <p:cNvSpPr/>
          <p:nvPr/>
        </p:nvSpPr>
        <p:spPr>
          <a:xfrm>
            <a:off x="952500" y="2905125"/>
            <a:ext cx="7620000" cy="1019175"/>
          </a:xfrm>
          <a:custGeom>
            <a:avLst/>
            <a:gdLst/>
            <a:ahLst/>
            <a:cxnLst/>
            <a:rect l="l" t="t" r="r" b="b"/>
            <a:pathLst>
              <a:path w="800" h="107">
                <a:moveTo>
                  <a:pt x="0" y="0"/>
                </a:moveTo>
                <a:lnTo>
                  <a:pt x="800" y="0"/>
                </a:lnTo>
                <a:lnTo>
                  <a:pt x="748" y="107"/>
                </a:lnTo>
                <a:lnTo>
                  <a:pt x="52" y="107"/>
                </a:lnTo>
                <a:close/>
              </a:path>
            </a:pathLst>
          </a:custGeom>
          <a:solidFill>
            <a:srgbClr val="B2D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2971800"/>
            <a:ext cx="7391400" cy="577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0B2A4A"/>
                </a:solidFill>
                <a:latin typeface="DejaVu Sans"/>
                <a:ea typeface="Noto Sans CJK SC"/>
              </a:rPr>
              <a:t>339,694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5900" y="3526536"/>
            <a:ext cx="6553200" cy="3218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B2A4A"/>
                </a:solidFill>
                <a:latin typeface="Noto Sans CJK SC"/>
                <a:ea typeface="Noto Sans CJK SC"/>
              </a:rPr>
              <a:t>主报告招聘样本 · 约33万</a:t>
            </a:r>
          </a:p>
        </p:txBody>
      </p:sp>
      <p:sp>
        <p:nvSpPr>
          <p:cNvPr id="13" name="Freeform 12"/>
          <p:cNvSpPr/>
          <p:nvPr/>
        </p:nvSpPr>
        <p:spPr>
          <a:xfrm>
            <a:off x="1447800" y="4019550"/>
            <a:ext cx="6629400" cy="1009650"/>
          </a:xfrm>
          <a:custGeom>
            <a:avLst/>
            <a:gdLst/>
            <a:ahLst/>
            <a:cxnLst/>
            <a:rect l="l" t="t" r="r" b="b"/>
            <a:pathLst>
              <a:path w="696" h="106">
                <a:moveTo>
                  <a:pt x="0" y="0"/>
                </a:moveTo>
                <a:lnTo>
                  <a:pt x="696" y="0"/>
                </a:lnTo>
                <a:lnTo>
                  <a:pt x="644" y="106"/>
                </a:lnTo>
                <a:lnTo>
                  <a:pt x="52" y="106"/>
                </a:lnTo>
                <a:close/>
              </a:path>
            </a:pathLst>
          </a:custGeom>
          <a:solidFill>
            <a:srgbClr val="62C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62100" y="4081462"/>
            <a:ext cx="6400800" cy="577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DejaVu Sans"/>
                <a:ea typeface="Noto Sans CJK SC"/>
              </a:rPr>
              <a:t>12,416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1199" y="4636198"/>
            <a:ext cx="5562600" cy="3218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Noto Sans CJK SC"/>
                <a:ea typeface="Noto Sans CJK SC"/>
              </a:rPr>
              <a:t>示例能力条目</a:t>
            </a:r>
          </a:p>
        </p:txBody>
      </p:sp>
      <p:sp>
        <p:nvSpPr>
          <p:cNvPr id="16" name="Freeform 15"/>
          <p:cNvSpPr/>
          <p:nvPr/>
        </p:nvSpPr>
        <p:spPr>
          <a:xfrm>
            <a:off x="1943100" y="5124450"/>
            <a:ext cx="5638800" cy="1009650"/>
          </a:xfrm>
          <a:custGeom>
            <a:avLst/>
            <a:gdLst/>
            <a:ahLst/>
            <a:cxnLst/>
            <a:rect l="l" t="t" r="r" b="b"/>
            <a:pathLst>
              <a:path w="592" h="106">
                <a:moveTo>
                  <a:pt x="0" y="0"/>
                </a:moveTo>
                <a:lnTo>
                  <a:pt x="592" y="0"/>
                </a:lnTo>
                <a:lnTo>
                  <a:pt x="540" y="106"/>
                </a:lnTo>
                <a:lnTo>
                  <a:pt x="52" y="106"/>
                </a:lnTo>
                <a:close/>
              </a:path>
            </a:pathLst>
          </a:custGeom>
          <a:solidFill>
            <a:srgbClr val="16A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5191125"/>
            <a:ext cx="5410200" cy="577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DejaVu Sans"/>
                <a:ea typeface="Noto Sans CJK SC"/>
              </a:rPr>
              <a:t>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76500" y="5745861"/>
            <a:ext cx="4572000" cy="3218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Noto Sans CJK SC"/>
                <a:ea typeface="Noto Sans CJK SC"/>
              </a:rPr>
              <a:t>示例初始要素</a:t>
            </a:r>
          </a:p>
        </p:txBody>
      </p:sp>
      <p:sp>
        <p:nvSpPr>
          <p:cNvPr id="19" name="Freeform 18"/>
          <p:cNvSpPr/>
          <p:nvPr/>
        </p:nvSpPr>
        <p:spPr>
          <a:xfrm>
            <a:off x="2438400" y="6229350"/>
            <a:ext cx="4648200" cy="1019175"/>
          </a:xfrm>
          <a:custGeom>
            <a:avLst/>
            <a:gdLst/>
            <a:ahLst/>
            <a:cxnLst/>
            <a:rect l="l" t="t" r="r" b="b"/>
            <a:pathLst>
              <a:path w="488" h="107">
                <a:moveTo>
                  <a:pt x="0" y="0"/>
                </a:moveTo>
                <a:lnTo>
                  <a:pt x="488" y="0"/>
                </a:lnTo>
                <a:lnTo>
                  <a:pt x="436" y="107"/>
                </a:lnTo>
                <a:lnTo>
                  <a:pt x="52" y="107"/>
                </a:lnTo>
                <a:close/>
              </a:path>
            </a:pathLst>
          </a:cu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52700" y="6300787"/>
            <a:ext cx="4419600" cy="577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DejaVu Sans"/>
                <a:ea typeface="Noto Sans CJK SC"/>
              </a:rPr>
              <a:t>1,117,440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6855523"/>
            <a:ext cx="3581400" cy="3218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Noto Sans CJK SC"/>
                <a:ea typeface="Noto Sans CJK SC"/>
              </a:rPr>
              <a:t>示例编码单元 = 条目 × 要素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15500" y="2809875"/>
            <a:ext cx="7620000" cy="1400175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82200" y="2905125"/>
            <a:ext cx="7086600" cy="8121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F58220"/>
                </a:solidFill>
                <a:latin typeface="DejaVu Sans"/>
                <a:ea typeface="Noto Sans CJK SC"/>
              </a:rPr>
              <a:t>0.900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1250" y="3663981"/>
            <a:ext cx="7048500" cy="434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Kappa · 按表内边际重算一致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5500" y="4438650"/>
            <a:ext cx="3695700" cy="1285875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82200" y="4533900"/>
            <a:ext cx="3162300" cy="745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0B2A4A"/>
                </a:solidFill>
                <a:latin typeface="DejaVu Sans"/>
                <a:ea typeface="Noto Sans CJK SC"/>
              </a:rPr>
              <a:t>0.9979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01250" y="5223033"/>
            <a:ext cx="3124200" cy="398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Po · 观察一致率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639800" y="4438650"/>
            <a:ext cx="3695700" cy="1285875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06500" y="4533900"/>
            <a:ext cx="3162300" cy="745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0B2A4A"/>
                </a:solidFill>
                <a:latin typeface="DejaVu Sans"/>
                <a:ea typeface="Noto Sans CJK SC"/>
              </a:rPr>
              <a:t>0.9787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25550" y="5223033"/>
            <a:ext cx="3124200" cy="398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Pe · 随机一致率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15500" y="5991225"/>
            <a:ext cx="7620000" cy="135255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625" y="6124575"/>
            <a:ext cx="3429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2,376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11250" y="6124575"/>
            <a:ext cx="32575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0B2A4A"/>
                </a:solidFill>
                <a:latin typeface="DejaVu Sans"/>
                <a:ea typeface="Noto Sans CJK SC"/>
              </a:rPr>
              <a:t>11,377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53625" y="6638925"/>
            <a:ext cx="3429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对分歧 · 第三人裁定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11250" y="6638925"/>
            <a:ext cx="32385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对最终命中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2500" y="7829550"/>
            <a:ext cx="16383000" cy="619125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2500" y="7829550"/>
            <a:ext cx="47625" cy="619125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19200" y="7877175"/>
            <a:ext cx="1581150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0B2A4A"/>
                </a:solidFill>
                <a:latin typeface="Noto Sans CJK SC"/>
                <a:ea typeface="Noto Sans CJK SC"/>
              </a:rPr>
              <a:t>示例流程：记录数据来源、双人独立编码、第三人裁定，做到可追溯、可复核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500" y="8610600"/>
            <a:ext cx="1638300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来源：编码示例 07 / 10。示例统计不代表主报告正式编码结果；Kappa 不代表模型效度。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1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2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4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17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18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20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编码过程示例 · Ⅱ  / 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编码示例：三问定维度、三轮收敛，90 行校验无倒挂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52624" y="2114550"/>
            <a:ext cx="15049499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示例裁定后口径 · 90 项候选 → 剔除 17 项 → 保留 73 项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06</a:t>
            </a:r>
          </a:p>
        </p:txBody>
      </p:sp>
      <p:pic>
        <p:nvPicPr>
          <p:cNvPr id="9" name="Picture 8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52500" y="2857500"/>
            <a:ext cx="4953000" cy="12573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2857500"/>
            <a:ext cx="38100" cy="12573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2050" y="3000375"/>
            <a:ext cx="4476750" cy="4667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Noto Sans CJK SC"/>
                <a:ea typeface="Noto Sans CJK SC"/>
              </a:rPr>
              <a:t>可由证书、作品、参数验证？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62050" y="3600450"/>
            <a:ext cx="1095375" cy="304800"/>
          </a:xfrm>
          <a:prstGeom prst="roundRect">
            <a:avLst>
              <a:gd name="adj" fmla="val 12000"/>
            </a:avLst>
          </a:prstGeom>
          <a:solidFill>
            <a:srgbClr val="E0F2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62050" y="3600450"/>
            <a:ext cx="1095375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A6A6"/>
                </a:solidFill>
                <a:latin typeface="Noto Sans CJK SC"/>
                <a:ea typeface="Noto Sans CJK SC"/>
              </a:rPr>
              <a:t>硬技能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" y="4295775"/>
            <a:ext cx="4953000" cy="12573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2500" y="4295775"/>
            <a:ext cx="38100" cy="12573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2050" y="4438650"/>
            <a:ext cx="4476750" cy="4667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Noto Sans CJK SC"/>
                <a:ea typeface="Noto Sans CJK SC"/>
              </a:rPr>
              <a:t>核心在互动、协商、协同？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62050" y="5038725"/>
            <a:ext cx="1095375" cy="304800"/>
          </a:xfrm>
          <a:prstGeom prst="roundRect">
            <a:avLst>
              <a:gd name="adj" fmla="val 12000"/>
            </a:avLst>
          </a:prstGeom>
          <a:solidFill>
            <a:srgbClr val="E0F2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2050" y="5038725"/>
            <a:ext cx="1095375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A6A6"/>
                </a:solidFill>
                <a:latin typeface="Noto Sans CJK SC"/>
                <a:ea typeface="Noto Sans CJK SC"/>
              </a:rPr>
              <a:t>软技能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2500" y="5734050"/>
            <a:ext cx="4953000" cy="12573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2500" y="5734050"/>
            <a:ext cx="38100" cy="12573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62050" y="5876925"/>
            <a:ext cx="4476750" cy="4667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Noto Sans CJK SC"/>
                <a:ea typeface="Noto Sans CJK SC"/>
              </a:rPr>
              <a:t>能够跨任务、跨情境迁移？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62050" y="6477000"/>
            <a:ext cx="1095375" cy="304800"/>
          </a:xfrm>
          <a:prstGeom prst="roundRect">
            <a:avLst>
              <a:gd name="adj" fmla="val 12000"/>
            </a:avLst>
          </a:prstGeom>
          <a:solidFill>
            <a:srgbClr val="E0F2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2050" y="6477000"/>
            <a:ext cx="1095375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A6A6"/>
                </a:solidFill>
                <a:latin typeface="Noto Sans CJK SC"/>
                <a:ea typeface="Noto Sans CJK SC"/>
              </a:rPr>
              <a:t>元技能</a:t>
            </a:r>
          </a:p>
        </p:txBody>
      </p:sp>
      <p:sp>
        <p:nvSpPr>
          <p:cNvPr id="25" name="Freeform 24"/>
          <p:cNvSpPr/>
          <p:nvPr/>
        </p:nvSpPr>
        <p:spPr>
          <a:xfrm>
            <a:off x="6477000" y="2857500"/>
            <a:ext cx="4953000" cy="1276350"/>
          </a:xfrm>
          <a:custGeom>
            <a:avLst/>
            <a:gdLst/>
            <a:ahLst/>
            <a:cxnLst/>
            <a:rect l="l" t="t" r="r" b="b"/>
            <a:pathLst>
              <a:path w="520" h="134">
                <a:moveTo>
                  <a:pt x="0" y="0"/>
                </a:moveTo>
                <a:lnTo>
                  <a:pt x="520" y="0"/>
                </a:lnTo>
                <a:lnTo>
                  <a:pt x="486" y="134"/>
                </a:lnTo>
                <a:lnTo>
                  <a:pt x="34" y="134"/>
                </a:lnTo>
                <a:close/>
              </a:path>
            </a:pathLst>
          </a:custGeom>
          <a:solidFill>
            <a:srgbClr val="B2D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91300" y="2924175"/>
            <a:ext cx="4724400" cy="713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0B2A4A"/>
                </a:solidFill>
                <a:latin typeface="DejaVu Sans"/>
                <a:ea typeface="Noto Sans CJK SC"/>
              </a:rPr>
              <a:t>90 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7045" y="3625596"/>
            <a:ext cx="4232910" cy="3977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B2A4A"/>
                </a:solidFill>
                <a:latin typeface="Noto Sans CJK SC"/>
                <a:ea typeface="Noto Sans CJK SC"/>
              </a:rPr>
              <a:t>初始要素池</a:t>
            </a:r>
          </a:p>
        </p:txBody>
      </p:sp>
      <p:sp>
        <p:nvSpPr>
          <p:cNvPr id="28" name="Freeform 27"/>
          <p:cNvSpPr/>
          <p:nvPr/>
        </p:nvSpPr>
        <p:spPr>
          <a:xfrm>
            <a:off x="6800850" y="4229100"/>
            <a:ext cx="4305300" cy="1276350"/>
          </a:xfrm>
          <a:custGeom>
            <a:avLst/>
            <a:gdLst/>
            <a:ahLst/>
            <a:cxnLst/>
            <a:rect l="l" t="t" r="r" b="b"/>
            <a:pathLst>
              <a:path w="452" h="134">
                <a:moveTo>
                  <a:pt x="0" y="0"/>
                </a:moveTo>
                <a:lnTo>
                  <a:pt x="452" y="0"/>
                </a:lnTo>
                <a:lnTo>
                  <a:pt x="418" y="134"/>
                </a:lnTo>
                <a:lnTo>
                  <a:pt x="34" y="134"/>
                </a:lnTo>
                <a:close/>
              </a:path>
            </a:pathLst>
          </a:cu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13244" y="4295775"/>
            <a:ext cx="4080509" cy="713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DejaVu Sans"/>
                <a:ea typeface="Noto Sans CJK SC"/>
              </a:rPr>
              <a:t>剔除 17 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8990" y="4997196"/>
            <a:ext cx="3589020" cy="3977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Noto Sans CJK SC"/>
                <a:ea typeface="Noto Sans CJK SC"/>
              </a:rPr>
              <a:t>三轮收敛</a:t>
            </a:r>
          </a:p>
        </p:txBody>
      </p:sp>
      <p:sp>
        <p:nvSpPr>
          <p:cNvPr id="31" name="Freeform 30"/>
          <p:cNvSpPr/>
          <p:nvPr/>
        </p:nvSpPr>
        <p:spPr>
          <a:xfrm>
            <a:off x="7124700" y="5600700"/>
            <a:ext cx="3657600" cy="1276350"/>
          </a:xfrm>
          <a:custGeom>
            <a:avLst/>
            <a:gdLst/>
            <a:ahLst/>
            <a:cxnLst/>
            <a:rect l="l" t="t" r="r" b="b"/>
            <a:pathLst>
              <a:path w="384" h="134">
                <a:moveTo>
                  <a:pt x="0" y="0"/>
                </a:moveTo>
                <a:lnTo>
                  <a:pt x="384" y="0"/>
                </a:lnTo>
                <a:lnTo>
                  <a:pt x="351" y="134"/>
                </a:lnTo>
                <a:lnTo>
                  <a:pt x="33" y="134"/>
                </a:lnTo>
                <a:close/>
              </a:path>
            </a:pathLst>
          </a:cu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35190" y="5667375"/>
            <a:ext cx="3436620" cy="713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DejaVu Sans"/>
                <a:ea typeface="Noto Sans CJK SC"/>
              </a:rPr>
              <a:t>保留 73 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80935" y="6368796"/>
            <a:ext cx="2945130" cy="3977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Noto Sans CJK SC"/>
                <a:ea typeface="Noto Sans CJK SC"/>
              </a:rPr>
              <a:t>最终要素集</a:t>
            </a:r>
          </a:p>
        </p:txBody>
      </p:sp>
      <p:sp>
        <p:nvSpPr>
          <p:cNvPr id="34" name="Oval 33"/>
          <p:cNvSpPr/>
          <p:nvPr/>
        </p:nvSpPr>
        <p:spPr>
          <a:xfrm>
            <a:off x="12715875" y="3000375"/>
            <a:ext cx="3905249" cy="3905249"/>
          </a:xfrm>
          <a:prstGeom prst="ellipse">
            <a:avLst/>
          </a:prstGeom>
          <a:solidFill>
            <a:srgbClr val="B2DF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3301662" y="3586162"/>
            <a:ext cx="2733675" cy="2733675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887450" y="4171950"/>
            <a:ext cx="1562100" cy="1562100"/>
          </a:xfrm>
          <a:prstGeom prst="ellipse">
            <a:avLst/>
          </a:prstGeom>
          <a:solidFill>
            <a:srgbClr val="0B2A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906976" y="4667250"/>
            <a:ext cx="152304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通用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399293" y="3703320"/>
            <a:ext cx="25384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  <a:ea typeface="Noto Sans CJK SC"/>
              </a:rPr>
              <a:t>产业背景 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106400" y="6319837"/>
            <a:ext cx="31242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0B2A4A"/>
                </a:solidFill>
                <a:latin typeface="Noto Sans CJK SC"/>
                <a:ea typeface="Noto Sans CJK SC"/>
              </a:rPr>
              <a:t>岗位专有 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15750" y="7277100"/>
            <a:ext cx="561975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  <a:ea typeface="Noto Sans CJK SC"/>
              </a:rPr>
              <a:t>示例三层口径：22 + 48 + 20 = 90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52500" y="8001000"/>
            <a:ext cx="16383000" cy="619125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500" y="8001000"/>
            <a:ext cx="47625" cy="619125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9200" y="8048625"/>
            <a:ext cx="1581150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0B2A4A"/>
                </a:solidFill>
                <a:latin typeface="Noto Sans CJK SC"/>
                <a:ea typeface="Noto Sans CJK SC"/>
              </a:rPr>
              <a:t>编码示例 90 行全部通过单调性校验，无倒挂；正式模型仍按主报告验证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2500" y="8753475"/>
            <a:ext cx="16383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来源：示例 09 / 12 裁定后版。数量与校验结论只用于讲解编码，不作正式模型结论。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2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4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7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19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22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24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26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分类逻辑 · 产业  / 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技术内核不同，能力要求需要差异化配置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07</a:t>
            </a:r>
          </a:p>
        </p:txBody>
      </p:sp>
      <p:pic>
        <p:nvPicPr>
          <p:cNvPr id="8" name="Picture 7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52500" y="2857500"/>
            <a:ext cx="8001000" cy="4857750"/>
          </a:xfrm>
          <a:prstGeom prst="roundRect">
            <a:avLst>
              <a:gd name="adj" fmla="val 12000"/>
            </a:avLst>
          </a:prstGeom>
          <a:solidFill>
            <a:srgbClr val="E3F2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33500" y="3286125"/>
            <a:ext cx="95250" cy="95250"/>
          </a:xfrm>
          <a:prstGeom prst="rect">
            <a:avLst/>
          </a:prstGeom>
          <a:noFill/>
          <a:ln w="12700">
            <a:solidFill>
              <a:srgbClr val="0B2A4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3050" y="3286125"/>
            <a:ext cx="95250" cy="95250"/>
          </a:xfrm>
          <a:prstGeom prst="rect">
            <a:avLst/>
          </a:prstGeom>
          <a:noFill/>
          <a:ln w="12700">
            <a:solidFill>
              <a:srgbClr val="0B2A4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38275" y="3495675"/>
            <a:ext cx="95250" cy="95250"/>
          </a:xfrm>
          <a:prstGeom prst="rect">
            <a:avLst/>
          </a:prstGeom>
          <a:noFill/>
          <a:ln w="12700">
            <a:solidFill>
              <a:srgbClr val="0B2A4A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381125" y="3381375"/>
            <a:ext cx="104775" cy="114300"/>
          </a:xfrm>
          <a:prstGeom prst="line">
            <a:avLst/>
          </a:prstGeom>
          <a:ln w="19050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485900" y="3381375"/>
            <a:ext cx="104775" cy="114300"/>
          </a:xfrm>
          <a:prstGeom prst="line">
            <a:avLst/>
          </a:prstGeom>
          <a:ln w="19050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038349" y="3124200"/>
            <a:ext cx="6191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0B2A4A"/>
                </a:solidFill>
                <a:latin typeface="Noto Sans CJK SC"/>
                <a:ea typeface="Noto Sans CJK SC"/>
              </a:rPr>
              <a:t>新型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3500" y="4010025"/>
            <a:ext cx="7239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A6A6"/>
                </a:solidFill>
                <a:latin typeface="Noto Sans CJK SC"/>
                <a:ea typeface="Noto Sans CJK SC"/>
              </a:rPr>
              <a:t>数字与信息技术内核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3500" y="4905375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信息技术 · 自动化 · 软件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5600700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传感 · 网络 · 系统整合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3500" y="6296025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数字化 · 跨领域协同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2857500"/>
            <a:ext cx="8001000" cy="4857750"/>
          </a:xfrm>
          <a:prstGeom prst="roundRect">
            <a:avLst>
              <a:gd name="adj" fmla="val 12000"/>
            </a:avLst>
          </a:prstGeom>
          <a:solidFill>
            <a:srgbClr val="E0F2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15500" y="3286125"/>
            <a:ext cx="95250" cy="9525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925050" y="3286125"/>
            <a:ext cx="95250" cy="9525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20275" y="3495675"/>
            <a:ext cx="95250" cy="9525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9763125" y="3381375"/>
            <a:ext cx="104775" cy="11430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9867900" y="3381375"/>
            <a:ext cx="104775" cy="11430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420350" y="3124200"/>
            <a:ext cx="6191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0B2A4A"/>
                </a:solidFill>
                <a:latin typeface="Noto Sans CJK SC"/>
                <a:ea typeface="Noto Sans CJK SC"/>
              </a:rPr>
              <a:t>旧型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5500" y="4010025"/>
            <a:ext cx="7239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A6A6"/>
                </a:solidFill>
                <a:latin typeface="Noto Sans CJK SC"/>
                <a:ea typeface="Noto Sans CJK SC"/>
              </a:rPr>
              <a:t>既有工艺与材料技术内核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15500" y="4905375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物理 · 生物 · 化学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15500" y="5600700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新材料 · 纳米 · 工艺积累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15500" y="6296025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合规 · 流程 · 吸收数字化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144000" y="3143250"/>
            <a:ext cx="0" cy="4305300"/>
          </a:xfrm>
          <a:prstGeom prst="line">
            <a:avLst/>
          </a:prstGeom>
          <a:ln w="1905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52500" y="8143875"/>
            <a:ext cx="16383000" cy="666750"/>
          </a:xfrm>
          <a:prstGeom prst="roundRect">
            <a:avLst>
              <a:gd name="adj" fmla="val 6000"/>
            </a:avLst>
          </a:prstGeom>
          <a:solidFill>
            <a:srgbClr val="F582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2500" y="8143875"/>
            <a:ext cx="47625" cy="66675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9200" y="8191500"/>
            <a:ext cx="15811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同一企业可以并存两类岗位逻辑；请立白按核心工艺与业务功能判断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6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7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18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19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26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2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27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分类逻辑 · 人才  / 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五类人才按工作功能划分，覆盖操作到战略的完整链条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08</a:t>
            </a:r>
          </a:p>
        </p:txBody>
      </p:sp>
      <p:pic>
        <p:nvPicPr>
          <p:cNvPr id="8" name="Picture 7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52500" y="3076575"/>
            <a:ext cx="3086100" cy="4057650"/>
          </a:xfrm>
          <a:prstGeom prst="roundRect">
            <a:avLst>
              <a:gd name="adj" fmla="val 12000"/>
            </a:avLst>
          </a:prstGeom>
          <a:solidFill>
            <a:srgbClr val="E3F2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0150" y="3333750"/>
            <a:ext cx="257175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600" b="1">
                <a:solidFill>
                  <a:srgbClr val="00A6A6"/>
                </a:solidFill>
                <a:latin typeface="DejaVu Sans"/>
                <a:ea typeface="Noto Sans CJK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0150" y="4286250"/>
            <a:ext cx="2571750" cy="1028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B2A4A"/>
                </a:solidFill>
                <a:latin typeface="Noto Sans CJK SC"/>
                <a:ea typeface="Noto Sans CJK SC"/>
              </a:rPr>
              <a:t>智能制造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B2A4A"/>
                </a:solidFill>
                <a:latin typeface="Noto Sans CJK SC"/>
                <a:ea typeface="Noto Sans CJK SC"/>
              </a:rPr>
              <a:t>操作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0150" y="5619750"/>
            <a:ext cx="2571750" cy="1190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设备操作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参数控制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现场协作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6725" y="3076575"/>
            <a:ext cx="3086100" cy="4057650"/>
          </a:xfrm>
          <a:prstGeom prst="roundRect">
            <a:avLst>
              <a:gd name="adj" fmla="val 12000"/>
            </a:avLst>
          </a:prstGeom>
          <a:solidFill>
            <a:srgbClr val="E0F2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4375" y="3333750"/>
            <a:ext cx="257175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600" b="1">
                <a:solidFill>
                  <a:srgbClr val="00A6A6"/>
                </a:solidFill>
                <a:latin typeface="DejaVu Sans"/>
                <a:ea typeface="Noto Sans CJK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4375" y="4286250"/>
            <a:ext cx="2571750" cy="1028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B2A4A"/>
                </a:solidFill>
                <a:latin typeface="Noto Sans CJK SC"/>
                <a:ea typeface="Noto Sans CJK SC"/>
              </a:rPr>
              <a:t>技术研发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4375" y="5619750"/>
            <a:ext cx="2571750" cy="1190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技术创新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研发验证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成果转化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00950" y="3076575"/>
            <a:ext cx="3086100" cy="4057650"/>
          </a:xfrm>
          <a:prstGeom prst="roundRect">
            <a:avLst>
              <a:gd name="adj" fmla="val 12000"/>
            </a:avLst>
          </a:prstGeom>
          <a:solidFill>
            <a:srgbClr val="E3F2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8600" y="3333750"/>
            <a:ext cx="257175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600" b="1">
                <a:solidFill>
                  <a:srgbClr val="00A6A6"/>
                </a:solidFill>
                <a:latin typeface="DejaVu Sans"/>
                <a:ea typeface="Noto Sans CJK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8600" y="4286250"/>
            <a:ext cx="2571750" cy="1028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B2A4A"/>
                </a:solidFill>
                <a:latin typeface="Noto Sans CJK SC"/>
                <a:ea typeface="Noto Sans CJK SC"/>
              </a:rPr>
              <a:t>数字化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B2A4A"/>
                </a:solidFill>
                <a:latin typeface="Noto Sans CJK SC"/>
                <a:ea typeface="Noto Sans CJK SC"/>
              </a:rPr>
              <a:t>管理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600" y="5619750"/>
            <a:ext cx="2571750" cy="1190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数据治理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系统协同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流程优化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25175" y="3076575"/>
            <a:ext cx="3086100" cy="4057650"/>
          </a:xfrm>
          <a:prstGeom prst="roundRect">
            <a:avLst>
              <a:gd name="adj" fmla="val 12000"/>
            </a:avLst>
          </a:prstGeom>
          <a:solidFill>
            <a:srgbClr val="E0F2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2825" y="3333750"/>
            <a:ext cx="257175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600" b="1">
                <a:solidFill>
                  <a:srgbClr val="00A6A6"/>
                </a:solidFill>
                <a:latin typeface="DejaVu Sans"/>
                <a:ea typeface="Noto Sans CJK S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72825" y="4286250"/>
            <a:ext cx="2571750" cy="1028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B2A4A"/>
                </a:solidFill>
                <a:latin typeface="Noto Sans CJK SC"/>
                <a:ea typeface="Noto Sans CJK SC"/>
              </a:rPr>
              <a:t>跨界复合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2825" y="5619750"/>
            <a:ext cx="2571750" cy="1190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需求转译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跨域融合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项目协同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076575"/>
            <a:ext cx="3086100" cy="4057650"/>
          </a:xfrm>
          <a:prstGeom prst="roundRect">
            <a:avLst>
              <a:gd name="adj" fmla="val 12000"/>
            </a:avLst>
          </a:prstGeom>
          <a:solidFill>
            <a:srgbClr val="E3F2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497050" y="3333750"/>
            <a:ext cx="257175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600" b="1">
                <a:solidFill>
                  <a:srgbClr val="00A6A6"/>
                </a:solidFill>
                <a:latin typeface="DejaVu Sans"/>
                <a:ea typeface="Noto Sans CJK SC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97050" y="4286250"/>
            <a:ext cx="2571750" cy="1028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B2A4A"/>
                </a:solidFill>
                <a:latin typeface="Noto Sans CJK SC"/>
                <a:ea typeface="Noto Sans CJK SC"/>
              </a:rPr>
              <a:t>战略引领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97050" y="5619750"/>
            <a:ext cx="2571750" cy="1190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方向判断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资源配置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战略落地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0500" y="7334250"/>
            <a:ext cx="428625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F58220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4724" y="7334250"/>
            <a:ext cx="428625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F58220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48950" y="7334250"/>
            <a:ext cx="428625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F58220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73175" y="7334250"/>
            <a:ext cx="428625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F58220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" y="7848600"/>
            <a:ext cx="16383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技术应用  →  创新研发  →  系统管理  →  跨界融合  →  战略引领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" y="8610600"/>
            <a:ext cx="16383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功能递进是认知路径；五类不等同于单一晋升阶梯。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0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1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2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14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16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18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分类逻辑 · 能力  / 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硬、软、元三维能力，用三问逐项校验归属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52624" y="2114550"/>
            <a:ext cx="15049499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三维框架来自主报告；右侧 90/90 与 2 项争议为编码示例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09</a:t>
            </a:r>
          </a:p>
        </p:txBody>
      </p:sp>
      <p:pic>
        <p:nvPicPr>
          <p:cNvPr id="9" name="Picture 8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52500" y="2857500"/>
            <a:ext cx="7620000" cy="1438275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1100" y="3028950"/>
            <a:ext cx="619125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00A6A6"/>
                </a:solidFill>
                <a:latin typeface="DejaVu Sans"/>
                <a:ea typeface="Noto Sans CJK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4049" y="2971800"/>
            <a:ext cx="4953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0B2A4A"/>
                </a:solidFill>
                <a:latin typeface="Noto Sans CJK SC"/>
                <a:ea typeface="Noto Sans CJK SC"/>
              </a:rPr>
              <a:t>证书 / 作品 / 参数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4049" y="3543300"/>
            <a:ext cx="4953000" cy="4667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能否用技能成果直接验证？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53250" y="3381375"/>
            <a:ext cx="1333500" cy="4381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53250" y="3381375"/>
            <a:ext cx="1333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0A6A6"/>
                </a:solidFill>
                <a:latin typeface="Noto Sans CJK SC"/>
                <a:ea typeface="Noto Sans CJK SC"/>
              </a:rPr>
              <a:t>硬技能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2500" y="4476750"/>
            <a:ext cx="7620000" cy="1438275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100" y="4648200"/>
            <a:ext cx="619125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00A6A6"/>
                </a:solidFill>
                <a:latin typeface="DejaVu Sans"/>
                <a:ea typeface="Noto Sans CJK SC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4049" y="4591050"/>
            <a:ext cx="4953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0B2A4A"/>
                </a:solidFill>
                <a:latin typeface="Noto Sans CJK SC"/>
                <a:ea typeface="Noto Sans CJK SC"/>
              </a:rPr>
              <a:t>互动 / 协商 / 协同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4049" y="5162550"/>
            <a:ext cx="4953000" cy="4667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核心是否依赖人与人协作？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53250" y="5000625"/>
            <a:ext cx="1333500" cy="4381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53250" y="5000625"/>
            <a:ext cx="1333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0A6A6"/>
                </a:solidFill>
                <a:latin typeface="Noto Sans CJK SC"/>
                <a:ea typeface="Noto Sans CJK SC"/>
              </a:rPr>
              <a:t>软技能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2500" y="6096000"/>
            <a:ext cx="7620000" cy="1438275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1100" y="6267450"/>
            <a:ext cx="619125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00A6A6"/>
                </a:solidFill>
                <a:latin typeface="DejaVu Sans"/>
                <a:ea typeface="Noto Sans CJK SC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4049" y="6210300"/>
            <a:ext cx="4953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0B2A4A"/>
                </a:solidFill>
                <a:latin typeface="Noto Sans CJK SC"/>
                <a:ea typeface="Noto Sans CJK SC"/>
              </a:rPr>
              <a:t>跨任务 / 跨情境迁移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4049" y="6781800"/>
            <a:ext cx="4953000" cy="4667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能否在变化中学习、适应与重组？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53250" y="6619875"/>
            <a:ext cx="1333500" cy="4381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53250" y="6619875"/>
            <a:ext cx="1333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0A6A6"/>
                </a:solidFill>
                <a:latin typeface="Noto Sans CJK SC"/>
                <a:ea typeface="Noto Sans CJK SC"/>
              </a:rPr>
              <a:t>元技能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2857500"/>
            <a:ext cx="8001000" cy="4676775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7875" y="3381375"/>
            <a:ext cx="7334250" cy="904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F58220"/>
                </a:solidFill>
                <a:latin typeface="DejaVu Sans"/>
                <a:ea typeface="Noto Sans CJK SC"/>
              </a:rPr>
              <a:t>90 / 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7875" y="4438650"/>
            <a:ext cx="733425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0B2A4A"/>
                </a:solidFill>
                <a:latin typeface="Noto Sans CJK SC"/>
                <a:ea typeface="Noto Sans CJK SC"/>
              </a:rPr>
              <a:t>示例要素全部纳入归属校验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7875" y="5162550"/>
            <a:ext cx="73342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58220"/>
                </a:solidFill>
                <a:latin typeface="Noto Sans CJK SC"/>
                <a:ea typeface="Noto Sans CJK SC"/>
              </a:rPr>
              <a:t>2 项归属不一致 · 提交团队复核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0750" y="5829300"/>
            <a:ext cx="7048500" cy="781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33333"/>
                </a:solidFill>
                <a:latin typeface="Noto Sans CJK SC"/>
                <a:ea typeface="Noto Sans CJK SC"/>
              </a:rPr>
              <a:t>跨域项目管理：硬技能 ↔ 元技能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33333"/>
                </a:solidFill>
                <a:latin typeface="Noto Sans CJK SC"/>
                <a:ea typeface="Noto Sans CJK SC"/>
              </a:rPr>
              <a:t>团队管理（旧·战略）：硬技能 ↔ 软技能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0750" y="6800850"/>
            <a:ext cx="70485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  <a:ea typeface="Noto Sans CJK SC"/>
              </a:rPr>
              <a:t>按种子词典暂归类，复核后回填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2500" y="8115300"/>
            <a:ext cx="16383000" cy="619125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2500" y="8115300"/>
            <a:ext cx="47625" cy="619125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19200" y="8162925"/>
            <a:ext cx="1581150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核心问题：三问判定法是否符合立白真实岗位任务？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1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2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17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18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19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分类逻辑 · 层级  /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三级人才回答“谁”，三层标准回答“要求什么”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10</a:t>
            </a:r>
          </a:p>
        </p:txBody>
      </p:sp>
      <p:pic>
        <p:nvPicPr>
          <p:cNvPr id="8" name="Picture 7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2500" y="2667000"/>
            <a:ext cx="6667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0B2A4A"/>
                </a:solidFill>
                <a:latin typeface="Noto Sans CJK SC"/>
                <a:ea typeface="Noto Sans CJK SC"/>
              </a:rPr>
              <a:t>人才角色 · 三级</a:t>
            </a:r>
          </a:p>
        </p:txBody>
      </p:sp>
      <p:sp>
        <p:nvSpPr>
          <p:cNvPr id="10" name="Freeform 9"/>
          <p:cNvSpPr/>
          <p:nvPr/>
        </p:nvSpPr>
        <p:spPr>
          <a:xfrm>
            <a:off x="2905125" y="3381375"/>
            <a:ext cx="3429000" cy="1428750"/>
          </a:xfrm>
          <a:custGeom>
            <a:avLst/>
            <a:gdLst/>
            <a:ahLst/>
            <a:cxnLst/>
            <a:rect l="l" t="t" r="r" b="b"/>
            <a:pathLst>
              <a:path w="360" h="150">
                <a:moveTo>
                  <a:pt x="140" y="0"/>
                </a:moveTo>
                <a:lnTo>
                  <a:pt x="220" y="0"/>
                </a:lnTo>
                <a:lnTo>
                  <a:pt x="360" y="150"/>
                </a:lnTo>
                <a:lnTo>
                  <a:pt x="0" y="150"/>
                </a:lnTo>
                <a:close/>
              </a:path>
            </a:pathLst>
          </a:cu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38500" y="3838575"/>
            <a:ext cx="2762250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高端</a:t>
            </a:r>
          </a:p>
        </p:txBody>
      </p:sp>
      <p:sp>
        <p:nvSpPr>
          <p:cNvPr id="12" name="Freeform 11"/>
          <p:cNvSpPr/>
          <p:nvPr/>
        </p:nvSpPr>
        <p:spPr>
          <a:xfrm>
            <a:off x="1447800" y="4943475"/>
            <a:ext cx="6343650" cy="1428750"/>
          </a:xfrm>
          <a:custGeom>
            <a:avLst/>
            <a:gdLst/>
            <a:ahLst/>
            <a:cxnLst/>
            <a:rect l="l" t="t" r="r" b="b"/>
            <a:pathLst>
              <a:path w="666" h="150">
                <a:moveTo>
                  <a:pt x="140" y="0"/>
                </a:moveTo>
                <a:lnTo>
                  <a:pt x="526" y="0"/>
                </a:lnTo>
                <a:lnTo>
                  <a:pt x="666" y="150"/>
                </a:lnTo>
                <a:lnTo>
                  <a:pt x="0" y="150"/>
                </a:lnTo>
                <a:close/>
              </a:path>
            </a:pathLst>
          </a:cu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81250" y="5343525"/>
            <a:ext cx="44767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骨干</a:t>
            </a:r>
          </a:p>
        </p:txBody>
      </p:sp>
      <p:sp>
        <p:nvSpPr>
          <p:cNvPr id="14" name="Freeform 13"/>
          <p:cNvSpPr/>
          <p:nvPr/>
        </p:nvSpPr>
        <p:spPr>
          <a:xfrm>
            <a:off x="723900" y="6505575"/>
            <a:ext cx="7791450" cy="609600"/>
          </a:xfrm>
          <a:custGeom>
            <a:avLst/>
            <a:gdLst/>
            <a:ahLst/>
            <a:cxnLst/>
            <a:rect l="l" t="t" r="r" b="b"/>
            <a:pathLst>
              <a:path w="818" h="64">
                <a:moveTo>
                  <a:pt x="63" y="0"/>
                </a:moveTo>
                <a:lnTo>
                  <a:pt x="755" y="0"/>
                </a:lnTo>
                <a:lnTo>
                  <a:pt x="818" y="64"/>
                </a:lnTo>
                <a:lnTo>
                  <a:pt x="0" y="64"/>
                </a:lnTo>
                <a:close/>
              </a:path>
            </a:pathLst>
          </a:custGeom>
          <a:solidFill>
            <a:srgbClr val="B2D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95499" y="6581775"/>
            <a:ext cx="50482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0B2A4A"/>
                </a:solidFill>
                <a:latin typeface="Noto Sans CJK SC"/>
                <a:ea typeface="Noto Sans CJK SC"/>
              </a:rPr>
              <a:t>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01250" y="2667000"/>
            <a:ext cx="6667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0B2A4A"/>
                </a:solidFill>
                <a:latin typeface="Noto Sans CJK SC"/>
                <a:ea typeface="Noto Sans CJK SC"/>
              </a:rPr>
              <a:t>标准适用范围 · 三层</a:t>
            </a:r>
          </a:p>
        </p:txBody>
      </p:sp>
      <p:sp>
        <p:nvSpPr>
          <p:cNvPr id="17" name="Oval 16"/>
          <p:cNvSpPr/>
          <p:nvPr/>
        </p:nvSpPr>
        <p:spPr>
          <a:xfrm>
            <a:off x="11430000" y="3248025"/>
            <a:ext cx="3810000" cy="3810000"/>
          </a:xfrm>
          <a:prstGeom prst="ellipse">
            <a:avLst/>
          </a:prstGeom>
          <a:solidFill>
            <a:srgbClr val="B2DF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001500" y="3819524"/>
            <a:ext cx="2667000" cy="2667000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573000" y="4391025"/>
            <a:ext cx="1524000" cy="1524000"/>
          </a:xfrm>
          <a:prstGeom prst="ellipse">
            <a:avLst/>
          </a:prstGeom>
          <a:solidFill>
            <a:srgbClr val="0B2A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92050" y="4867275"/>
            <a:ext cx="14859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通用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要素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96750" y="3933824"/>
            <a:ext cx="2476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  <a:ea typeface="Noto Sans CJK SC"/>
              </a:rPr>
              <a:t>产业背景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11000" y="6486525"/>
            <a:ext cx="3048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0B2A4A"/>
                </a:solidFill>
                <a:latin typeface="Noto Sans CJK SC"/>
                <a:ea typeface="Noto Sans CJK SC"/>
              </a:rPr>
              <a:t>岗位专有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53399" y="5067300"/>
            <a:ext cx="3038476" cy="0"/>
          </a:xfrm>
          <a:prstGeom prst="line">
            <a:avLst/>
          </a:prstGeom>
          <a:ln w="19050">
            <a:solidFill>
              <a:srgbClr val="D9E2E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953374" y="4257675"/>
            <a:ext cx="3429000" cy="638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66666"/>
                </a:solidFill>
                <a:latin typeface="Noto Sans CJK SC"/>
                <a:ea typeface="Noto Sans CJK SC"/>
              </a:rPr>
              <a:t>按岗位配置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66666"/>
                </a:solidFill>
                <a:latin typeface="Noto Sans CJK SC"/>
                <a:ea typeface="Noto Sans CJK SC"/>
              </a:rPr>
              <a:t>三层组合要求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2500" y="7867649"/>
            <a:ext cx="3924300" cy="112395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2500" y="7867649"/>
            <a:ext cx="38100" cy="112395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7981949"/>
            <a:ext cx="5524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275" y="7991475"/>
            <a:ext cx="2838450" cy="447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指导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8515350"/>
            <a:ext cx="35623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按规范完成基础任务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05400" y="7867649"/>
            <a:ext cx="3924300" cy="112395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05400" y="7867649"/>
            <a:ext cx="38100" cy="112395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95900" y="7981949"/>
            <a:ext cx="5524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72175" y="7991475"/>
            <a:ext cx="2838450" cy="447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独立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95900" y="8515350"/>
            <a:ext cx="35623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交付常规成果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58300" y="7867649"/>
            <a:ext cx="3924300" cy="112395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58300" y="7867649"/>
            <a:ext cx="38100" cy="112395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48800" y="7981949"/>
            <a:ext cx="5524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25075" y="7991475"/>
            <a:ext cx="2838450" cy="447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优化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48800" y="8515350"/>
            <a:ext cx="35623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改进流程与协调资源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3411200" y="7867649"/>
            <a:ext cx="3924300" cy="112395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411200" y="7867649"/>
            <a:ext cx="38100" cy="112395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601700" y="7981949"/>
            <a:ext cx="5524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277975" y="7991475"/>
            <a:ext cx="2838450" cy="447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主导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601700" y="8515350"/>
            <a:ext cx="35623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构建体系与赋能团队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9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1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16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20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21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模型总览  /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五类 × 三维 × 三级，以三层标准承载产业差异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52624" y="2114550"/>
            <a:ext cx="15049499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一个统一骨架，按产业背景与岗位功能配置具体行为标准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11</a:t>
            </a:r>
          </a:p>
        </p:txBody>
      </p:sp>
      <p:pic>
        <p:nvPicPr>
          <p:cNvPr id="9" name="Picture 8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52500" y="2619375"/>
            <a:ext cx="5286375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标准适用范围</a:t>
            </a:r>
          </a:p>
        </p:txBody>
      </p:sp>
      <p:sp>
        <p:nvSpPr>
          <p:cNvPr id="11" name="Oval 10"/>
          <p:cNvSpPr/>
          <p:nvPr/>
        </p:nvSpPr>
        <p:spPr>
          <a:xfrm>
            <a:off x="1685925" y="3286125"/>
            <a:ext cx="3867150" cy="3867150"/>
          </a:xfrm>
          <a:prstGeom prst="ellipse">
            <a:avLst/>
          </a:prstGeom>
          <a:solidFill>
            <a:srgbClr val="B2DF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65997" y="3866197"/>
            <a:ext cx="2707005" cy="2707005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070" y="4446270"/>
            <a:ext cx="1546860" cy="1546860"/>
          </a:xfrm>
          <a:prstGeom prst="ellipse">
            <a:avLst/>
          </a:prstGeom>
          <a:solidFill>
            <a:srgbClr val="0B2A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5405" y="4933950"/>
            <a:ext cx="15081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通用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要素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2676" y="3982211"/>
            <a:ext cx="251364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  <a:ea typeface="Noto Sans CJK SC"/>
              </a:rPr>
              <a:t>产业背景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2640" y="6573202"/>
            <a:ext cx="309372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0B2A4A"/>
                </a:solidFill>
                <a:latin typeface="Noto Sans CJK SC"/>
                <a:ea typeface="Noto Sans CJK SC"/>
              </a:rPr>
              <a:t>岗位专有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2750" y="2619375"/>
            <a:ext cx="4572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五类人才功能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2750" y="3238500"/>
            <a:ext cx="4572000" cy="6858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62750" y="3238500"/>
            <a:ext cx="38100" cy="6858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62775" y="3305175"/>
            <a:ext cx="4190999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Noto Sans CJK SC"/>
                <a:ea typeface="Noto Sans CJK SC"/>
              </a:rPr>
              <a:t>智能制造操作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2775" y="3619500"/>
            <a:ext cx="4190999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设备 · 参数 · 现场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2750" y="4048124"/>
            <a:ext cx="4572000" cy="6858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2750" y="4048124"/>
            <a:ext cx="38100" cy="6858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62775" y="4114800"/>
            <a:ext cx="4190999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Noto Sans CJK SC"/>
                <a:ea typeface="Noto Sans CJK SC"/>
              </a:rPr>
              <a:t>技术研发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2775" y="4429125"/>
            <a:ext cx="4190999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研发 · 创新 · 验证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62750" y="4857750"/>
            <a:ext cx="4572000" cy="6858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62750" y="4857750"/>
            <a:ext cx="38100" cy="6858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62775" y="4924425"/>
            <a:ext cx="4190999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Noto Sans CJK SC"/>
                <a:ea typeface="Noto Sans CJK SC"/>
              </a:rPr>
              <a:t>数字化管理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62775" y="5238750"/>
            <a:ext cx="4190999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数据 · 系统 · 流程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2750" y="5667375"/>
            <a:ext cx="4572000" cy="6858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2750" y="5667375"/>
            <a:ext cx="38100" cy="6858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62775" y="5734050"/>
            <a:ext cx="4190999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Noto Sans CJK SC"/>
                <a:ea typeface="Noto Sans CJK SC"/>
              </a:rPr>
              <a:t>跨界复合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2775" y="6048375"/>
            <a:ext cx="4190999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跨域 · 项目 · 转译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62750" y="6477000"/>
            <a:ext cx="4572000" cy="6858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62750" y="6477000"/>
            <a:ext cx="38100" cy="6858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62775" y="6543675"/>
            <a:ext cx="4190999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Noto Sans CJK SC"/>
                <a:ea typeface="Noto Sans CJK SC"/>
              </a:rPr>
              <a:t>战略引领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2775" y="6858000"/>
            <a:ext cx="4190999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方向 · 资源 · 落地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11000" y="2619375"/>
            <a:ext cx="55245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能力维度 × 人才层级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2668250" y="3238500"/>
            <a:ext cx="1409700" cy="504825"/>
          </a:xfrm>
          <a:prstGeom prst="roundRect">
            <a:avLst>
              <a:gd name="adj" fmla="val 12000"/>
            </a:avLst>
          </a:prstGeom>
          <a:solidFill>
            <a:srgbClr val="0B2A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668250" y="3276600"/>
            <a:ext cx="140970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硬技能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230350" y="3238500"/>
            <a:ext cx="1409700" cy="504825"/>
          </a:xfrm>
          <a:prstGeom prst="roundRect">
            <a:avLst>
              <a:gd name="adj" fmla="val 12000"/>
            </a:avLst>
          </a:prstGeom>
          <a:solidFill>
            <a:srgbClr val="0B2A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230350" y="3276600"/>
            <a:ext cx="140970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软技能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5792449" y="3238500"/>
            <a:ext cx="1409700" cy="504825"/>
          </a:xfrm>
          <a:prstGeom prst="roundRect">
            <a:avLst>
              <a:gd name="adj" fmla="val 12000"/>
            </a:avLst>
          </a:prstGeom>
          <a:solidFill>
            <a:srgbClr val="0B2A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792449" y="3276600"/>
            <a:ext cx="140970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元技能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1950" y="4029075"/>
            <a:ext cx="76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B2A4A"/>
                </a:solidFill>
                <a:latin typeface="Noto Sans CJK SC"/>
                <a:ea typeface="Noto Sans CJK SC"/>
              </a:rPr>
              <a:t>基础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668250" y="3952875"/>
            <a:ext cx="1409700" cy="838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744450" y="4010025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规范操作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230350" y="3952875"/>
            <a:ext cx="1409700" cy="838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306550" y="4010025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准确沟通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792449" y="3952875"/>
            <a:ext cx="1409700" cy="838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868650" y="4010025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学习适应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791950" y="5029200"/>
            <a:ext cx="76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B2A4A"/>
                </a:solidFill>
                <a:latin typeface="Noto Sans CJK SC"/>
                <a:ea typeface="Noto Sans CJK SC"/>
              </a:rPr>
              <a:t>骨干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2668250" y="4953000"/>
            <a:ext cx="1409700" cy="838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744450" y="5010150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任务优化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230350" y="4953000"/>
            <a:ext cx="1409700" cy="838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4306550" y="5010150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资源协调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5792449" y="4953000"/>
            <a:ext cx="1409700" cy="838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5868650" y="5010150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问题拆解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91950" y="6029325"/>
            <a:ext cx="76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B2A4A"/>
                </a:solidFill>
                <a:latin typeface="Noto Sans CJK SC"/>
                <a:ea typeface="Noto Sans CJK SC"/>
              </a:rPr>
              <a:t>高端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2668250" y="5953125"/>
            <a:ext cx="1409700" cy="838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744450" y="6010275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系统主导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4230350" y="5953125"/>
            <a:ext cx="1409700" cy="838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306550" y="6010275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跨域协同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792449" y="5953125"/>
            <a:ext cx="1409700" cy="838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5868650" y="6010275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创新引领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906250" y="7229475"/>
            <a:ext cx="5429250" cy="333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  <a:ea typeface="Noto Sans CJK SC"/>
              </a:rPr>
              <a:t>概念示意：各岗位另配 1—4 级行为锚点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52500" y="8020050"/>
            <a:ext cx="8001000" cy="952500"/>
          </a:xfrm>
          <a:prstGeom prst="roundRect">
            <a:avLst>
              <a:gd name="adj" fmla="val 12000"/>
            </a:avLst>
          </a:prstGeom>
          <a:solidFill>
            <a:srgbClr val="E3F2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81100" y="8124824"/>
            <a:ext cx="90487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新型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24100" y="8172450"/>
            <a:ext cx="6381750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B2A4A"/>
                </a:solidFill>
                <a:latin typeface="Noto Sans CJK SC"/>
                <a:ea typeface="Noto Sans CJK SC"/>
              </a:rPr>
              <a:t>数字化 · 跨界融合 · 系统创新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334500" y="8020050"/>
            <a:ext cx="8001000" cy="952500"/>
          </a:xfrm>
          <a:prstGeom prst="roundRect">
            <a:avLst>
              <a:gd name="adj" fmla="val 12000"/>
            </a:avLst>
          </a:prstGeom>
          <a:solidFill>
            <a:srgbClr val="E0F2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63100" y="8124824"/>
            <a:ext cx="90487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旧型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706100" y="8172450"/>
            <a:ext cx="6381750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B2A4A"/>
                </a:solidFill>
                <a:latin typeface="Noto Sans CJK SC"/>
                <a:ea typeface="Noto Sans CJK SC"/>
              </a:rPr>
              <a:t>合规 · 流程 · 工艺积累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0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4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16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17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20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21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现有做法对比  /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分类分级、数据驱动、行为可评，是模型的系统升级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12</a:t>
            </a:r>
          </a:p>
        </p:txBody>
      </p:sp>
      <p:pic>
        <p:nvPicPr>
          <p:cNvPr id="8" name="Picture 7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52500" y="2762250"/>
          <a:ext cx="16383000" cy="4467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750"/>
                <a:gridCol w="6715125"/>
                <a:gridCol w="7477125"/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比较维度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现有做法 · 常见局限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本模型 · 拟升级方向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人才分类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统一岗位标签，分类边界不清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五类人才，按工作功能区分</a:t>
                      </a:r>
                    </a:p>
                  </a:txBody>
                  <a:tcPr marL="171450" marR="114300" marT="28575" marB="28575" anchor="ctr">
                    <a:solidFill>
                      <a:srgbClr val="E3F2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能力结构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重专业技能，协同与适应零散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硬技能 + 软技能 + 元技能</a:t>
                      </a:r>
                    </a:p>
                  </a:txBody>
                  <a:tcPr marL="171450" marR="114300" marT="28575" marB="28575" anchor="ctr">
                    <a:solidFill>
                      <a:srgbClr val="E3F2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层级要求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经验判断，级别与行为关系模糊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三级人才 + 1—4级行为锚点</a:t>
                      </a:r>
                    </a:p>
                  </a:txBody>
                  <a:tcPr marL="171450" marR="114300" marT="28575" marB="28575" anchor="ctr">
                    <a:solidFill>
                      <a:srgbClr val="E3F2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产业适配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统一标准，技术背景差异不足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新 / 旧产业差异化配置</a:t>
                      </a:r>
                    </a:p>
                  </a:txBody>
                  <a:tcPr marL="171450" marR="114300" marT="28575" marB="28575" anchor="ctr">
                    <a:solidFill>
                      <a:srgbClr val="E3F2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证据来源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依赖经验，缺少可复核过程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招聘数据 + 访谈 + 专家校验</a:t>
                      </a:r>
                    </a:p>
                  </a:txBody>
                  <a:tcPr marL="171450" marR="114300" marT="28575" marB="28575" anchor="ctr">
                    <a:solidFill>
                      <a:srgbClr val="E3F2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应用方式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评价、培养与岗位配置衔接弱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通用 / 产业 / 岗位三层组合</a:t>
                      </a:r>
                    </a:p>
                  </a:txBody>
                  <a:tcPr marL="171450" marR="114300" marT="28575" marB="28575" anchor="ctr">
                    <a:solidFill>
                      <a:srgbClr val="E3F2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952500" y="8001000"/>
            <a:ext cx="16383000" cy="619125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8001000"/>
            <a:ext cx="47625" cy="619125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19200" y="8048625"/>
            <a:ext cx="1581150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Noto Sans CJK SC"/>
                <a:ea typeface="Noto Sans CJK SC"/>
              </a:rPr>
              <a:t>在分类、能力、分级与产业差异上升级，并与立白现有实践衔接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8791575"/>
            <a:ext cx="16383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请专家逐行判断：更适用 / 需调整 / 不适用；以实际制度与案例佐证。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2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3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行为标准示例 · 新型  /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智能制造操作能力，从“会操作”走向“能主导”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52624" y="2114550"/>
            <a:ext cx="15049499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行为描述与三级配置均以 202602 优化版本报告为准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13</a:t>
            </a:r>
          </a:p>
        </p:txBody>
      </p:sp>
      <p:pic>
        <p:nvPicPr>
          <p:cNvPr id="9" name="Picture 8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52500" y="2705100"/>
          <a:ext cx="10477500" cy="1724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9144000"/>
              </a:tblGrid>
              <a:tr h="35242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设备操作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1—4级行为描述 · 报告原文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1级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能操作基础智能化生产设备，完成简单加工任务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2级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可熟练操作核心生产设备，精准控制生产参数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3级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能优化设备运行参数，提升生产精度与效率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4级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可主导设备智能化升级后的操作适配，培训团队操作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52500" y="4648200"/>
          <a:ext cx="10477500" cy="1724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9144000"/>
              </a:tblGrid>
              <a:tr h="35242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ERP操作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1—4级行为描述 · 报告原文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1级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能使用ERP生产模块录入生产数据，查询订单进度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2级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可独立通过ERP下达生产计划，跟踪物料需求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3级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能通过ERP分析生产瓶颈，调整生产调度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4级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可主导ERP生产模块与设备数据联动，实现数字化生产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952500" y="6591300"/>
          <a:ext cx="10477500" cy="1724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9144000"/>
              </a:tblGrid>
              <a:tr h="35242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CAD解读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1—4级行为描述 · 报告原文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1级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能识别简单零件图纸，理解基础加工要求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2级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可解读复杂装配图纸，明确关键加工节点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3级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能根据图纸优化加工路径，提升加工效率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4级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可结合图纸与设备特性，提出工艺优化建议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906250" y="2733675"/>
            <a:ext cx="5429250" cy="5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三级人才的模型配置对照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11620500" y="3409950"/>
          <a:ext cx="5715000" cy="352425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1763375" y="7124700"/>
            <a:ext cx="5476875" cy="1162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来源：主报告表 4-11 / 新型行为评价表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按原值保留，座谈时核对层级要求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1—4级是行为刻度，不是现场评分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2500" y="8715375"/>
            <a:ext cx="16383000" cy="4191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52500" y="8715375"/>
            <a:ext cx="47625" cy="4191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" y="8763000"/>
            <a:ext cx="15811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B2A4A"/>
                </a:solidFill>
                <a:latin typeface="Noto Sans CJK SC"/>
                <a:ea typeface="Noto Sans CJK SC"/>
              </a:rPr>
              <a:t>每条行为引用报告原文，可追溯；请判断是否可观察、可评价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8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行为标准示例 · 旧型  /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旧型产业能力，更强调合规、流程与经验传承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52624" y="2114550"/>
            <a:ext cx="15049499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行为描述与三级配置均以 202602 优化版本报告为准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14</a:t>
            </a:r>
          </a:p>
        </p:txBody>
      </p:sp>
      <p:pic>
        <p:nvPicPr>
          <p:cNvPr id="9" name="Picture 8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52500" y="2705100"/>
          <a:ext cx="10477500" cy="1724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9144000"/>
              </a:tblGrid>
              <a:tr h="35242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GMP合规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1—4级行为描述 · 报告原文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1级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能了解GMP基础条款，遵守简单合规要求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2级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可熟练掌握GMP核心条款，规范执行操作流程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3级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能检查操作中的GMP合规性，纠正违规行为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4级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可主导企业GMP体系优化，通过合规审核并降低风险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52500" y="4648200"/>
          <a:ext cx="10477500" cy="1724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9144000"/>
              </a:tblGrid>
              <a:tr h="35242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SOP执行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1—4级行为描述 · 报告原文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1级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能阅读SOP文档，按指导完成基础操作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2级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可独立严格执行SOP流程，记录操作过程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3级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能发现SOP中的优化点，提出修订建议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4级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可主导SOP体系修订与培训，推动全员规范执行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952500" y="6591300"/>
          <a:ext cx="10477500" cy="1724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9144000"/>
              </a:tblGrid>
              <a:tr h="35242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经验积累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1—4级行为描述 · 报告原文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1级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能记录基础操作经验，总结简单操作规律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2级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可整理个人操作经验，形成基础操作笔记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3级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能提炼班组共性经验，形成标准化操作建议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4级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可构建企业级操作经验库，指导全员提升技能</a:t>
                      </a: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906250" y="2733675"/>
            <a:ext cx="5429250" cy="5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三级人才的模型配置对照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78000" y="4740354"/>
            <a:ext cx="282318" cy="488990"/>
          </a:xfrm>
          <a:prstGeom prst="line">
            <a:avLst/>
          </a:prstGeom>
          <a:ln w="8255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4195681" y="5229344"/>
            <a:ext cx="564637" cy="0"/>
          </a:xfrm>
          <a:prstGeom prst="line">
            <a:avLst/>
          </a:prstGeom>
          <a:ln w="8255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4195681" y="4740354"/>
            <a:ext cx="282319" cy="488990"/>
          </a:xfrm>
          <a:prstGeom prst="line">
            <a:avLst/>
          </a:prstGeom>
          <a:ln w="8255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4525625" y="4654629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66666"/>
                </a:solidFill>
                <a:latin typeface="DejaVu Sans"/>
                <a:ea typeface="Noto Sans CJK SC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478000" y="4414361"/>
            <a:ext cx="564636" cy="977979"/>
          </a:xfrm>
          <a:prstGeom prst="line">
            <a:avLst/>
          </a:prstGeom>
          <a:ln w="8255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3913363" y="5392340"/>
            <a:ext cx="1129273" cy="0"/>
          </a:xfrm>
          <a:prstGeom prst="line">
            <a:avLst/>
          </a:prstGeom>
          <a:ln w="8255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3913363" y="4414361"/>
            <a:ext cx="564637" cy="977979"/>
          </a:xfrm>
          <a:prstGeom prst="line">
            <a:avLst/>
          </a:prstGeom>
          <a:ln w="8255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4525625" y="4328636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66666"/>
                </a:solidFill>
                <a:latin typeface="DejaVu Sans"/>
                <a:ea typeface="Noto Sans CJK SC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4478000" y="4088368"/>
            <a:ext cx="846954" cy="1466969"/>
          </a:xfrm>
          <a:prstGeom prst="line">
            <a:avLst/>
          </a:prstGeom>
          <a:ln w="8255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13631045" y="5555337"/>
            <a:ext cx="1693909" cy="0"/>
          </a:xfrm>
          <a:prstGeom prst="line">
            <a:avLst/>
          </a:prstGeom>
          <a:ln w="8255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3631045" y="4088368"/>
            <a:ext cx="846955" cy="1466969"/>
          </a:xfrm>
          <a:prstGeom prst="line">
            <a:avLst/>
          </a:prstGeom>
          <a:ln w="8255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4525625" y="400264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66666"/>
                </a:solidFill>
                <a:latin typeface="DejaVu Sans"/>
                <a:ea typeface="Noto Sans CJK SC"/>
              </a:rPr>
              <a:t>3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4478000" y="3762374"/>
            <a:ext cx="1129273" cy="1955959"/>
          </a:xfrm>
          <a:prstGeom prst="line">
            <a:avLst/>
          </a:prstGeom>
          <a:ln w="8255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3348726" y="5718333"/>
            <a:ext cx="2258547" cy="0"/>
          </a:xfrm>
          <a:prstGeom prst="line">
            <a:avLst/>
          </a:prstGeom>
          <a:ln w="8255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3348726" y="3762374"/>
            <a:ext cx="1129274" cy="1955959"/>
          </a:xfrm>
          <a:prstGeom prst="line">
            <a:avLst/>
          </a:prstGeom>
          <a:ln w="8255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4525625" y="3676649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66666"/>
                </a:solidFill>
                <a:latin typeface="DejaVu Sans"/>
                <a:ea typeface="Noto Sans CJK SC"/>
              </a:rPr>
              <a:t>4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4478000" y="3762374"/>
            <a:ext cx="0" cy="1303973"/>
          </a:xfrm>
          <a:prstGeom prst="line">
            <a:avLst/>
          </a:prstGeom>
          <a:ln w="9525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478000" y="5066347"/>
            <a:ext cx="1129273" cy="651986"/>
          </a:xfrm>
          <a:prstGeom prst="line">
            <a:avLst/>
          </a:prstGeom>
          <a:ln w="9525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13348726" y="5066347"/>
            <a:ext cx="1129274" cy="651986"/>
          </a:xfrm>
          <a:prstGeom prst="line">
            <a:avLst/>
          </a:prstGeom>
          <a:ln w="9525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3430250" y="3324225"/>
            <a:ext cx="2095499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GMP合规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129986" y="5946933"/>
            <a:ext cx="2095499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SOP执行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78652" y="5946933"/>
            <a:ext cx="219075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经验积累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（待赋值）</a:t>
            </a:r>
          </a:p>
        </p:txBody>
      </p:sp>
      <p:sp>
        <p:nvSpPr>
          <p:cNvPr id="36" name="Oval 35"/>
          <p:cNvSpPr/>
          <p:nvPr/>
        </p:nvSpPr>
        <p:spPr>
          <a:xfrm>
            <a:off x="14449425" y="4711779"/>
            <a:ext cx="57150" cy="57150"/>
          </a:xfrm>
          <a:prstGeom prst="ellipse">
            <a:avLst/>
          </a:prstGeom>
          <a:solidFill>
            <a:srgbClr val="B2DF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4731743" y="5200769"/>
            <a:ext cx="57150" cy="57150"/>
          </a:xfrm>
          <a:prstGeom prst="ellipse">
            <a:avLst/>
          </a:prstGeom>
          <a:solidFill>
            <a:srgbClr val="B2DF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4478000" y="4740354"/>
            <a:ext cx="282318" cy="488990"/>
          </a:xfrm>
          <a:prstGeom prst="line">
            <a:avLst/>
          </a:prstGeom>
          <a:ln w="21590">
            <a:solidFill>
              <a:srgbClr val="B2D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2144375" y="6791325"/>
            <a:ext cx="304800" cy="0"/>
          </a:xfrm>
          <a:prstGeom prst="line">
            <a:avLst/>
          </a:prstGeom>
          <a:ln w="22860">
            <a:solidFill>
              <a:srgbClr val="B2D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2515850" y="6619875"/>
            <a:ext cx="952500" cy="333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Noto Sans CJK SC"/>
                <a:ea typeface="Noto Sans CJK SC"/>
              </a:rPr>
              <a:t>基础</a:t>
            </a:r>
          </a:p>
        </p:txBody>
      </p:sp>
      <p:sp>
        <p:nvSpPr>
          <p:cNvPr id="41" name="Oval 40"/>
          <p:cNvSpPr/>
          <p:nvPr/>
        </p:nvSpPr>
        <p:spPr>
          <a:xfrm>
            <a:off x="14449425" y="4385786"/>
            <a:ext cx="57150" cy="57150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5014061" y="5363765"/>
            <a:ext cx="57150" cy="57150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4478000" y="4414361"/>
            <a:ext cx="564636" cy="977979"/>
          </a:xfrm>
          <a:prstGeom prst="line">
            <a:avLst/>
          </a:prstGeom>
          <a:ln w="2159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3668375" y="6791325"/>
            <a:ext cx="304800" cy="0"/>
          </a:xfrm>
          <a:prstGeom prst="line">
            <a:avLst/>
          </a:prstGeom>
          <a:ln w="2286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4039850" y="6619875"/>
            <a:ext cx="952500" cy="333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Noto Sans CJK SC"/>
                <a:ea typeface="Noto Sans CJK SC"/>
              </a:rPr>
              <a:t>骨干</a:t>
            </a:r>
          </a:p>
        </p:txBody>
      </p:sp>
      <p:sp>
        <p:nvSpPr>
          <p:cNvPr id="46" name="Oval 45"/>
          <p:cNvSpPr/>
          <p:nvPr/>
        </p:nvSpPr>
        <p:spPr>
          <a:xfrm>
            <a:off x="14449425" y="3733799"/>
            <a:ext cx="57150" cy="57150"/>
          </a:xfrm>
          <a:prstGeom prst="ellipse">
            <a:avLst/>
          </a:prstGeom>
          <a:solidFill>
            <a:srgbClr val="0B2A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5578698" y="5689758"/>
            <a:ext cx="57150" cy="57150"/>
          </a:xfrm>
          <a:prstGeom prst="ellipse">
            <a:avLst/>
          </a:prstGeom>
          <a:solidFill>
            <a:srgbClr val="0B2A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4478000" y="3762374"/>
            <a:ext cx="1129273" cy="1955959"/>
          </a:xfrm>
          <a:prstGeom prst="line">
            <a:avLst/>
          </a:prstGeom>
          <a:ln w="21590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192374" y="6791325"/>
            <a:ext cx="304801" cy="0"/>
          </a:xfrm>
          <a:prstGeom prst="line">
            <a:avLst/>
          </a:prstGeom>
          <a:ln w="22860">
            <a:solidFill>
              <a:srgbClr val="0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5563849" y="6619875"/>
            <a:ext cx="952500" cy="333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Noto Sans CJK SC"/>
                <a:ea typeface="Noto Sans CJK SC"/>
              </a:rPr>
              <a:t>高端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63375" y="7038975"/>
            <a:ext cx="547687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来源：主报告表 4-16 / 旧型行为评价表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GMP、SOP：均为 1 / 2 / 4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经验积累：主报告未给三级配置，待验证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52500" y="8715375"/>
            <a:ext cx="16383000" cy="4191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52500" y="8715375"/>
            <a:ext cx="47625" cy="4191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19200" y="8763000"/>
            <a:ext cx="15811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B2A4A"/>
                </a:solidFill>
                <a:latin typeface="Noto Sans CJK SC"/>
                <a:ea typeface="Noto Sans CJK SC"/>
              </a:rPr>
              <a:t>每条行为引用报告原文，可追溯；请判断是否可观察、可评价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7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21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25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2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29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3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33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3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34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专家验证  / 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模型是否成立，取决于专家判断与真实岗位证据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15</a:t>
            </a:r>
          </a:p>
        </p:txBody>
      </p:sp>
      <p:pic>
        <p:nvPicPr>
          <p:cNvPr id="8" name="Picture 7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2500" y="2800350"/>
            <a:ext cx="666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2600" y="2800350"/>
            <a:ext cx="6667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五类人才分类是否完整、边界清楚？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52500" y="3524250"/>
            <a:ext cx="7620000" cy="0"/>
          </a:xfrm>
          <a:prstGeom prst="line">
            <a:avLst/>
          </a:prstGeom>
          <a:ln w="889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52500" y="3619500"/>
            <a:ext cx="666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2600" y="3619500"/>
            <a:ext cx="6667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硬 / 软 / 元能力能否解释岗位表现？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2500" y="4343400"/>
            <a:ext cx="7620000" cy="0"/>
          </a:xfrm>
          <a:prstGeom prst="line">
            <a:avLst/>
          </a:prstGeom>
          <a:ln w="889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52500" y="4438650"/>
            <a:ext cx="666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52600" y="4438650"/>
            <a:ext cx="6667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三级人才与1—4级行为是否合理？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2500" y="5162550"/>
            <a:ext cx="7620000" cy="0"/>
          </a:xfrm>
          <a:prstGeom prst="line">
            <a:avLst/>
          </a:prstGeom>
          <a:ln w="889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52500" y="5257800"/>
            <a:ext cx="666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2600" y="5257800"/>
            <a:ext cx="6667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新 / 旧产业差异是否符合实际？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52500" y="5981700"/>
            <a:ext cx="7620000" cy="0"/>
          </a:xfrm>
          <a:prstGeom prst="line">
            <a:avLst/>
          </a:prstGeom>
          <a:ln w="889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52500" y="6076950"/>
            <a:ext cx="666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52600" y="6076950"/>
            <a:ext cx="6667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总图能否支撑评价与人才培养？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500" y="6800850"/>
            <a:ext cx="7620000" cy="0"/>
          </a:xfrm>
          <a:prstGeom prst="line">
            <a:avLst/>
          </a:prstGeom>
          <a:ln w="889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2500" y="6896100"/>
            <a:ext cx="666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2600" y="6896100"/>
            <a:ext cx="6667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还缺少哪些能力、岗位或情境？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52500" y="7620000"/>
            <a:ext cx="7620000" cy="0"/>
          </a:xfrm>
          <a:prstGeom prst="line">
            <a:avLst/>
          </a:prstGeom>
          <a:ln w="889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334500" y="2809875"/>
            <a:ext cx="3886200" cy="142875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34500" y="2809875"/>
            <a:ext cx="38100" cy="142875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82150" y="3048000"/>
            <a:ext cx="304800" cy="3048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9639300" y="3209925"/>
            <a:ext cx="66675" cy="66675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705975" y="3124200"/>
            <a:ext cx="133350" cy="15240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0077450" y="3000375"/>
            <a:ext cx="29146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现场评分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150" y="356235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六维度统一尺度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449300" y="2809875"/>
            <a:ext cx="3886200" cy="142875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3449300" y="2809875"/>
            <a:ext cx="38100" cy="142875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791438" y="3048000"/>
            <a:ext cx="115824" cy="115824"/>
          </a:xfrm>
          <a:prstGeom prst="ellipse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13742670" y="3243072"/>
            <a:ext cx="0" cy="85344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3742670" y="3243072"/>
            <a:ext cx="213360" cy="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3956030" y="3243072"/>
            <a:ext cx="0" cy="85344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4192250" y="3000375"/>
            <a:ext cx="29146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岗位对照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696950" y="356235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选择最熟悉岗位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34500" y="4429125"/>
            <a:ext cx="3886200" cy="142875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34500" y="4429125"/>
            <a:ext cx="38100" cy="142875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610725" y="4667250"/>
            <a:ext cx="247649" cy="30480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9667875" y="4752975"/>
            <a:ext cx="133350" cy="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667875" y="4819650"/>
            <a:ext cx="133350" cy="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667875" y="4886325"/>
            <a:ext cx="133350" cy="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0077450" y="4619625"/>
            <a:ext cx="29146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案例佐证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82150" y="518160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用真实行为说明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3449300" y="4429125"/>
            <a:ext cx="3886200" cy="142875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3449300" y="4429125"/>
            <a:ext cx="38100" cy="142875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696950" y="4667250"/>
            <a:ext cx="114300" cy="1143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696950" y="4838700"/>
            <a:ext cx="114300" cy="1143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3868400" y="4667250"/>
            <a:ext cx="114300" cy="1143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3868400" y="4838700"/>
            <a:ext cx="114300" cy="1143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4192250" y="4619625"/>
            <a:ext cx="29146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边界检验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696950" y="518160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识别交叉与遗漏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334500" y="6048375"/>
            <a:ext cx="3886200" cy="142875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334500" y="6048375"/>
            <a:ext cx="38100" cy="142875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582150" y="6286500"/>
            <a:ext cx="95250" cy="9525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791700" y="6286500"/>
            <a:ext cx="95250" cy="9525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686925" y="6496050"/>
            <a:ext cx="95250" cy="9525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9629775" y="6381750"/>
            <a:ext cx="104775" cy="11430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9734550" y="6381750"/>
            <a:ext cx="104775" cy="11430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077450" y="6238875"/>
            <a:ext cx="29146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等级校准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82150" y="680085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核对任务复杂度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3449300" y="6048375"/>
            <a:ext cx="3886200" cy="142875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449300" y="6048375"/>
            <a:ext cx="38100" cy="142875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3696950" y="6286500"/>
            <a:ext cx="304800" cy="304800"/>
          </a:xfrm>
          <a:prstGeom prst="ellipse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3773150" y="6362700"/>
            <a:ext cx="152400" cy="152400"/>
          </a:xfrm>
          <a:prstGeom prst="ellipse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V="1">
            <a:off x="13849350" y="6296025"/>
            <a:ext cx="142875" cy="142875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4192250" y="6238875"/>
            <a:ext cx="29146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修改建议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696950" y="680085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提出可执行调整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52500" y="8286750"/>
            <a:ext cx="16383000" cy="619125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52500" y="8286750"/>
            <a:ext cx="47625" cy="619125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219200" y="8334375"/>
            <a:ext cx="1581150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Noto Sans CJK SC"/>
                <a:ea typeface="Noto Sans CJK SC"/>
              </a:rPr>
              <a:t>反馈记录：维度 + 1—5 分 + 一个岗位案例 + 一条修改建议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9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0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2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16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18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评分与下一步  /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请现场评分，专家判断将直接指向模型修订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52624" y="2114550"/>
            <a:ext cx="15049499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1 不成立 · 2 大幅修改 · 3 基本成立 · 4 较适用 · 5 高度适用 · N/A 不适用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16</a:t>
            </a:r>
          </a:p>
        </p:txBody>
      </p:sp>
      <p:pic>
        <p:nvPicPr>
          <p:cNvPr id="9" name="Picture 8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52500" y="2686050"/>
          <a:ext cx="16383000" cy="4314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5715000"/>
                <a:gridCol w="1905000"/>
                <a:gridCol w="6858000"/>
              </a:tblGrid>
              <a:tr h="54292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验证维度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核心问题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1—5 分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修改建议 / 岗位案例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人才分类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五类是否完整，边界是否清楚？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____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能力维度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硬 / 软 / 元能否解释岗位表现？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____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人才分级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三级人才与行为等级是否合理？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____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产业差异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新 / 旧能力侧重是否符合实际？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____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模型总图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整体框架能否用于评价与培养？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____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缺失项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关键能力、岗位、情境是否遗漏？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____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028700" y="7505700"/>
            <a:ext cx="304800" cy="3048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85850" y="7667624"/>
            <a:ext cx="66675" cy="66676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52525" y="7581899"/>
            <a:ext cx="133350" cy="152401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466850" y="7410449"/>
            <a:ext cx="2324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B2A4A"/>
                </a:solidFill>
                <a:latin typeface="Noto Sans CJK SC"/>
                <a:ea typeface="Noto Sans CJK SC"/>
              </a:rPr>
              <a:t>现场收集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" y="7896224"/>
            <a:ext cx="26860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六维评分 + 案例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8075" y="7543800"/>
            <a:ext cx="381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58220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57650" y="7505700"/>
            <a:ext cx="95250" cy="9525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67200" y="7505700"/>
            <a:ext cx="95250" cy="9525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2424" y="7715250"/>
            <a:ext cx="95250" cy="9525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105274" y="7600950"/>
            <a:ext cx="104776" cy="11430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210050" y="7600950"/>
            <a:ext cx="104775" cy="11430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95800" y="7410449"/>
            <a:ext cx="2324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B2A4A"/>
                </a:solidFill>
                <a:latin typeface="Noto Sans CJK SC"/>
                <a:ea typeface="Noto Sans CJK SC"/>
              </a:rPr>
              <a:t>3 工作日汇总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7650" y="7896224"/>
            <a:ext cx="26860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归类意见与问题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7025" y="7543800"/>
            <a:ext cx="381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58220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7505700"/>
            <a:ext cx="95250" cy="9525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150" y="7505700"/>
            <a:ext cx="95250" cy="9525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91375" y="7715250"/>
            <a:ext cx="95250" cy="9525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7134225" y="7600950"/>
            <a:ext cx="104775" cy="11430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7239000" y="7600950"/>
            <a:ext cx="104775" cy="11430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524749" y="7410449"/>
            <a:ext cx="2324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B2A4A"/>
                </a:solidFill>
                <a:latin typeface="Noto Sans CJK SC"/>
                <a:ea typeface="Noto Sans CJK SC"/>
              </a:rPr>
              <a:t>团队逐条研判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7896224"/>
            <a:ext cx="26860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形成修订与理由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5975" y="7543800"/>
            <a:ext cx="381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58220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15550" y="7505700"/>
            <a:ext cx="304800" cy="3048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0172700" y="7667624"/>
            <a:ext cx="66675" cy="66676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0239375" y="7581899"/>
            <a:ext cx="133350" cy="152401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0553700" y="7410449"/>
            <a:ext cx="2324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B2A4A"/>
                </a:solidFill>
                <a:latin typeface="Noto Sans CJK SC"/>
                <a:ea typeface="Noto Sans CJK SC"/>
              </a:rPr>
              <a:t>10 工作日反馈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15550" y="7896224"/>
            <a:ext cx="26860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说明采纳状态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34925" y="7543800"/>
            <a:ext cx="381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58220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144500" y="7505700"/>
            <a:ext cx="95250" cy="9525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3354050" y="7505700"/>
            <a:ext cx="95250" cy="9525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249275" y="7715250"/>
            <a:ext cx="95250" cy="95250"/>
          </a:xfrm>
          <a:prstGeom prst="rect">
            <a:avLst/>
          </a:prstGeom>
          <a:noFill/>
          <a:ln w="1270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3192125" y="7600950"/>
            <a:ext cx="104775" cy="11430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13296900" y="7600950"/>
            <a:ext cx="104775" cy="114300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3582650" y="7410449"/>
            <a:ext cx="2324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B2A4A"/>
                </a:solidFill>
                <a:latin typeface="Noto Sans CJK SC"/>
                <a:ea typeface="Noto Sans CJK SC"/>
              </a:rPr>
              <a:t>下一轮验证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144500" y="7896224"/>
            <a:ext cx="26860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复核待议事项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2500" y="8401050"/>
            <a:ext cx="14001750" cy="333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  <a:ea typeface="Noto Sans CJK SC"/>
              </a:rPr>
              <a:t>采纳状态：采纳 / 部分采纳 / 待议 / 不采纳（均附处理理由）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6144875" y="7429500"/>
            <a:ext cx="1190625" cy="119062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B2A4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221074" y="7553324"/>
            <a:ext cx="1038225" cy="952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  <a:ea typeface="Noto Sans CJK SC"/>
              </a:rPr>
              <a:t>问卷链接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  <a:ea typeface="Noto Sans CJK SC"/>
              </a:rPr>
              <a:t>待补充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  <a:ea typeface="Noto Sans CJK SC"/>
              </a:rPr>
              <a:t>暂用现场评分表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2500" y="8877300"/>
            <a:ext cx="16383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感谢各位专家共同验证先进制造业人才标准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4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6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22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23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24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3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30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基于胜任力模型的先进制造业人才标准框架与体系——立白科技调研座谈会</dc:title>
  <dc:subject>企业专家验证交流稿 · 2026年10月09日</dc:subject>
  <dc:creator>广东工业大学管理学院 | 粤来粤好队 | 罗琳</dc:creator>
  <cp:keywords>胜任力模型,先进制造业,人才标准,立白科技,专家验证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