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【第1页】基于胜任力模型的先进制造业人才标准框架与体系</a:t>
            </a:r>
          </a:p>
          <a:p>
            <a:r>
              <a:t>建议时长：1分钟</a:t>
            </a:r>
          </a:p>
          <a:p>
            <a:r>
              <a:t>开场问候。今天希望在立白的真实岗位与管理实践中，验证模型分类、能力维度、分级以及产业差异。说明本次是专家验证交流稿，并非模型效度已得到最终确认。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【第2页】介绍模型、请您验证，共同判断模型是否成立</a:t>
            </a:r>
          </a:p>
          <a:p>
            <a:r>
              <a:t>建议时长：2分钟</a:t>
            </a:r>
          </a:p>
          <a:p>
            <a:r>
              <a:t>强调不是单向汇报，而是请专家做专业判断。先介绍模型怎么来，再请专家用岗位案例评分；不了解的维度可以标注不适用，不要强迫评分。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【第3页】人才标准成为竞争变量，四类瓶颈需要系统回应</a:t>
            </a:r>
          </a:p>
          <a:p>
            <a:r>
              <a:t>建议时长：2分钟</a:t>
            </a:r>
          </a:p>
          <a:p>
            <a:r>
              <a:t>请专家对照立白实际：哪一项最突出？请给一个岗位例子。将企业反馈区分为关键人才供给、能力配置、评价依据和培养衔接四类。</a:t>
            </a:r>
          </a:p>
          <a:p/>
          <a:p>
            <a:r>
              <a:t>资料来源与核验说明：</a:t>
            </a:r>
          </a:p>
          <a:p>
            <a:r>
              <a:t>《优化版本项目报告》§3.4人才队伍建设短板；《智造人才画像》绪论。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【第4页】339,694 条招聘信息与五类方法，共同支撑建模</a:t>
            </a:r>
          </a:p>
          <a:p>
            <a:r>
              <a:t>建议时长：2分钟</a:t>
            </a:r>
          </a:p>
          <a:p>
            <a:r>
              <a:t>强调数据是招聘市场公开能力表达，不是已录用结果。新旧样本量不同，不能直接把频次差异解释为需求强度差异。请专家判断样本覆盖与方法组合是否可信。</a:t>
            </a:r>
          </a:p>
          <a:p/>
          <a:p>
            <a:r>
              <a:t>资料来源与核验说明：</a:t>
            </a:r>
          </a:p>
          <a:p>
            <a:r>
              <a:t>核心来源：《202602优化版本-先进制造业人才标准项目报告0201》§4.2.1；《智造人才画像》仅作佐证。2025年公开招聘文本：总计339,694，新型290,635，旧型49,059。招聘表达不等同于实际录用、岗位绩效或因果验证。 方法来源：《优化版本项目报告》§2.4。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【第5页】独立编码与分歧裁定，让每项能力可追溯、可复核</a:t>
            </a:r>
          </a:p>
          <a:p>
            <a:r>
              <a:t>建议时长：3分钟</a:t>
            </a:r>
          </a:p>
          <a:p>
            <a:r>
              <a:t>本页专门讲解编码方法，补充Excel为编码示例，正式模型仍以主报告为准。解释：Kappa衡量扣除随机一致性后的编码者一致性，不代表模型效度。每个条目对应90项要素判定，111万是编码矩阵规模。示例招聘文本数量与正式全国样本数量不可混淆，问专家流程和阈值是否可接受。</a:t>
            </a:r>
          </a:p>
          <a:p/>
          <a:p>
            <a:r>
              <a:t>资料来源与核验说明：</a:t>
            </a:r>
          </a:p>
          <a:p>
            <a:r>
              <a:t>补充附件仅为编码示例，不能替代《202602优化版本项目报告0201》的正式研究结论。示例来源07_总体Kappa、第三人裁定与最终编码及10_分歧清单第三人裁判结果：N=12,416×90=1,117,440，A命中11,473，B命中12,551，交集10,824；Po=0.9978737113、Pe=0.9787315003、Kappa=0.9000263916（显示0.900）；分歧2,376，裁定命中553，最终命中11,377。示例工作簿说明页标注模拟研究，用户已明确补充附件用于编码示例。展示表内核验结果用于讲解流程，不声称正式样本完成这些编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【第6页】三轮收敛聚焦关键要素，三层框架区分适用范围</a:t>
            </a:r>
          </a:p>
          <a:p>
            <a:r>
              <a:t>建议时长：3分钟</a:t>
            </a:r>
          </a:p>
          <a:p>
            <a:r>
              <a:t>本页数字和无倒挂结论仅对应编码示例，不替代主报告正式模型。请专家判断低频阈值小于5次、每类每维度至多3项是否适用。初始90与保留73为不同口径；三层22+48+20=90也为示例初始池。示例层级采用规则赋值，所以单调性不能替代企业验证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【第7页】技术内核不同，能力要求需要差异化配置</a:t>
            </a:r>
          </a:p>
          <a:p>
            <a:r>
              <a:t>建议时长：2分钟</a:t>
            </a:r>
          </a:p>
          <a:p>
            <a:r>
              <a:t>请专家判断立白的核心工艺与数字化部门如何定位。新旧是本研究分析标签，不是对产业先进程度的排序；传统化学日化生产同样可能具有高度智能化设备和系统。不要让企业或员工被强行归入单一类别。</a:t>
            </a:r>
          </a:p>
          <a:p/>
          <a:p>
            <a:r>
              <a:t>资料来源与核验说明：</a:t>
            </a:r>
          </a:p>
          <a:p>
            <a:r>
              <a:t>《优化版本项目报告》§3.2、§3.3；《智造人才画像》§4.3。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【第8页】五类人才按工作功能划分，覆盖操作到战略的完整链条</a:t>
            </a:r>
          </a:p>
          <a:p>
            <a:r>
              <a:t>建议时长：3分钟</a:t>
            </a:r>
          </a:p>
          <a:p>
            <a:r>
              <a:t>请专家判断五类是否完整、边界是否清楚，是否缺少质量、安全、供应链等重要职能。递进路径是认知与职能范围的展开，不代表员工必须按五类逐级晋升；复合岗位可设主类别与兼具能力。</a:t>
            </a:r>
          </a:p>
          <a:p/>
          <a:p>
            <a:r>
              <a:t>资料来源与核验说明：</a:t>
            </a:r>
          </a:p>
          <a:p>
            <a:r>
              <a:t>《优化版本项目报告》§4.1；《智造人才画像》§4.1。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【第9页】硬、软、元三维能力，用三问逐项校验归属</a:t>
            </a:r>
          </a:p>
          <a:p>
            <a:r>
              <a:t>建议时长：3分钟</a:t>
            </a:r>
          </a:p>
          <a:p>
            <a:r>
              <a:t>硬、软、元三维结构以主报告为准。三问、90/90覆盖以及2项争议为补充编码示例，用于说明如何核验归属，不声称是主报告正式编码结果。种子词典可作为当前基准，但允许专家以真实任务建议修订。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【第10页】三级人才回答“谁”，三层标准回答“要求什么”</a:t>
            </a:r>
          </a:p>
          <a:p>
            <a:r>
              <a:t>建议时长：3分钟</a:t>
            </a:r>
          </a:p>
          <a:p>
            <a:r>
              <a:t>请专家判断人才层级与标准层次是否清楚。三级是基础、骨干、高端的人才角色；三层是通用、产业背景、岗位专有的适用范围。每个层级均需组合三层要求，不是基础等于通用、高端等于岗位专有。1—4级是单项能力行为刻度，也不同于三级人才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 行为锚点：《智造人才画像》附录表30。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【第11页】五类 × 三维 × 三级，以三层标准承载产业差异</a:t>
            </a:r>
          </a:p>
          <a:p>
            <a:r>
              <a:t>建议时长：3分钟</a:t>
            </a:r>
          </a:p>
          <a:p>
            <a:r>
              <a:t>请专家判断总图是否清晰、框架是否完整。右侧是概念矩阵，以卡片呈现，不是新增数据表；关键词用于解释关系，不是所有岗位统一的最低能力等级。三层数量口径仍需与修订底表核对。</a:t>
            </a:r>
          </a:p>
          <a:p/>
          <a:p>
            <a:r>
              <a:t>资料来源与核验说明：</a:t>
            </a:r>
          </a:p>
          <a:p>
            <a:r>
              <a:t>核心模型以《202602优化版本项目报告0201》为准；补充08、09、12仅为编码示例。示例采用裁定后页：剔除17项保留73项；候选矩阵90行均满足基础≤骨干≤高端，通用22+产业背景48+岗位专有20=90，数量不得移作主报告正式框架结论。示例三层按跨人才类别覆盖度分组；包括17项剔除候选与16项无证据占位行。示例08：90项有唯一维度，2项与种子词典不一致。示例的单调性由赋值规则保证，不证明主报告矩阵也已无倒挂。 模型主结构：《优化版本项目报告》摘要、§6；《智造人才画像》§4.1—4.3。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【第12页】分类分级、数据驱动、行为可评，是模型的系统升级</a:t>
            </a:r>
          </a:p>
          <a:p>
            <a:r>
              <a:t>建议时长：3分钟</a:t>
            </a:r>
          </a:p>
          <a:p>
            <a:r>
              <a:t>现有做法列是研究提出的对比假设，不代表所有企业都如此；请立白逐行判断哪些适用，哪些不适用。模型尚未完成绩效预测效度验证，所以避免直接宣称优于现有标准。</a:t>
            </a:r>
          </a:p>
          <a:p/>
          <a:p>
            <a:r>
              <a:t>资料来源与核验说明：</a:t>
            </a:r>
          </a:p>
          <a:p>
            <a:r>
              <a:t>《优化版本项目报告》§5—§7；对比表由两份报告与用户方案整理，现有做法为典型概括，非立白现状诊断。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【第13页】智能制造操作能力，从“会操作”走向“能主导”</a:t>
            </a:r>
          </a:p>
          <a:p>
            <a:r>
              <a:t>建议时长：2分钟</a:t>
            </a:r>
          </a:p>
          <a:p>
            <a:r>
              <a:t>请专家逐项判断行为描述是否可观察、可评价，结合立白案例提出修改。表格逐字引自主报告新型智能制造操作人才评价表的12条行为原文；图值取主报告表4-11：设备4/3/2、ERP4/4/3、CAD3/4/3。按用户核心口径要求保留原报告矩阵，不用补充示例的不同数字覆盖。原矩阵存在非单调项目，请在座谈中确认这些数值是否表达不同角色的专业要求，还是最低准入等级需要调整。</a:t>
            </a:r>
          </a:p>
          <a:p/>
          <a:p>
            <a:r>
              <a:t>资料来源与核验说明：</a:t>
            </a:r>
          </a:p>
          <a:p>
            <a:r>
              <a:t>核心来源：《202602优化版本项目报告0201》行为评价表（Word内部表索引32，从0开始）与表4-11/4-16能力矩阵。行为描述逐字引用；雷达仅采用主报告配置值，不采用补充编码示例。新型设备4/3/2、ERP4/4/3、CAD3/4/3；旧型GMP1/2/4、SOP1/2/4。主报告经验积累有1—4级行为描述，但对应矩阵没有三级配置值，因此不虚构经验积累雷达分值。图不是立白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【第14页】旧型产业能力，更强调合规、流程与经验传承</a:t>
            </a:r>
          </a:p>
          <a:p>
            <a:r>
              <a:t>建议时长：2分钟</a:t>
            </a:r>
          </a:p>
          <a:p>
            <a:r>
              <a:t>请专家判断新旧差异是否成立。全部行为描述来自主报告旧型智能制造操作人才评价表原文；GMP、SOP的三级配置取主报告表4-16，均为1/2/4。GMP适用范围按立白实际业务判断，不使用补充编码示例中的无命中占位结论评价正式模型。经验积累在主报告有完整行为锚点，但矩阵未给三级配置值，所以雷达该轴留空，待专家赋值；缺失不是0分。</a:t>
            </a:r>
          </a:p>
          <a:p/>
          <a:p>
            <a:r>
              <a:t>资料来源与核验说明：</a:t>
            </a:r>
          </a:p>
          <a:p>
            <a:r>
              <a:t>核心来源：《202602优化版本项目报告0201》行为评价表（Word内部表索引38，从0开始）与表4-11/4-16能力矩阵。行为描述逐字引用；雷达仅采用主报告配置值，不采用补充编码示例。新型设备4/3/2、ERP4/4/3、CAD3/4/3；旧型GMP1/2/4、SOP1/2/4。主报告经验积累有1—4级行为描述，但对应矩阵没有三级配置值，因此不虚构经验积累雷达分值。图不是立白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【第15页】模型是否成立，取决于专家判断与真实岗位证据</a:t>
            </a:r>
          </a:p>
          <a:p>
            <a:r>
              <a:t>建议时长：3分钟</a:t>
            </a:r>
          </a:p>
          <a:p>
            <a:r>
              <a:t>请专家先选最熟悉的岗位或人才类别，再对分类、能力、分级、差异、总图与缺失项评分。六种方法为本次座谈的实施建议；不是声称已经执行完毕的验证结果。</a:t>
            </a:r>
          </a:p>
          <a:p/>
          <a:p>
            <a:r>
              <a:t>资料来源与核验说明：</a:t>
            </a:r>
          </a:p>
          <a:p>
            <a:r>
              <a:t>依据用户座谈方案整理；参照《智造人才画像》企业访谈提纲与问卷结构。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【第16页】请现场评分，专家判断将直接指向模型修订</a:t>
            </a:r>
          </a:p>
          <a:p>
            <a:r>
              <a:t>建议时长：15分钟评分 + 3分钟总结</a:t>
            </a:r>
          </a:p>
          <a:p>
            <a:r>
              <a:t>评分规则：1=不成立，2=需较大修改，3=基本成立但需调整，4=较适用，5=高度适用。不熟悉或不适用的维度记N/A，不计入均值。15分钟独立评分，随后3分钟总结。建议写明具体岗位、行为案例与修改条目。3工作日汇总、10工作日反馈为本次拟定处理机制，不声称企业已批准。采纳状态包含采纳、部分采纳、待议、不采纳，并提供理由；待议事项另约复核。没有问卷链接，因此不生成虚假二维码。</a:t>
            </a:r>
          </a:p>
          <a:p/>
          <a:p>
            <a:r>
              <a:t>资料来源与核验说明：</a:t>
            </a:r>
          </a:p>
          <a:p>
            <a:r>
              <a:t>用户指定评分表与反馈流程；该评分表评价模型适配性，1—5分不同于能力行为1—4级。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1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2500" y="885825"/>
            <a:ext cx="1000125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D4E1EC"/>
                </a:solidFill>
                <a:latin typeface="Noto Sans CJK SC"/>
                <a:ea typeface="Noto Sans CJK SC"/>
              </a:rPr>
              <a:t>广东工业大学管理学院  /  粤来粤好队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52500" y="1504950"/>
            <a:ext cx="1333500" cy="0"/>
          </a:xfrm>
          <a:prstGeom prst="line">
            <a:avLst/>
          </a:prstGeom>
          <a:ln w="25400">
            <a:solidFill>
              <a:srgbClr val="EBCB7C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952500" y="2533650"/>
            <a:ext cx="100012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基于胜任力模型的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3276600"/>
            <a:ext cx="10382250" cy="1085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5700" b="1">
                <a:solidFill>
                  <a:srgbClr val="EBCB7C"/>
                </a:solidFill>
                <a:latin typeface="Noto Serif CJK SC"/>
                <a:ea typeface="Noto Serif CJK SC"/>
              </a:rPr>
              <a:t>先进制造业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438650"/>
            <a:ext cx="10858500" cy="1114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300" b="1">
                <a:solidFill>
                  <a:srgbClr val="EBCB7C"/>
                </a:solidFill>
                <a:latin typeface="Noto Serif CJK SC"/>
                <a:ea typeface="Noto Serif CJK SC"/>
              </a:rPr>
              <a:t>人才标准框架与体系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5962650"/>
            <a:ext cx="8420100" cy="82867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5962650"/>
            <a:ext cx="38100" cy="828675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100" y="6038850"/>
            <a:ext cx="79057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立白科技调研座谈会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7705725"/>
            <a:ext cx="107632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D1DBE4"/>
                </a:solidFill>
                <a:latin typeface="Noto Sans CJK SC"/>
                <a:ea typeface="Noto Sans CJK SC"/>
              </a:rPr>
              <a:t>汇报人：罗琳  |  2026年10月09日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8391525"/>
            <a:ext cx="10477500" cy="390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A9C2D5"/>
                </a:solidFill>
                <a:latin typeface="DejaVu Sans"/>
                <a:ea typeface="Noto Sans CJK SC"/>
              </a:rPr>
              <a:t>COMPETENCY-BASED TALENT STANDARDS</a:t>
            </a:r>
          </a:p>
        </p:txBody>
      </p:sp>
      <p:sp>
        <p:nvSpPr>
          <p:cNvPr id="13" name="Oval 12"/>
          <p:cNvSpPr/>
          <p:nvPr/>
        </p:nvSpPr>
        <p:spPr>
          <a:xfrm>
            <a:off x="15620999" y="86677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exec-7ea0c041-660a-4e39-951e-eb2d527afb9f.png"/>
          <p:cNvPicPr>
            <a:picLocks noChangeAspect="1"/>
          </p:cNvPicPr>
          <p:nvPr/>
        </p:nvPicPr>
        <p:blipFill>
          <a:blip r:embed="rId4"/>
          <a:srcRect l="55000" r="8300" t="3400" b="3800"/>
          <a:stretch>
            <a:fillRect/>
          </a:stretch>
        </p:blipFill>
        <p:spPr>
          <a:xfrm>
            <a:off x="15659100" y="8705850"/>
            <a:ext cx="685800" cy="68580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630650" y="8667750"/>
            <a:ext cx="762000" cy="762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exec-7ea0c041-660a-4e39-951e-eb2d527afb9f.png"/>
          <p:cNvPicPr>
            <a:picLocks noChangeAspect="1"/>
          </p:cNvPicPr>
          <p:nvPr/>
        </p:nvPicPr>
        <p:blipFill>
          <a:blip r:embed="rId4"/>
          <a:srcRect l="8800" r="54500" t="3400" b="3800"/>
          <a:stretch>
            <a:fillRect/>
          </a:stretch>
        </p:blipFill>
        <p:spPr>
          <a:xfrm>
            <a:off x="16668750" y="8705850"/>
            <a:ext cx="685800" cy="685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430250" y="9553575"/>
            <a:ext cx="39243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EC1D0"/>
                </a:solidFill>
                <a:latin typeface="Noto Sans CJK SC"/>
                <a:ea typeface="Noto Sans CJK SC"/>
              </a:rPr>
              <a:t>先进制造业人才标准 | 01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500"/>
                      <p:tgtEl>
                        <p:spTgt spid="3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500"/>
                      <p:tgtEl>
                        <p:spTgt spid="5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500"/>
                      <p:tgtEl>
                        <p:spTgt spid="6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500"/>
                      <p:tgtEl>
                        <p:spTgt spid="7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4300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会议目标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介绍模型、请您验证，共同判断模型是否成立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952500" y="2095499"/>
            <a:ext cx="163830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分类是否合理 · 行为是否可评 · 标准是否适配立白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02</a:t>
            </a:r>
          </a:p>
        </p:txBody>
      </p:sp>
      <p:sp>
        <p:nvSpPr>
          <p:cNvPr id="23" name="Oval 22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52500" y="3048000"/>
            <a:ext cx="5181600" cy="2190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181100" y="3048000"/>
            <a:ext cx="47244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27" name="Rectangle 26"/>
          <p:cNvSpPr/>
          <p:nvPr/>
        </p:nvSpPr>
        <p:spPr>
          <a:xfrm>
            <a:off x="952500" y="3219450"/>
            <a:ext cx="28575" cy="1847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266825" y="3305175"/>
            <a:ext cx="14287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409700" y="3305175"/>
            <a:ext cx="47625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1457325" y="3352800"/>
            <a:ext cx="0" cy="21907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H="1">
            <a:off x="1266825" y="3571875"/>
            <a:ext cx="190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266825" y="3305175"/>
            <a:ext cx="0" cy="2667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409700" y="3305175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1409700" y="3352800"/>
            <a:ext cx="4762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304925" y="340995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1304925" y="346710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304925" y="352425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16954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介绍模型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01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怎么来 · 为什么这样分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一页看清整体框架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53200" y="3048000"/>
            <a:ext cx="5181600" cy="2190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6781800" y="3048000"/>
            <a:ext cx="47244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6553200" y="3219450"/>
            <a:ext cx="28575" cy="1847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9900" y="3305175"/>
            <a:ext cx="266700" cy="2667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6877050" y="3438525"/>
            <a:ext cx="57150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6934200" y="3381375"/>
            <a:ext cx="104775" cy="1143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961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请您验证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008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分类 · 能力 · 分级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差异 · 总图 · 缺失项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153900" y="3048000"/>
            <a:ext cx="5181600" cy="2190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2382500" y="3048000"/>
            <a:ext cx="47244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0" name="Rectangle 49"/>
          <p:cNvSpPr/>
          <p:nvPr/>
        </p:nvSpPr>
        <p:spPr>
          <a:xfrm>
            <a:off x="12153900" y="3219450"/>
            <a:ext cx="28575" cy="1847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2496800" y="3305175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2439650" y="3524250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12439650" y="3476625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12496800" y="3476625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2611100" y="3476625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12668250" y="3524250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2896850" y="3238500"/>
            <a:ext cx="42100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提供反馈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401550" y="3800475"/>
            <a:ext cx="4686300" cy="1276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现场评分 + 实际案例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佐证判断 + 修改建议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2500" y="5953125"/>
            <a:ext cx="1638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专家经验是校准器，真实岗位是检验场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2500" y="7429500"/>
            <a:ext cx="16383000" cy="12573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90625" y="7610474"/>
            <a:ext cx="29527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现场评分结构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29125" y="7667624"/>
            <a:ext cx="1838324" cy="5905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2912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分类  1—5分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6050" y="7667624"/>
            <a:ext cx="1838324" cy="5905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6050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能力  1—5分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62975" y="7667624"/>
            <a:ext cx="1838324" cy="5905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6297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分级  1—5分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29900" y="7667624"/>
            <a:ext cx="1838324" cy="5905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29900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差异  1—5分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696825" y="7667624"/>
            <a:ext cx="1838324" cy="5905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2696825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总图  1—5分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763749" y="7667624"/>
            <a:ext cx="1838324" cy="5905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763749" y="7705725"/>
            <a:ext cx="1838324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缺失项  1—5分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90625" y="814387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每项附案例与修改建议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3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38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3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39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4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46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4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47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5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57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5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58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5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59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4300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产业痛点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人才标准成为竞争变量，四类瓶颈需要系统回应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03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952500" y="2762250"/>
            <a:ext cx="5905500" cy="50482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28737" y="3352800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43062" y="3352800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443037" y="3409950"/>
            <a:ext cx="20002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1571625" y="3352800"/>
            <a:ext cx="71437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1571625" y="3409950"/>
            <a:ext cx="71437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1314450" y="3933824"/>
            <a:ext cx="4953000" cy="1047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Noto Sans CJK SC"/>
                <a:ea typeface="Noto Sans CJK SC"/>
              </a:rPr>
              <a:t>技术迭代加速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Noto Sans CJK SC"/>
                <a:ea typeface="Noto Sans CJK SC"/>
              </a:rPr>
              <a:t>人才能力同步重构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14450" y="5381625"/>
            <a:ext cx="4953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从“岗位有人”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走向“能力匹配”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标准连接需求、评价与培养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14450" y="7010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3BC5DF"/>
                </a:solidFill>
                <a:latin typeface="Noto Sans CJK SC"/>
                <a:ea typeface="Noto Sans CJK SC"/>
              </a:rPr>
              <a:t>请立白专家：选出最突出的一项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0" y="2762250"/>
            <a:ext cx="4838700" cy="24098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658100" y="2762250"/>
            <a:ext cx="4381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7429500" y="2933700"/>
            <a:ext cx="28575" cy="2066924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772400" y="3019425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7715250" y="3238500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715250" y="3190875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772400" y="3190875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7886700" y="3190875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7943850" y="3238500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8172450" y="2952750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关键人才不足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77150" y="3514725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高端领军 · 核心技术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供给速度跟不上业务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496800" y="2762250"/>
            <a:ext cx="4838700" cy="24098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2725400" y="2762250"/>
            <a:ext cx="4381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6" name="Rectangle 45"/>
          <p:cNvSpPr/>
          <p:nvPr/>
        </p:nvSpPr>
        <p:spPr>
          <a:xfrm>
            <a:off x="12496800" y="2933700"/>
            <a:ext cx="28575" cy="2066924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2773025" y="3267075"/>
            <a:ext cx="2476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2773025" y="3028950"/>
            <a:ext cx="0" cy="2381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2830175" y="3171825"/>
            <a:ext cx="0" cy="762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2906375" y="3105150"/>
            <a:ext cx="0" cy="14287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12982575" y="3048000"/>
            <a:ext cx="0" cy="2000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13239750" y="2952750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能力结构错配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744450" y="3514725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岗位升级 · 技能滞后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数字能力与工艺脱节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29500" y="5400675"/>
            <a:ext cx="4838700" cy="24098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7658100" y="5400675"/>
            <a:ext cx="4381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6" name="Rectangle 55"/>
          <p:cNvSpPr/>
          <p:nvPr/>
        </p:nvSpPr>
        <p:spPr>
          <a:xfrm>
            <a:off x="7429500" y="5572125"/>
            <a:ext cx="28575" cy="2066924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696199" y="5657850"/>
            <a:ext cx="266700" cy="2667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7753349" y="5791200"/>
            <a:ext cx="57150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7810499" y="5734050"/>
            <a:ext cx="104776" cy="1143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60" name="TextBox 59"/>
          <p:cNvSpPr txBox="1"/>
          <p:nvPr/>
        </p:nvSpPr>
        <p:spPr>
          <a:xfrm>
            <a:off x="8172450" y="5591175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评价依据不足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77150" y="6153150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重学历资历 · 轻行为证据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绩效与能力缺少连接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496800" y="5400675"/>
            <a:ext cx="4838700" cy="24098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12725400" y="5400675"/>
            <a:ext cx="4381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12496800" y="5572125"/>
            <a:ext cx="28575" cy="2066924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753975" y="5753100"/>
            <a:ext cx="76200" cy="762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2963525" y="5753100"/>
            <a:ext cx="76200" cy="762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2830175" y="5791200"/>
            <a:ext cx="1333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12915900" y="5753100"/>
            <a:ext cx="47625" cy="381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915900" y="5791200"/>
            <a:ext cx="47625" cy="381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13239750" y="5591175"/>
            <a:ext cx="38671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培养对接不足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744450" y="6153150"/>
            <a:ext cx="4343400" cy="1495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课程更新慢 · 实践不足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培养到上岗存在断层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2500" y="8248650"/>
            <a:ext cx="16383000" cy="6191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1219200" y="8248650"/>
            <a:ext cx="15849600" cy="0"/>
          </a:xfrm>
          <a:prstGeom prst="line">
            <a:avLst/>
          </a:prstGeom>
          <a:ln w="12700">
            <a:solidFill>
              <a:srgbClr val="3BC5DF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952500" y="8248650"/>
            <a:ext cx="38100" cy="619125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19200" y="8296274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用可观察、可评价的行为标准，连接“选、育、用、留”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4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42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4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43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5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52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5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5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337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研究设计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339,694 条招聘信息与五类方法，共同支撑建模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952500" y="2095499"/>
            <a:ext cx="163830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招聘文本、访谈与专家意见交叉验证，形成初始模型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04</a:t>
            </a:r>
          </a:p>
        </p:txBody>
      </p:sp>
      <p:sp>
        <p:nvSpPr>
          <p:cNvPr id="23" name="Oval 22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1247775" y="3000375"/>
            <a:ext cx="14287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390650" y="3000375"/>
            <a:ext cx="47625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438275" y="3048000"/>
            <a:ext cx="0" cy="21907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H="1">
            <a:off x="1247775" y="3267075"/>
            <a:ext cx="190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1247775" y="3000375"/>
            <a:ext cx="0" cy="2667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1390650" y="3000375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390650" y="3048000"/>
            <a:ext cx="4762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1285875" y="310515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285875" y="316230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1285875" y="321945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743075" y="280987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文献研究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43075" y="330517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理论与政策依据</a:t>
            </a:r>
          </a:p>
        </p:txBody>
      </p:sp>
      <p:sp>
        <p:nvSpPr>
          <p:cNvPr id="37" name="Oval 36"/>
          <p:cNvSpPr/>
          <p:nvPr/>
        </p:nvSpPr>
        <p:spPr>
          <a:xfrm>
            <a:off x="1276350" y="4000500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1219200" y="4219575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1219200" y="4171950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1276350" y="417195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390650" y="4171950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1447800" y="4219575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1743075" y="3810000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行为事件访谈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43075" y="4305300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高绩效行为与真实任务</a:t>
            </a:r>
          </a:p>
        </p:txBody>
      </p:sp>
      <p:sp>
        <p:nvSpPr>
          <p:cNvPr id="45" name="Oval 44"/>
          <p:cNvSpPr/>
          <p:nvPr/>
        </p:nvSpPr>
        <p:spPr>
          <a:xfrm>
            <a:off x="1200150" y="5000625"/>
            <a:ext cx="266700" cy="2667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257300" y="5133975"/>
            <a:ext cx="57150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1314450" y="5076825"/>
            <a:ext cx="104775" cy="1143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743075" y="481012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德尔菲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3075" y="530542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多轮专家判断与修订</a:t>
            </a:r>
          </a:p>
        </p:txBody>
      </p:sp>
      <p:sp>
        <p:nvSpPr>
          <p:cNvPr id="50" name="Oval 49"/>
          <p:cNvSpPr/>
          <p:nvPr/>
        </p:nvSpPr>
        <p:spPr>
          <a:xfrm>
            <a:off x="1190625" y="6096000"/>
            <a:ext cx="76200" cy="762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400175" y="6096000"/>
            <a:ext cx="76200" cy="762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266825" y="6134100"/>
            <a:ext cx="1333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352550" y="6096000"/>
            <a:ext cx="47625" cy="381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352550" y="6134100"/>
            <a:ext cx="47625" cy="381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1743075" y="5810250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比较分析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43075" y="6305550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共性识别与产业差异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209675" y="7248525"/>
            <a:ext cx="2476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1209675" y="7010400"/>
            <a:ext cx="0" cy="2381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1266825" y="7153275"/>
            <a:ext cx="0" cy="762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1343025" y="7086600"/>
            <a:ext cx="0" cy="14287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1419225" y="7029450"/>
            <a:ext cx="0" cy="2000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1743075" y="6810375"/>
            <a:ext cx="295275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大数据分析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43075" y="7305675"/>
            <a:ext cx="4572000" cy="371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招聘表达与要素提取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2500" y="2762250"/>
            <a:ext cx="8763000" cy="155257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39200" y="2857500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EBCB7C"/>
                </a:solidFill>
                <a:latin typeface="DejaVu Sans"/>
                <a:ea typeface="Noto Sans CJK SC"/>
              </a:rPr>
              <a:t>339,694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58250" y="3709320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有效招聘信息 · 总样本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72500" y="4562475"/>
            <a:ext cx="8763000" cy="155257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839200" y="4657725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EBCB7C"/>
                </a:solidFill>
                <a:latin typeface="DejaVu Sans"/>
                <a:ea typeface="Noto Sans CJK SC"/>
              </a:rPr>
              <a:t>290,635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58250" y="5509545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新型先进制造业 · 85.6%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2500" y="6362700"/>
            <a:ext cx="8763000" cy="155257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839200" y="6457950"/>
            <a:ext cx="8229600" cy="9004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EBCB7C"/>
                </a:solidFill>
                <a:latin typeface="DejaVu Sans"/>
                <a:ea typeface="Noto Sans CJK SC"/>
              </a:rPr>
              <a:t>49,059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58250" y="7309770"/>
            <a:ext cx="8191500" cy="4812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旧型先进制造业 · 14.4%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2500" y="8381999"/>
            <a:ext cx="16383000" cy="6191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19200" y="8381999"/>
            <a:ext cx="15849600" cy="0"/>
          </a:xfrm>
          <a:prstGeom prst="line">
            <a:avLst/>
          </a:prstGeom>
          <a:ln w="12700">
            <a:solidFill>
              <a:srgbClr val="3BC5DF"/>
            </a:solidFill>
          </a:ln>
          <a:effectLst/>
        </p:spPr>
      </p:cxnSp>
      <p:sp>
        <p:nvSpPr>
          <p:cNvPr id="75" name="Rectangle 74"/>
          <p:cNvSpPr/>
          <p:nvPr/>
        </p:nvSpPr>
        <p:spPr>
          <a:xfrm>
            <a:off x="952500" y="8381999"/>
            <a:ext cx="38100" cy="619125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219200" y="8429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同类内部看排序：新型偏技术创新，旧型操作岗偏沟通表达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52500" y="9144000"/>
            <a:ext cx="16383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78" name="Oval 77"/>
          <p:cNvSpPr/>
          <p:nvPr/>
        </p:nvSpPr>
        <p:spPr>
          <a:xfrm>
            <a:off x="17268825" y="9077325"/>
            <a:ext cx="133350" cy="13335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3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3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3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3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4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43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4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44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4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48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4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49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5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55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337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编码过程 · 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独立编码与分歧裁定，让每项能力可追溯、可复核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05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2500" y="2809875"/>
            <a:ext cx="723900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条目 × 要素，形成编码矩阵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2500" y="3638550"/>
            <a:ext cx="7524749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19200" y="3781425"/>
            <a:ext cx="542925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3BC5DF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14550" y="3724275"/>
            <a:ext cx="4095750" cy="828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DejaVu Sans"/>
                <a:ea typeface="Noto Sans CJK SC"/>
              </a:rPr>
              <a:t>12,416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9350" y="3857625"/>
            <a:ext cx="199072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能力条目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500" y="5010150"/>
            <a:ext cx="7524749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9200" y="5153025"/>
            <a:ext cx="542925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3BC5DF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4550" y="5095875"/>
            <a:ext cx="4095750" cy="828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DejaVu Sans"/>
                <a:ea typeface="Noto Sans CJK SC"/>
              </a:rPr>
              <a:t>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9350" y="5229225"/>
            <a:ext cx="199072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初始要素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2500" y="6381750"/>
            <a:ext cx="7524749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9200" y="6524625"/>
            <a:ext cx="542925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3BC5DF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14550" y="6467475"/>
            <a:ext cx="4095750" cy="828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DejaVu Sans"/>
                <a:ea typeface="Noto Sans CJK SC"/>
              </a:rPr>
              <a:t>1,117,440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29350" y="6600825"/>
            <a:ext cx="199072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编码单元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63050" y="3086100"/>
            <a:ext cx="0" cy="481965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10001250" y="3048000"/>
            <a:ext cx="733425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Kappa · 编码一致性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4575" y="3581400"/>
            <a:ext cx="7400925" cy="1285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6200" b="1">
                <a:solidFill>
                  <a:srgbClr val="EBCB7C"/>
                </a:solidFill>
                <a:latin typeface="DejaVu Sans"/>
                <a:ea typeface="Noto Sans CJK SC"/>
              </a:rPr>
              <a:t>0.900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01250" y="5172075"/>
            <a:ext cx="73342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A9C2D5"/>
                </a:solidFill>
                <a:latin typeface="DejaVu Sans"/>
                <a:ea typeface="Noto Sans CJK SC"/>
              </a:rPr>
              <a:t>Po 0.9979     /     Pe 0.9787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001250" y="6096000"/>
            <a:ext cx="733425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10001250" y="6496050"/>
            <a:ext cx="3333750" cy="733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300" b="1">
                <a:solidFill>
                  <a:srgbClr val="FFFFFF"/>
                </a:solidFill>
                <a:latin typeface="DejaVu Sans"/>
                <a:ea typeface="Noto Sans CJK SC"/>
              </a:rPr>
              <a:t>2,376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1250" y="7343775"/>
            <a:ext cx="333375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对分歧 · 第三人裁定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6500" y="6496050"/>
            <a:ext cx="3333750" cy="733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300" b="1">
                <a:solidFill>
                  <a:srgbClr val="FFFFFF"/>
                </a:solidFill>
                <a:latin typeface="DejaVu Sans"/>
                <a:ea typeface="Noto Sans CJK SC"/>
              </a:rPr>
              <a:t>11,377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906500" y="7343775"/>
            <a:ext cx="333375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A9C2D5"/>
                </a:solidFill>
                <a:latin typeface="Noto Sans CJK SC"/>
                <a:ea typeface="Noto Sans CJK SC"/>
              </a:rPr>
              <a:t>对最终命中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500" y="9039225"/>
            <a:ext cx="152400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5B9C8"/>
                </a:solidFill>
                <a:latin typeface="Noto Sans CJK SC"/>
                <a:ea typeface="Noto Sans CJK SC"/>
              </a:rPr>
              <a:t>本节为编码方法示意，正式结果以主报告为准。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2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337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编码过程 · 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三轮收敛聚焦关键要素，三层框架区分适用范围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06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06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2500" y="2790825"/>
            <a:ext cx="7524749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</a:rPr>
              <a:t>要素收敛 · 从 90 项到 73 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6000" y="2790825"/>
            <a:ext cx="7429500" cy="4952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</a:rPr>
              <a:t>适用范围 · 通用、产业、岗位</a:t>
            </a:r>
          </a:p>
        </p:txBody>
      </p:sp>
      <p:sp>
        <p:nvSpPr>
          <p:cNvPr id="26" name="Freeform 25"/>
          <p:cNvSpPr/>
          <p:nvPr/>
        </p:nvSpPr>
        <p:spPr>
          <a:xfrm>
            <a:off x="1524000" y="3695700"/>
            <a:ext cx="6381750" cy="1257300"/>
          </a:xfrm>
          <a:custGeom>
            <a:avLst/>
            <a:gdLst/>
            <a:ahLst/>
            <a:cxnLst/>
            <a:rect l="l" t="t" r="r" b="b"/>
            <a:pathLst>
              <a:path w="670" h="132">
                <a:moveTo>
                  <a:pt x="0" y="0"/>
                </a:moveTo>
                <a:lnTo>
                  <a:pt x="670" y="0"/>
                </a:lnTo>
                <a:lnTo>
                  <a:pt x="626" y="132"/>
                </a:lnTo>
                <a:lnTo>
                  <a:pt x="44" y="132"/>
                </a:lnTo>
                <a:close/>
              </a:path>
            </a:pathLst>
          </a:custGeom>
          <a:solidFill>
            <a:srgbClr val="285C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8300" y="3762374"/>
            <a:ext cx="6153150" cy="701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90 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6913" y="4451350"/>
            <a:ext cx="5475922" cy="391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初始要素池</a:t>
            </a:r>
          </a:p>
        </p:txBody>
      </p:sp>
      <p:sp>
        <p:nvSpPr>
          <p:cNvPr id="29" name="Freeform 28"/>
          <p:cNvSpPr/>
          <p:nvPr/>
        </p:nvSpPr>
        <p:spPr>
          <a:xfrm>
            <a:off x="1943100" y="5048250"/>
            <a:ext cx="5543550" cy="1247775"/>
          </a:xfrm>
          <a:custGeom>
            <a:avLst/>
            <a:gdLst/>
            <a:ahLst/>
            <a:cxnLst/>
            <a:rect l="l" t="t" r="r" b="b"/>
            <a:pathLst>
              <a:path w="582" h="131">
                <a:moveTo>
                  <a:pt x="0" y="0"/>
                </a:moveTo>
                <a:lnTo>
                  <a:pt x="582" y="0"/>
                </a:lnTo>
                <a:lnTo>
                  <a:pt x="539" y="131"/>
                </a:lnTo>
                <a:lnTo>
                  <a:pt x="43" y="131"/>
                </a:lnTo>
                <a:close/>
              </a:path>
            </a:pathLst>
          </a:cu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3113" y="5111750"/>
            <a:ext cx="5323522" cy="701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剔除 17 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1727" y="5800725"/>
            <a:ext cx="4646295" cy="391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同义整理 · 低频剔除 · 结构收敛</a:t>
            </a:r>
          </a:p>
        </p:txBody>
      </p:sp>
      <p:sp>
        <p:nvSpPr>
          <p:cNvPr id="32" name="Freeform 31"/>
          <p:cNvSpPr/>
          <p:nvPr/>
        </p:nvSpPr>
        <p:spPr>
          <a:xfrm>
            <a:off x="2352675" y="6391275"/>
            <a:ext cx="4724400" cy="1257300"/>
          </a:xfrm>
          <a:custGeom>
            <a:avLst/>
            <a:gdLst/>
            <a:ahLst/>
            <a:cxnLst/>
            <a:rect l="l" t="t" r="r" b="b"/>
            <a:pathLst>
              <a:path w="496" h="132">
                <a:moveTo>
                  <a:pt x="0" y="0"/>
                </a:moveTo>
                <a:lnTo>
                  <a:pt x="496" y="0"/>
                </a:lnTo>
                <a:lnTo>
                  <a:pt x="452" y="132"/>
                </a:lnTo>
                <a:lnTo>
                  <a:pt x="44" y="132"/>
                </a:lnTo>
                <a:close/>
              </a:path>
            </a:pathLst>
          </a:cu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7927" y="6461124"/>
            <a:ext cx="4493895" cy="701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DejaVu Sans"/>
                <a:ea typeface="Noto Sans CJK SC"/>
              </a:rPr>
              <a:t>保留 73 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06541" y="7150099"/>
            <a:ext cx="3816667" cy="3913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聚焦关键要素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63050" y="3476625"/>
            <a:ext cx="0" cy="4581525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11582400" y="3686175"/>
            <a:ext cx="4076699" cy="4076699"/>
          </a:xfrm>
          <a:prstGeom prst="ellipse">
            <a:avLst/>
          </a:prstGeom>
          <a:solidFill>
            <a:srgbClr val="285C7C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193905" y="4297680"/>
            <a:ext cx="2853690" cy="2853690"/>
          </a:xfrm>
          <a:prstGeom prst="ellipse">
            <a:avLst/>
          </a:prstGeom>
          <a:solidFill>
            <a:srgbClr val="167AA0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2805410" y="4909184"/>
            <a:ext cx="1630680" cy="1630680"/>
          </a:xfrm>
          <a:prstGeom prst="ellipse">
            <a:avLst/>
          </a:prstGeom>
          <a:solidFill>
            <a:srgbClr val="16A8BE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25793" y="5438775"/>
            <a:ext cx="15899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295822" y="4419980"/>
            <a:ext cx="26498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 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90069" y="7151370"/>
            <a:ext cx="326136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岗位专有 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6000" y="8001000"/>
            <a:ext cx="74295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22 + 48 + 20 = 90 · 候选要素分层</a:t>
            </a:r>
          </a:p>
        </p:txBody>
      </p:sp>
      <p:sp>
        <p:nvSpPr>
          <p:cNvPr id="43" name="Oval 42"/>
          <p:cNvSpPr/>
          <p:nvPr/>
        </p:nvSpPr>
        <p:spPr>
          <a:xfrm>
            <a:off x="2149078" y="8149828"/>
            <a:ext cx="216693" cy="216693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195512" y="8258175"/>
            <a:ext cx="46434" cy="46434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241946" y="8211740"/>
            <a:ext cx="85130" cy="92869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2533650" y="8039099"/>
            <a:ext cx="5381625" cy="466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Noto Sans CJK SC"/>
                <a:ea typeface="Noto Sans CJK SC"/>
              </a:rPr>
              <a:t>90 行单调性校验通过 · 无倒挂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500" y="9039225"/>
            <a:ext cx="152400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5B9C8"/>
                </a:solidFill>
                <a:latin typeface="Noto Sans CJK SC"/>
                <a:ea typeface="Noto Sans CJK SC"/>
              </a:rPr>
              <a:t>本节为编码方法示意，正式结果以主报告为准。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分类逻辑 · 产业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技术内核不同，能力要求需要差异化配置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07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07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952500" y="2857500"/>
            <a:ext cx="8001000" cy="4857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47787" y="3457575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662112" y="3457575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1462087" y="3514725"/>
            <a:ext cx="20002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1590675" y="3457575"/>
            <a:ext cx="71437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1590675" y="3514725"/>
            <a:ext cx="71437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038349" y="312420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Noto Sans CJK SC"/>
                <a:ea typeface="Noto Sans CJK SC"/>
              </a:rPr>
              <a:t>新型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4010025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3BC5DF"/>
                </a:solidFill>
                <a:latin typeface="Noto Sans CJK SC"/>
                <a:ea typeface="Noto Sans CJK SC"/>
              </a:rPr>
              <a:t>数字与信息技术内核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490537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信息技术 · 自动化 · 软件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3500" y="560070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传感 · 网络 · 系统整合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3500" y="629602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数字化 · 跨领域协同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34500" y="2857500"/>
            <a:ext cx="8001000" cy="4857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29787" y="3457575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44112" y="3457575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9844087" y="3514725"/>
            <a:ext cx="20002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9972675" y="3457575"/>
            <a:ext cx="71437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9972675" y="3514725"/>
            <a:ext cx="71437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10420350" y="3124200"/>
            <a:ext cx="6191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Noto Sans CJK SC"/>
                <a:ea typeface="Noto Sans CJK SC"/>
              </a:rPr>
              <a:t>旧型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5500" y="4010025"/>
            <a:ext cx="7239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3BC5DF"/>
                </a:solidFill>
                <a:latin typeface="Noto Sans CJK SC"/>
                <a:ea typeface="Noto Sans CJK SC"/>
              </a:rPr>
              <a:t>既有工艺与材料技术内核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5500" y="490537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物理 · 生物 · 化学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15500" y="5600700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新材料 · 纳米 · 工艺积累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5500" y="6296025"/>
            <a:ext cx="7239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合规 · 流程 · 吸收数字化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0" y="3143250"/>
            <a:ext cx="0" cy="4305300"/>
          </a:xfrm>
          <a:prstGeom prst="line">
            <a:avLst/>
          </a:prstGeom>
          <a:ln w="19050">
            <a:solidFill>
              <a:srgbClr val="31566F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952500" y="8143875"/>
            <a:ext cx="16383000" cy="666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219200" y="8143875"/>
            <a:ext cx="15849600" cy="0"/>
          </a:xfrm>
          <a:prstGeom prst="line">
            <a:avLst/>
          </a:prstGeom>
          <a:ln w="12700">
            <a:solidFill>
              <a:srgbClr val="3BC5DF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952500" y="8143875"/>
            <a:ext cx="38100" cy="666750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9200" y="8191500"/>
            <a:ext cx="158115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同一企业可以并存两类岗位逻辑；请按核心工艺与业务功能判断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33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4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4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41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4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42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分类逻辑 · 人才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五类人才按工作功能划分，覆盖操作到战略的完整链条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08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08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952500" y="3076575"/>
            <a:ext cx="3086100" cy="40576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015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3BC5DF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智能制造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操作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15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设备操作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参数控制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现场协作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6725" y="3076575"/>
            <a:ext cx="3086100" cy="40576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4375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3BC5DF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4375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技术研发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4375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技术创新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研发验证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成果转化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00950" y="3076575"/>
            <a:ext cx="3086100" cy="40576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4860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3BC5DF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4860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数字化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管理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860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数据治理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系统协同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流程优化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25175" y="3076575"/>
            <a:ext cx="3086100" cy="40576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72825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3BC5DF"/>
                </a:solidFill>
                <a:latin typeface="DejaVu Sans"/>
                <a:ea typeface="Noto Sans CJK SC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72825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跨界复合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72825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需求转译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跨域融合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项目协同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249400" y="3076575"/>
            <a:ext cx="3086100" cy="40576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497050" y="3333750"/>
            <a:ext cx="257175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600" b="1">
                <a:solidFill>
                  <a:srgbClr val="3BC5DF"/>
                </a:solidFill>
                <a:latin typeface="DejaVu Sans"/>
                <a:ea typeface="Noto Sans CJK SC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97050" y="4286250"/>
            <a:ext cx="2571750" cy="1028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战略引领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97050" y="5619750"/>
            <a:ext cx="2571750" cy="1190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方向判断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资源配置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战略落地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00500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4724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48950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73175" y="7334250"/>
            <a:ext cx="42862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Noto Sans CJK SC"/>
                <a:ea typeface="Noto Sans CJK SC"/>
              </a:rPr>
              <a:t>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500" y="7848600"/>
            <a:ext cx="1638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技术应用  →  创新研发  →  系统管理  →  跨界融合  →  战略引领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2500" y="8610600"/>
            <a:ext cx="16383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功能递进是认知路径；五类不等同于单一晋升阶梯。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分类逻辑 ·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硬、软、元三维能力，用三问逐项校验归属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09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09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952500" y="2867025"/>
            <a:ext cx="5181600" cy="45339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181100" y="2867025"/>
            <a:ext cx="47244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1276350" y="3105150"/>
            <a:ext cx="6858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EBCB7C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499" y="3105150"/>
            <a:ext cx="36385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>
                <a:solidFill>
                  <a:srgbClr val="FFFFFF"/>
                </a:solidFill>
                <a:latin typeface="Noto Serif CJK SC"/>
                <a:ea typeface="Noto Serif CJK SC"/>
              </a:rPr>
              <a:t>硬技能</a:t>
            </a:r>
          </a:p>
        </p:txBody>
      </p:sp>
      <p:sp>
        <p:nvSpPr>
          <p:cNvPr id="28" name="Oval 27"/>
          <p:cNvSpPr/>
          <p:nvPr/>
        </p:nvSpPr>
        <p:spPr>
          <a:xfrm>
            <a:off x="3048000" y="4057650"/>
            <a:ext cx="990599" cy="990599"/>
          </a:xfrm>
          <a:prstGeom prst="ellipse">
            <a:avLst/>
          </a:prstGeom>
          <a:noFill/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414712" y="4352925"/>
            <a:ext cx="214313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3629025" y="4352925"/>
            <a:ext cx="71437" cy="71437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700462" y="4424362"/>
            <a:ext cx="0" cy="328613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H="1">
            <a:off x="3414712" y="4752975"/>
            <a:ext cx="2857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3414712" y="4352925"/>
            <a:ext cx="0" cy="4000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3629025" y="4352925"/>
            <a:ext cx="0" cy="71437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3629025" y="4424362"/>
            <a:ext cx="71437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3471862" y="4510087"/>
            <a:ext cx="1714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3471862" y="4595812"/>
            <a:ext cx="1714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3471862" y="4681537"/>
            <a:ext cx="1714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1238250" y="5372100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EBCB7C"/>
                </a:solidFill>
                <a:latin typeface="Noto Sans CJK SC"/>
                <a:ea typeface="Noto Sans CJK SC"/>
              </a:rPr>
              <a:t>证书 / 作品 / 参数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33500" y="6248400"/>
            <a:ext cx="44196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5EFF5"/>
                </a:solidFill>
                <a:latin typeface="Noto Sans CJK SC"/>
                <a:ea typeface="Noto Sans CJK SC"/>
              </a:rPr>
              <a:t>能否用技能成果直接验证？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53200" y="2867025"/>
            <a:ext cx="5181600" cy="45339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781800" y="2867025"/>
            <a:ext cx="47244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6877050" y="3105150"/>
            <a:ext cx="6858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EBCB7C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6199" y="3105150"/>
            <a:ext cx="36385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>
                <a:solidFill>
                  <a:srgbClr val="FFFFFF"/>
                </a:solidFill>
                <a:latin typeface="Noto Serif CJK SC"/>
                <a:ea typeface="Noto Serif CJK SC"/>
              </a:rPr>
              <a:t>软技能</a:t>
            </a:r>
          </a:p>
        </p:txBody>
      </p:sp>
      <p:sp>
        <p:nvSpPr>
          <p:cNvPr id="45" name="Oval 44"/>
          <p:cNvSpPr/>
          <p:nvPr/>
        </p:nvSpPr>
        <p:spPr>
          <a:xfrm>
            <a:off x="8648700" y="4057650"/>
            <a:ext cx="990599" cy="990599"/>
          </a:xfrm>
          <a:prstGeom prst="ellipse">
            <a:avLst/>
          </a:prstGeom>
          <a:noFill/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058275" y="4352925"/>
            <a:ext cx="171450" cy="17145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8972550" y="4681537"/>
            <a:ext cx="0" cy="71438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8972550" y="4610100"/>
            <a:ext cx="85725" cy="71437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9058275" y="4610100"/>
            <a:ext cx="1714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9229725" y="4610100"/>
            <a:ext cx="85725" cy="71437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9315450" y="4681537"/>
            <a:ext cx="0" cy="71438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6838950" y="5372100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EBCB7C"/>
                </a:solidFill>
                <a:latin typeface="Noto Sans CJK SC"/>
                <a:ea typeface="Noto Sans CJK SC"/>
              </a:rPr>
              <a:t>互动 / 协商 / 协同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34200" y="6248400"/>
            <a:ext cx="44196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5EFF5"/>
                </a:solidFill>
                <a:latin typeface="Noto Sans CJK SC"/>
                <a:ea typeface="Noto Sans CJK SC"/>
              </a:rPr>
              <a:t>核心是否依赖人与人协作？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153900" y="2867025"/>
            <a:ext cx="5181600" cy="45339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2382500" y="2867025"/>
            <a:ext cx="47244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12477750" y="3105150"/>
            <a:ext cx="6858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EBCB7C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296900" y="3105150"/>
            <a:ext cx="36385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>
                <a:solidFill>
                  <a:srgbClr val="FFFFFF"/>
                </a:solidFill>
                <a:latin typeface="Noto Serif CJK SC"/>
                <a:ea typeface="Noto Serif CJK SC"/>
              </a:rPr>
              <a:t>元技能</a:t>
            </a:r>
          </a:p>
        </p:txBody>
      </p:sp>
      <p:sp>
        <p:nvSpPr>
          <p:cNvPr id="58" name="Oval 57"/>
          <p:cNvSpPr/>
          <p:nvPr/>
        </p:nvSpPr>
        <p:spPr>
          <a:xfrm>
            <a:off x="14249400" y="4057650"/>
            <a:ext cx="990599" cy="990599"/>
          </a:xfrm>
          <a:prstGeom prst="ellipse">
            <a:avLst/>
          </a:prstGeom>
          <a:noFill/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4544675" y="4352925"/>
            <a:ext cx="400050" cy="40005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4644687" y="4452937"/>
            <a:ext cx="200025" cy="200025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4744700" y="4352925"/>
            <a:ext cx="200025" cy="2000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12439650" y="5372100"/>
            <a:ext cx="4610100" cy="657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EBCB7C"/>
                </a:solidFill>
                <a:latin typeface="Noto Sans CJK SC"/>
                <a:ea typeface="Noto Sans CJK SC"/>
              </a:rPr>
              <a:t>跨任务 / 跨情境迁移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534900" y="6248400"/>
            <a:ext cx="44196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E5EFF5"/>
                </a:solidFill>
                <a:latin typeface="Noto Sans CJK SC"/>
                <a:ea typeface="Noto Sans CJK SC"/>
              </a:rPr>
              <a:t>能否在变化中学习、适应与重组？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2500" y="7743825"/>
            <a:ext cx="16383000" cy="990599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09675" y="7848600"/>
            <a:ext cx="2524125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300" b="1">
                <a:solidFill>
                  <a:srgbClr val="EBCB7C"/>
                </a:solidFill>
                <a:latin typeface="DejaVu Sans"/>
                <a:ea typeface="Noto Sans CJK SC"/>
              </a:rPr>
              <a:t>90 / 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19549" y="7820025"/>
            <a:ext cx="5257800" cy="733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要素全部纳入归属校验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按种子词典暂归类，复核后回填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20250" y="7820025"/>
            <a:ext cx="7239000" cy="7334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BCB7C"/>
                </a:solidFill>
                <a:latin typeface="Noto Sans CJK SC"/>
                <a:ea typeface="Noto Sans CJK SC"/>
              </a:rPr>
              <a:t>2 项归属不一致 · 提交团队复核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BCB7C"/>
                </a:solidFill>
                <a:latin typeface="Noto Sans CJK SC"/>
                <a:ea typeface="Noto Sans CJK SC"/>
              </a:rPr>
              <a:t>跨域项目管理、旧型战略团队管理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2500" y="9039225"/>
            <a:ext cx="15240000" cy="2762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5B9C8"/>
                </a:solidFill>
                <a:latin typeface="Noto Sans CJK SC"/>
                <a:ea typeface="Noto Sans CJK SC"/>
              </a:rPr>
              <a:t>本节为编码方法示意，正式结果以主报告为准。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3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39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40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4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43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4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44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5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52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分类逻辑 · 层级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三级人才回答“谁”，三层标准回答“要求什么”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10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2500" y="266700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</a:rPr>
              <a:t>人才角色 · 三级</a:t>
            </a:r>
          </a:p>
        </p:txBody>
      </p:sp>
      <p:sp>
        <p:nvSpPr>
          <p:cNvPr id="25" name="Freeform 24"/>
          <p:cNvSpPr/>
          <p:nvPr/>
        </p:nvSpPr>
        <p:spPr>
          <a:xfrm>
            <a:off x="2905125" y="3381375"/>
            <a:ext cx="3429000" cy="1428750"/>
          </a:xfrm>
          <a:custGeom>
            <a:avLst/>
            <a:gdLst/>
            <a:ahLst/>
            <a:cxnLst/>
            <a:rect l="l" t="t" r="r" b="b"/>
            <a:pathLst>
              <a:path w="360" h="150">
                <a:moveTo>
                  <a:pt x="140" y="0"/>
                </a:moveTo>
                <a:lnTo>
                  <a:pt x="220" y="0"/>
                </a:lnTo>
                <a:lnTo>
                  <a:pt x="360" y="150"/>
                </a:lnTo>
                <a:lnTo>
                  <a:pt x="0" y="150"/>
                </a:lnTo>
                <a:close/>
              </a:path>
            </a:pathLst>
          </a:cu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8500" y="3838575"/>
            <a:ext cx="2762250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27" name="Freeform 26"/>
          <p:cNvSpPr/>
          <p:nvPr/>
        </p:nvSpPr>
        <p:spPr>
          <a:xfrm>
            <a:off x="1447800" y="4943475"/>
            <a:ext cx="6343650" cy="1428750"/>
          </a:xfrm>
          <a:custGeom>
            <a:avLst/>
            <a:gdLst/>
            <a:ahLst/>
            <a:cxnLst/>
            <a:rect l="l" t="t" r="r" b="b"/>
            <a:pathLst>
              <a:path w="666" h="150">
                <a:moveTo>
                  <a:pt x="140" y="0"/>
                </a:moveTo>
                <a:lnTo>
                  <a:pt x="526" y="0"/>
                </a:lnTo>
                <a:lnTo>
                  <a:pt x="666" y="150"/>
                </a:lnTo>
                <a:lnTo>
                  <a:pt x="0" y="150"/>
                </a:lnTo>
                <a:close/>
              </a:path>
            </a:pathLst>
          </a:cu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1250" y="5343525"/>
            <a:ext cx="44767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29" name="Freeform 28"/>
          <p:cNvSpPr/>
          <p:nvPr/>
        </p:nvSpPr>
        <p:spPr>
          <a:xfrm>
            <a:off x="723900" y="6505575"/>
            <a:ext cx="7791450" cy="609600"/>
          </a:xfrm>
          <a:custGeom>
            <a:avLst/>
            <a:gdLst/>
            <a:ahLst/>
            <a:cxnLst/>
            <a:rect l="l" t="t" r="r" b="b"/>
            <a:pathLst>
              <a:path w="818" h="64">
                <a:moveTo>
                  <a:pt x="63" y="0"/>
                </a:moveTo>
                <a:lnTo>
                  <a:pt x="755" y="0"/>
                </a:lnTo>
                <a:lnTo>
                  <a:pt x="818" y="64"/>
                </a:lnTo>
                <a:lnTo>
                  <a:pt x="0" y="64"/>
                </a:lnTo>
                <a:close/>
              </a:path>
            </a:pathLst>
          </a:custGeom>
          <a:solidFill>
            <a:srgbClr val="285C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95499" y="6581775"/>
            <a:ext cx="50482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0" y="266700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</a:rPr>
              <a:t>标准适用范围 · 三层</a:t>
            </a:r>
          </a:p>
        </p:txBody>
      </p:sp>
      <p:sp>
        <p:nvSpPr>
          <p:cNvPr id="32" name="Oval 31"/>
          <p:cNvSpPr/>
          <p:nvPr/>
        </p:nvSpPr>
        <p:spPr>
          <a:xfrm>
            <a:off x="11430000" y="3248025"/>
            <a:ext cx="3810000" cy="3810000"/>
          </a:xfrm>
          <a:prstGeom prst="ellipse">
            <a:avLst/>
          </a:prstGeom>
          <a:solidFill>
            <a:srgbClr val="285C7C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001500" y="3819524"/>
            <a:ext cx="2667000" cy="2667000"/>
          </a:xfrm>
          <a:prstGeom prst="ellipse">
            <a:avLst/>
          </a:prstGeom>
          <a:solidFill>
            <a:srgbClr val="167AA0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573000" y="4391025"/>
            <a:ext cx="1524000" cy="1524000"/>
          </a:xfrm>
          <a:prstGeom prst="ellipse">
            <a:avLst/>
          </a:prstGeom>
          <a:solidFill>
            <a:srgbClr val="16A8BE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92050" y="4867275"/>
            <a:ext cx="14859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要素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96750" y="3933824"/>
            <a:ext cx="24765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11000" y="6486525"/>
            <a:ext cx="3048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岗位专有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153399" y="5067300"/>
            <a:ext cx="3038476" cy="0"/>
          </a:xfrm>
          <a:prstGeom prst="line">
            <a:avLst/>
          </a:prstGeom>
          <a:ln w="19050">
            <a:solidFill>
              <a:srgbClr val="31566F"/>
            </a:solidFill>
            <a:prstDash val="dash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7953374" y="4257675"/>
            <a:ext cx="3429000" cy="638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按岗位配置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9C2D5"/>
                </a:solidFill>
                <a:latin typeface="Noto Sans CJK SC"/>
                <a:ea typeface="Noto Sans CJK SC"/>
              </a:rPr>
              <a:t>三层组合要求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2500" y="7867649"/>
            <a:ext cx="3924300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2500" y="7867649"/>
            <a:ext cx="38100" cy="1123950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192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指导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按规范完成基础任务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05400" y="7867649"/>
            <a:ext cx="3924300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05400" y="7867649"/>
            <a:ext cx="38100" cy="1123950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59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721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独立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959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交付常规成果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8300" y="7867649"/>
            <a:ext cx="3924300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58300" y="7867649"/>
            <a:ext cx="38100" cy="1123950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488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250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优化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488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改进流程与协调资源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411200" y="7867649"/>
            <a:ext cx="3924300" cy="11239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411200" y="7867649"/>
            <a:ext cx="38100" cy="1123950"/>
          </a:xfrm>
          <a:prstGeom prst="rect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601700" y="7981949"/>
            <a:ext cx="55245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277975" y="7991475"/>
            <a:ext cx="2838450" cy="4476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主导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601700" y="8515350"/>
            <a:ext cx="35623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构建体系与赋能团队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5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6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模型总览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五类 × 三维 × 三级，以三层标准承载产业差异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952500" y="2095499"/>
            <a:ext cx="163830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一个统一骨架，按产业背景与岗位功能配置具体行为标准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11</a:t>
            </a:r>
          </a:p>
        </p:txBody>
      </p:sp>
      <p:sp>
        <p:nvSpPr>
          <p:cNvPr id="23" name="Oval 22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2500" y="2619375"/>
            <a:ext cx="5286375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标准适用范围</a:t>
            </a:r>
          </a:p>
        </p:txBody>
      </p:sp>
      <p:sp>
        <p:nvSpPr>
          <p:cNvPr id="26" name="Oval 25"/>
          <p:cNvSpPr/>
          <p:nvPr/>
        </p:nvSpPr>
        <p:spPr>
          <a:xfrm>
            <a:off x="1685925" y="3286125"/>
            <a:ext cx="3867150" cy="3867150"/>
          </a:xfrm>
          <a:prstGeom prst="ellipse">
            <a:avLst/>
          </a:prstGeom>
          <a:solidFill>
            <a:srgbClr val="285C7C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65997" y="3866197"/>
            <a:ext cx="2707005" cy="2707005"/>
          </a:xfrm>
          <a:prstGeom prst="ellipse">
            <a:avLst/>
          </a:prstGeom>
          <a:solidFill>
            <a:srgbClr val="167AA0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846070" y="4446270"/>
            <a:ext cx="1546860" cy="1546860"/>
          </a:xfrm>
          <a:prstGeom prst="ellipse">
            <a:avLst/>
          </a:prstGeom>
          <a:solidFill>
            <a:srgbClr val="16A8BE"/>
          </a:solidFill>
          <a:ln w="1270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65405" y="4933950"/>
            <a:ext cx="15081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通用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要素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62676" y="3982211"/>
            <a:ext cx="25136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产业背景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72640" y="6573202"/>
            <a:ext cx="309372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Noto Sans CJK SC"/>
                <a:ea typeface="Noto Sans CJK SC"/>
              </a:rPr>
              <a:t>岗位专有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2750" y="2619375"/>
            <a:ext cx="45720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五类人才功能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2750" y="3238500"/>
            <a:ext cx="4572000" cy="6858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2750" y="3238500"/>
            <a:ext cx="38100" cy="68580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2775" y="330517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智能制造操作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2775" y="361950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设备 · 参数 · 现场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2750" y="4048124"/>
            <a:ext cx="4572000" cy="6858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62750" y="4048124"/>
            <a:ext cx="38100" cy="68580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2775" y="4114800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技术研发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2775" y="4429125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研发 · 创新 · 验证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2750" y="4857750"/>
            <a:ext cx="4572000" cy="6858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762750" y="4857750"/>
            <a:ext cx="38100" cy="68580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62775" y="492442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数字化管理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62775" y="523875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数据 · 系统 · 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2750" y="5667375"/>
            <a:ext cx="4572000" cy="6858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62750" y="5667375"/>
            <a:ext cx="38100" cy="68580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2775" y="5734050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跨界复合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62775" y="6048375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跨域 · 项目 · 转译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62750" y="6477000"/>
            <a:ext cx="4572000" cy="6858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62750" y="6477000"/>
            <a:ext cx="38100" cy="68580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62775" y="6543675"/>
            <a:ext cx="4190999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战略引领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2775" y="6858000"/>
            <a:ext cx="4190999" cy="238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方向 · 资源 · 落地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11000" y="2619375"/>
            <a:ext cx="5524500" cy="4286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能力维度 × 人才层级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8250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668250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硬技能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230350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230350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软技能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5792449" y="3238500"/>
            <a:ext cx="1409700" cy="504825"/>
          </a:xfrm>
          <a:prstGeom prst="roundRect">
            <a:avLst>
              <a:gd name="adj" fmla="val 12000"/>
            </a:avLst>
          </a:prstGeom>
          <a:solidFill>
            <a:srgbClr val="0B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792449" y="3276600"/>
            <a:ext cx="1409700" cy="4095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元技能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1950" y="4029075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668250" y="3952875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7444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规范操作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230350" y="3952875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43065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准确沟通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5792449" y="3952875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5868650" y="401002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学习适应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91950" y="5029200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668250" y="4953000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7444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任务优化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30350" y="4953000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3065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资源协调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792449" y="4953000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868650" y="5010150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问题拆解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791950" y="6029325"/>
            <a:ext cx="76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668250" y="5953125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27444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系统主导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4230350" y="5953125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43065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跨域协同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5792449" y="5953125"/>
            <a:ext cx="1409700" cy="8382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868650" y="6010275"/>
            <a:ext cx="125730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创新引领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906250" y="7229475"/>
            <a:ext cx="542925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C2D5"/>
                </a:solidFill>
                <a:latin typeface="Noto Sans CJK SC"/>
                <a:ea typeface="Noto Sans CJK SC"/>
              </a:rPr>
              <a:t>概念示意：各岗位另配 1—4 级行为锚点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2500" y="8315325"/>
            <a:ext cx="163830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按人才功能识别岗位，以三维能力和三级要求配置三层标准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9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5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6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现有做法对比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分类分级、数据驱动、行为可评，是模型的系统升级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12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52500" y="2762250"/>
          <a:ext cx="16383000" cy="4467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/>
                <a:gridCol w="6715125"/>
                <a:gridCol w="7477125"/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比较维度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现有做法 · 常见局限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本模型 · 拟升级方向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人才分类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统一岗位标签，分类边界不清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五类人才，按工作功能区分</a:t>
                      </a:r>
                    </a:p>
                  </a:txBody>
                  <a:tcPr marL="171450" marR="114300" marT="28575" marB="28575" anchor="ctr">
                    <a:solidFill>
                      <a:srgbClr val="18415C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能力结构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重专业技能，协同与适应零散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硬技能 + 软技能 + 元技能</a:t>
                      </a:r>
                    </a:p>
                  </a:txBody>
                  <a:tcPr marL="171450" marR="114300" marT="28575" marB="28575" anchor="ctr">
                    <a:solidFill>
                      <a:srgbClr val="18415C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层级要求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经验判断，级别与行为关系模糊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三级人才 + 1—4级行为锚点</a:t>
                      </a:r>
                    </a:p>
                  </a:txBody>
                  <a:tcPr marL="171450" marR="114300" marT="28575" marB="28575" anchor="ctr">
                    <a:solidFill>
                      <a:srgbClr val="18415C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产业适配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统一标准，技术背景差异不足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新 / 旧产业差异化配置</a:t>
                      </a:r>
                    </a:p>
                  </a:txBody>
                  <a:tcPr marL="171450" marR="114300" marT="28575" marB="28575" anchor="ctr">
                    <a:solidFill>
                      <a:srgbClr val="18415C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证据来源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依赖经验，缺少可复核过程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招聘数据 + 访谈 + 专家校验</a:t>
                      </a:r>
                    </a:p>
                  </a:txBody>
                  <a:tcPr marL="171450" marR="114300" marT="28575" marB="28575" anchor="ctr">
                    <a:solidFill>
                      <a:srgbClr val="18415C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应用方式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评价、培养与岗位配置衔接弱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通用 / 产业 / 岗位三层组合</a:t>
                      </a:r>
                    </a:p>
                  </a:txBody>
                  <a:tcPr marL="171450" marR="114300" marT="28575" marB="28575" anchor="ctr">
                    <a:solidFill>
                      <a:srgbClr val="18415C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952500" y="8001000"/>
            <a:ext cx="16383000" cy="6191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219200" y="8001000"/>
            <a:ext cx="15849600" cy="0"/>
          </a:xfrm>
          <a:prstGeom prst="line">
            <a:avLst/>
          </a:prstGeom>
          <a:ln w="12700">
            <a:solidFill>
              <a:srgbClr val="3BC5DF"/>
            </a:solidFill>
          </a:ln>
          <a:effectLst/>
        </p:spPr>
      </p:cxnSp>
      <p:sp>
        <p:nvSpPr>
          <p:cNvPr id="27" name="Rectangle 26"/>
          <p:cNvSpPr/>
          <p:nvPr/>
        </p:nvSpPr>
        <p:spPr>
          <a:xfrm>
            <a:off x="952500" y="8001000"/>
            <a:ext cx="38100" cy="619125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9200" y="804862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在分类、能力、分级与产业差异上升级，并与立白现有实践衔接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" y="8791575"/>
            <a:ext cx="16383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请专家逐行判断：更适用 / 需调整 / 不适用；以实际制度与案例佐证。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9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行为标准 · 新型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智能制造操作能力，从“会操作”走向“能主导”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13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52500" y="271462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设备操作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能操作基础智能化生产设备，完成简单加工任务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可熟练操作核心生产设备，精准控制生产参数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能优化设备运行参数，提升生产精度与效率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可主导设备智能化升级后的操作适配，培训团队操作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52500" y="4686300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ERP操作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能使用ERP生产模块录入生产数据，查询订单进度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可独立通过ERP下达生产计划，跟踪物料需求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能通过ERP分析生产瓶颈，调整生产调度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可主导ERP生产模块与设备数据联动，实现数字化生产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952500" y="665797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CAD解读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能识别简单零件图纸，理解基础加工要求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可解读复杂装配图纸，明确关键加工节点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能根据图纸优化加工路径，提升加工效率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可结合图纸与设备特性，提出工艺优化建议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13096875" y="2714625"/>
            <a:ext cx="4238625" cy="57531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87375" y="2876550"/>
            <a:ext cx="3857625" cy="781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三级人才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配置对照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5216187" y="4939950"/>
            <a:ext cx="197313" cy="341757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H="1">
            <a:off x="15018874" y="5281707"/>
            <a:ext cx="394626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15018874" y="4939950"/>
            <a:ext cx="197313" cy="341757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15254287" y="48447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5216187" y="4712112"/>
            <a:ext cx="394627" cy="683514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14821560" y="5395626"/>
            <a:ext cx="789254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14821560" y="4712112"/>
            <a:ext cx="394627" cy="683514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15254287" y="4616862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2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216187" y="4484274"/>
            <a:ext cx="591940" cy="1025271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14624247" y="5509545"/>
            <a:ext cx="118388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14624247" y="4484274"/>
            <a:ext cx="591940" cy="1025271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15254287" y="4389024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5216187" y="4256436"/>
            <a:ext cx="789254" cy="1367028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H="1">
            <a:off x="14426933" y="5623464"/>
            <a:ext cx="1578508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14426933" y="4256436"/>
            <a:ext cx="789254" cy="1367028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15254287" y="416118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4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5216187" y="4256436"/>
            <a:ext cx="0" cy="911352"/>
          </a:xfrm>
          <a:prstGeom prst="line">
            <a:avLst/>
          </a:prstGeom>
          <a:ln w="8255">
            <a:solidFill>
              <a:srgbClr val="31566F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5216187" y="5167788"/>
            <a:ext cx="789254" cy="455676"/>
          </a:xfrm>
          <a:prstGeom prst="line">
            <a:avLst/>
          </a:prstGeom>
          <a:ln w="8255">
            <a:solidFill>
              <a:srgbClr val="31566F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H="1">
            <a:off x="14426933" y="5167788"/>
            <a:ext cx="789254" cy="455676"/>
          </a:xfrm>
          <a:prstGeom prst="line">
            <a:avLst/>
          </a:prstGeom>
          <a:ln w="8255">
            <a:solidFill>
              <a:srgbClr val="31566F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4073187" y="3799236"/>
            <a:ext cx="22860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设备操作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98457" y="5756814"/>
            <a:ext cx="1976437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ERP操作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39750" y="5756814"/>
            <a:ext cx="19764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5EFF5"/>
                </a:solidFill>
                <a:latin typeface="Noto Sans CJK SC"/>
                <a:ea typeface="Noto Sans CJK SC"/>
              </a:rPr>
              <a:t>CAD解读</a:t>
            </a:r>
          </a:p>
        </p:txBody>
      </p:sp>
      <p:sp>
        <p:nvSpPr>
          <p:cNvPr id="51" name="Oval 50"/>
          <p:cNvSpPr/>
          <p:nvPr/>
        </p:nvSpPr>
        <p:spPr>
          <a:xfrm>
            <a:off x="15178087" y="4218336"/>
            <a:ext cx="76200" cy="76200"/>
          </a:xfrm>
          <a:prstGeom prst="ellipse">
            <a:avLst/>
          </a:prstGeom>
          <a:solidFill>
            <a:srgbClr val="9CBF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967341" y="5585364"/>
            <a:ext cx="76200" cy="76200"/>
          </a:xfrm>
          <a:prstGeom prst="ellipse">
            <a:avLst/>
          </a:prstGeom>
          <a:solidFill>
            <a:srgbClr val="9CBF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4586147" y="5471445"/>
            <a:ext cx="76200" cy="76200"/>
          </a:xfrm>
          <a:prstGeom prst="ellipse">
            <a:avLst/>
          </a:prstGeom>
          <a:solidFill>
            <a:srgbClr val="9CBF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5216187" y="4256436"/>
            <a:ext cx="789254" cy="1367028"/>
          </a:xfrm>
          <a:prstGeom prst="line">
            <a:avLst/>
          </a:prstGeom>
          <a:ln w="21590">
            <a:solidFill>
              <a:srgbClr val="9CBFD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H="1" flipV="1">
            <a:off x="14624247" y="5509545"/>
            <a:ext cx="1381194" cy="113919"/>
          </a:xfrm>
          <a:prstGeom prst="line">
            <a:avLst/>
          </a:prstGeom>
          <a:ln w="21590">
            <a:solidFill>
              <a:srgbClr val="9CBFD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14624247" y="4256436"/>
            <a:ext cx="591940" cy="1253109"/>
          </a:xfrm>
          <a:prstGeom prst="line">
            <a:avLst/>
          </a:prstGeom>
          <a:ln w="21590">
            <a:solidFill>
              <a:srgbClr val="9CBFD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3287375" y="6562725"/>
            <a:ext cx="209550" cy="0"/>
          </a:xfrm>
          <a:prstGeom prst="line">
            <a:avLst/>
          </a:prstGeom>
          <a:ln w="21590">
            <a:solidFill>
              <a:srgbClr val="9CBFD8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1356360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59" name="Oval 58"/>
          <p:cNvSpPr/>
          <p:nvPr/>
        </p:nvSpPr>
        <p:spPr>
          <a:xfrm>
            <a:off x="15178087" y="4446174"/>
            <a:ext cx="76200" cy="7620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5967341" y="5585364"/>
            <a:ext cx="76200" cy="7620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4388833" y="5585364"/>
            <a:ext cx="76200" cy="7620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5216187" y="4484274"/>
            <a:ext cx="789254" cy="1139190"/>
          </a:xfrm>
          <a:prstGeom prst="line">
            <a:avLst/>
          </a:prstGeom>
          <a:ln w="21590">
            <a:solidFill>
              <a:srgbClr val="3BC5DF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H="1">
            <a:off x="14426933" y="5623464"/>
            <a:ext cx="1578508" cy="0"/>
          </a:xfrm>
          <a:prstGeom prst="line">
            <a:avLst/>
          </a:prstGeom>
          <a:ln w="21590">
            <a:solidFill>
              <a:srgbClr val="3BC5DF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14426933" y="4484274"/>
            <a:ext cx="789254" cy="1139190"/>
          </a:xfrm>
          <a:prstGeom prst="line">
            <a:avLst/>
          </a:prstGeom>
          <a:ln w="21590">
            <a:solidFill>
              <a:srgbClr val="3BC5DF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14605000" y="6562725"/>
            <a:ext cx="209550" cy="0"/>
          </a:xfrm>
          <a:prstGeom prst="line">
            <a:avLst/>
          </a:prstGeom>
          <a:ln w="21590">
            <a:solidFill>
              <a:srgbClr val="3BC5DF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14881224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67" name="Oval 66"/>
          <p:cNvSpPr/>
          <p:nvPr/>
        </p:nvSpPr>
        <p:spPr>
          <a:xfrm>
            <a:off x="15178087" y="4674012"/>
            <a:ext cx="76200" cy="76200"/>
          </a:xfrm>
          <a:prstGeom prst="ellipse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5770027" y="5471445"/>
            <a:ext cx="76200" cy="76200"/>
          </a:xfrm>
          <a:prstGeom prst="ellipse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4586147" y="5471445"/>
            <a:ext cx="76200" cy="76200"/>
          </a:xfrm>
          <a:prstGeom prst="ellipse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5216187" y="4712112"/>
            <a:ext cx="591940" cy="797433"/>
          </a:xfrm>
          <a:prstGeom prst="line">
            <a:avLst/>
          </a:prstGeom>
          <a:ln w="21590">
            <a:solidFill>
              <a:srgbClr val="EBCB7C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14624247" y="5509545"/>
            <a:ext cx="1183880" cy="0"/>
          </a:xfrm>
          <a:prstGeom prst="line">
            <a:avLst/>
          </a:prstGeom>
          <a:ln w="21590">
            <a:solidFill>
              <a:srgbClr val="EBCB7C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14624247" y="4712112"/>
            <a:ext cx="591940" cy="797433"/>
          </a:xfrm>
          <a:prstGeom prst="line">
            <a:avLst/>
          </a:prstGeom>
          <a:ln w="21590">
            <a:solidFill>
              <a:srgbClr val="EBCB7C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15922625" y="6562725"/>
            <a:ext cx="209550" cy="0"/>
          </a:xfrm>
          <a:prstGeom prst="line">
            <a:avLst/>
          </a:prstGeom>
          <a:ln w="21590">
            <a:solidFill>
              <a:srgbClr val="EBCB7C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619885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287375" y="7105650"/>
            <a:ext cx="3857625" cy="99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9C2D5"/>
                </a:solidFill>
                <a:latin typeface="Noto Sans CJK SC"/>
                <a:ea typeface="Noto Sans CJK SC"/>
              </a:rPr>
              <a:t>三条线代表基础、骨干、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9C2D5"/>
                </a:solidFill>
                <a:latin typeface="Noto Sans CJK SC"/>
                <a:ea typeface="Noto Sans CJK SC"/>
              </a:rPr>
              <a:t>高端三级配置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9C2D5"/>
                </a:solidFill>
                <a:latin typeface="Noto Sans CJK SC"/>
                <a:ea typeface="Noto Sans CJK SC"/>
              </a:rPr>
              <a:t>刻度 1—4 级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3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36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40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4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44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4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48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4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49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81125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行为标准 · 旧型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旧型产业能力，更强调合规、流程与经验传承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14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52500" y="271462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GMP合规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能了解GMP基础条款，遵守简单合规要求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可熟练掌握GMP核心条款，规范执行操作流程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能检查操作中的GMP合规性，纠正违规行为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可主导企业GMP体系优化，通过合规审核并降低风险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52500" y="4686300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SOP执行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能阅读SOP文档，按指导完成基础操作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可独立严格执行SOP流程，记录操作过程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能发现SOP中的优化点，提出修订建议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可主导SOP体系修订与培训，推动全员规范执行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952500" y="6657975"/>
          <a:ext cx="11715750" cy="1809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0382250"/>
              </a:tblGrid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经验积累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1—4级行为描述 · 报告原文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1级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能记录基础操作经验，总结简单操作规律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2级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可整理个人操作经验，形成基础操作笔记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3级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能提炼班组共性经验，形成标准化操作建议</a:t>
                      </a:r>
                    </a:p>
                  </a:txBody>
                  <a:tcPr marL="171450" marR="114300" marT="28575" marB="28575" anchor="ctr">
                    <a:solidFill>
                      <a:srgbClr val="15354F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EBCB7C"/>
                          </a:solidFill>
                          <a:latin typeface="Noto Sans CJK SC"/>
                          <a:ea typeface="Noto Sans CJK SC"/>
                        </a:rPr>
                        <a:t>4级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E5EFF5"/>
                          </a:solidFill>
                          <a:latin typeface="Noto Sans CJK SC"/>
                          <a:ea typeface="Noto Sans CJK SC"/>
                        </a:rPr>
                        <a:t>可构建企业级操作经验库，指导全员提升技能</a:t>
                      </a:r>
                    </a:p>
                  </a:txBody>
                  <a:tcPr marL="171450" marR="114300" marT="28575" marB="28575" anchor="ctr">
                    <a:solidFill>
                      <a:srgbClr val="102B42"/>
                    </a:solidFill>
                    <a:lnL w="0">
                      <a:solidFill>
                        <a:srgbClr val="31566F"/>
                      </a:solidFill>
                    </a:lnL>
                    <a:lnR w="0">
                      <a:solidFill>
                        <a:srgbClr val="31566F"/>
                      </a:solidFill>
                    </a:lnR>
                    <a:lnT w="0">
                      <a:solidFill>
                        <a:srgbClr val="31566F"/>
                      </a:solidFill>
                    </a:lnT>
                    <a:lnB w="6350">
                      <a:solidFill>
                        <a:srgbClr val="31566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13096875" y="2714625"/>
            <a:ext cx="4238625" cy="57531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87375" y="2876550"/>
            <a:ext cx="3857625" cy="781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三级人才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配置对照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5216187" y="4939950"/>
            <a:ext cx="197313" cy="341757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H="1">
            <a:off x="15018874" y="5281707"/>
            <a:ext cx="394626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15018874" y="4939950"/>
            <a:ext cx="197313" cy="341757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15254287" y="4844700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5216187" y="4712112"/>
            <a:ext cx="394627" cy="683514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14821560" y="5395626"/>
            <a:ext cx="789254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14821560" y="4712112"/>
            <a:ext cx="394627" cy="683514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15254287" y="4616862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2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216187" y="4484274"/>
            <a:ext cx="591940" cy="1025271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14624247" y="5509545"/>
            <a:ext cx="118388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14624247" y="4484274"/>
            <a:ext cx="591940" cy="1025271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15254287" y="4389024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3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5216187" y="4256436"/>
            <a:ext cx="789254" cy="1367028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H="1">
            <a:off x="14426933" y="5623464"/>
            <a:ext cx="1578508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14426933" y="4256436"/>
            <a:ext cx="789254" cy="1367028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15254287" y="4161186"/>
            <a:ext cx="2095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A9C2D5"/>
                </a:solidFill>
                <a:latin typeface="DejaVu Sans"/>
                <a:ea typeface="Noto Sans CJK SC"/>
              </a:rPr>
              <a:t>4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5216187" y="4256436"/>
            <a:ext cx="0" cy="911352"/>
          </a:xfrm>
          <a:prstGeom prst="line">
            <a:avLst/>
          </a:prstGeom>
          <a:ln w="8255">
            <a:solidFill>
              <a:srgbClr val="31566F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5216187" y="5167788"/>
            <a:ext cx="789254" cy="455676"/>
          </a:xfrm>
          <a:prstGeom prst="line">
            <a:avLst/>
          </a:prstGeom>
          <a:ln w="8255">
            <a:solidFill>
              <a:srgbClr val="31566F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H="1">
            <a:off x="14426933" y="5167788"/>
            <a:ext cx="789254" cy="455676"/>
          </a:xfrm>
          <a:prstGeom prst="line">
            <a:avLst/>
          </a:prstGeom>
          <a:ln w="8255">
            <a:solidFill>
              <a:srgbClr val="31566F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4073187" y="3799236"/>
            <a:ext cx="228600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GMP合规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98457" y="5756814"/>
            <a:ext cx="1976437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5EFF5"/>
                </a:solidFill>
                <a:latin typeface="Noto Sans CJK SC"/>
                <a:ea typeface="Noto Sans CJK SC"/>
              </a:rPr>
              <a:t>SOP执行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39750" y="5756814"/>
            <a:ext cx="197643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经验积累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待验证</a:t>
            </a:r>
          </a:p>
        </p:txBody>
      </p:sp>
      <p:sp>
        <p:nvSpPr>
          <p:cNvPr id="51" name="Oval 50"/>
          <p:cNvSpPr/>
          <p:nvPr/>
        </p:nvSpPr>
        <p:spPr>
          <a:xfrm>
            <a:off x="15178087" y="4901850"/>
            <a:ext cx="76200" cy="76200"/>
          </a:xfrm>
          <a:prstGeom prst="ellipse">
            <a:avLst/>
          </a:prstGeom>
          <a:solidFill>
            <a:srgbClr val="9CBF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375400" y="5243607"/>
            <a:ext cx="76200" cy="76200"/>
          </a:xfrm>
          <a:prstGeom prst="ellipse">
            <a:avLst/>
          </a:prstGeom>
          <a:solidFill>
            <a:srgbClr val="9CBF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287375" y="6524625"/>
            <a:ext cx="76200" cy="76200"/>
          </a:xfrm>
          <a:prstGeom prst="ellipse">
            <a:avLst/>
          </a:prstGeom>
          <a:solidFill>
            <a:srgbClr val="9CBF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56360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基础</a:t>
            </a:r>
          </a:p>
        </p:txBody>
      </p:sp>
      <p:sp>
        <p:nvSpPr>
          <p:cNvPr id="55" name="Oval 54"/>
          <p:cNvSpPr/>
          <p:nvPr/>
        </p:nvSpPr>
        <p:spPr>
          <a:xfrm>
            <a:off x="15178087" y="4674012"/>
            <a:ext cx="76200" cy="7620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572714" y="5357526"/>
            <a:ext cx="76200" cy="7620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605000" y="6524625"/>
            <a:ext cx="76200" cy="76200"/>
          </a:xfrm>
          <a:prstGeom prst="ellipse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881224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骨干</a:t>
            </a:r>
          </a:p>
        </p:txBody>
      </p:sp>
      <p:sp>
        <p:nvSpPr>
          <p:cNvPr id="59" name="Oval 58"/>
          <p:cNvSpPr/>
          <p:nvPr/>
        </p:nvSpPr>
        <p:spPr>
          <a:xfrm>
            <a:off x="15178087" y="4218336"/>
            <a:ext cx="76200" cy="76200"/>
          </a:xfrm>
          <a:prstGeom prst="ellipse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5967341" y="5585364"/>
            <a:ext cx="76200" cy="76200"/>
          </a:xfrm>
          <a:prstGeom prst="ellipse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5922625" y="6524625"/>
            <a:ext cx="76200" cy="76200"/>
          </a:xfrm>
          <a:prstGeom prst="ellipse">
            <a:avLst/>
          </a:prstGeom>
          <a:solidFill>
            <a:srgbClr val="EBCB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198850" y="6381750"/>
            <a:ext cx="993775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Noto Sans CJK SC"/>
                <a:ea typeface="Noto Sans CJK SC"/>
              </a:rPr>
              <a:t>高端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287375" y="7029450"/>
            <a:ext cx="3857625" cy="11334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9C2D5"/>
                </a:solidFill>
                <a:latin typeface="Noto Sans CJK SC"/>
                <a:ea typeface="Noto Sans CJK SC"/>
              </a:rPr>
              <a:t>三色点代表三级配置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9C2D5"/>
                </a:solidFill>
                <a:latin typeface="Noto Sans CJK SC"/>
                <a:ea typeface="Noto Sans CJK SC"/>
              </a:rPr>
              <a:t>经验积累待验证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A9C2D5"/>
                </a:solidFill>
                <a:latin typeface="Noto Sans CJK SC"/>
                <a:ea typeface="Noto Sans CJK SC"/>
              </a:rPr>
              <a:t>缺失维度不绘值、不连线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32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32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3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36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40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4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44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4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48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4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49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00200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专家验证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模型是否成立，取决于专家判断与真实岗位证据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15</a:t>
            </a:r>
          </a:p>
        </p:txBody>
      </p:sp>
      <p:sp>
        <p:nvSpPr>
          <p:cNvPr id="22" name="Oval 21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52500" y="28003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28003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五类人才分类是否完整、边界清楚？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2500" y="3524250"/>
            <a:ext cx="762000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952500" y="36195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2600" y="36195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硬 / 软 / 元能力能否解释岗位表现？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500" y="4343400"/>
            <a:ext cx="762000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952500" y="44386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2600" y="44386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三级人才与1—4级行为是否合理？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2500" y="5162550"/>
            <a:ext cx="762000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952500" y="52578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2600" y="52578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新 / 旧产业差异是否符合实际？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2500" y="5981700"/>
            <a:ext cx="762000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952500" y="607695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52600" y="607695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总图能否支撑评价与人才培养？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52500" y="6800850"/>
            <a:ext cx="762000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952500" y="6896100"/>
            <a:ext cx="666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EBCB7C"/>
                </a:solidFill>
                <a:latin typeface="DejaVu Sans"/>
                <a:ea typeface="Noto Sans CJK SC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6896100"/>
            <a:ext cx="6667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5EFF5"/>
                </a:solidFill>
                <a:latin typeface="Noto Sans CJK SC"/>
                <a:ea typeface="Noto Sans CJK SC"/>
              </a:rPr>
              <a:t>还缺少哪些能力、岗位或情境？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52500" y="7620000"/>
            <a:ext cx="7620000" cy="0"/>
          </a:xfrm>
          <a:prstGeom prst="line">
            <a:avLst/>
          </a:prstGeom>
          <a:ln w="8890">
            <a:solidFill>
              <a:srgbClr val="31566F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9334500" y="2809875"/>
            <a:ext cx="3886200" cy="1428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563100" y="2809875"/>
            <a:ext cx="3429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9334500" y="2981325"/>
            <a:ext cx="28575" cy="1085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01200" y="3067050"/>
            <a:ext cx="266700" cy="2667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9658350" y="3200400"/>
            <a:ext cx="57150" cy="571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9715500" y="3143250"/>
            <a:ext cx="104775" cy="1143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077450" y="30003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现场评分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82150" y="35623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六维度统一尺度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449300" y="2809875"/>
            <a:ext cx="3886200" cy="1428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3677900" y="2809875"/>
            <a:ext cx="3429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13449300" y="2981325"/>
            <a:ext cx="28575" cy="1085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792200" y="3067050"/>
            <a:ext cx="114300" cy="1143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13735050" y="3286125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13735050" y="3238500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13792200" y="3238500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3906500" y="3238500"/>
            <a:ext cx="5715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13963650" y="3286125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14192250" y="30003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岗位对照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696950" y="35623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选择最熟悉岗位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34500" y="4429125"/>
            <a:ext cx="3886200" cy="1428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563100" y="4429125"/>
            <a:ext cx="3429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9334500" y="4600575"/>
            <a:ext cx="28575" cy="1085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648825" y="4686300"/>
            <a:ext cx="14287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9791700" y="4686300"/>
            <a:ext cx="47625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9839325" y="4733925"/>
            <a:ext cx="0" cy="21907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9648825" y="4953000"/>
            <a:ext cx="1905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9648825" y="4686300"/>
            <a:ext cx="0" cy="2667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9791700" y="4686300"/>
            <a:ext cx="0" cy="476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9791700" y="4733925"/>
            <a:ext cx="47625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9686925" y="4791075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9686925" y="4848225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9686925" y="4905375"/>
            <a:ext cx="1143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0077450" y="461962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案例佐证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2150" y="51816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用真实行为说明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449300" y="4429125"/>
            <a:ext cx="3886200" cy="1428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13677900" y="4429125"/>
            <a:ext cx="3429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78" name="Rectangle 77"/>
          <p:cNvSpPr/>
          <p:nvPr/>
        </p:nvSpPr>
        <p:spPr>
          <a:xfrm>
            <a:off x="13449300" y="4600575"/>
            <a:ext cx="28575" cy="1085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13725525" y="4933950"/>
            <a:ext cx="2476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13725525" y="4695825"/>
            <a:ext cx="0" cy="2381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13782675" y="4838700"/>
            <a:ext cx="0" cy="762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13858875" y="4772025"/>
            <a:ext cx="0" cy="14287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13935075" y="4714875"/>
            <a:ext cx="0" cy="200025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84" name="TextBox 83"/>
          <p:cNvSpPr txBox="1"/>
          <p:nvPr/>
        </p:nvSpPr>
        <p:spPr>
          <a:xfrm>
            <a:off x="14192250" y="461962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边界检验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696950" y="518160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识别交叉与遗漏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34500" y="6048375"/>
            <a:ext cx="3886200" cy="1428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9563100" y="6048375"/>
            <a:ext cx="3429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9334500" y="6219825"/>
            <a:ext cx="28575" cy="1085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591675" y="6400800"/>
            <a:ext cx="76200" cy="762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801225" y="6400800"/>
            <a:ext cx="76200" cy="762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9667875" y="6438900"/>
            <a:ext cx="13335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9753600" y="6400800"/>
            <a:ext cx="47625" cy="381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9753600" y="6438900"/>
            <a:ext cx="47625" cy="3810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94" name="TextBox 93"/>
          <p:cNvSpPr txBox="1"/>
          <p:nvPr/>
        </p:nvSpPr>
        <p:spPr>
          <a:xfrm>
            <a:off x="10077450" y="62388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等级校准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82150" y="68008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核对任务复杂度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449300" y="6048375"/>
            <a:ext cx="3886200" cy="142875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13677900" y="6048375"/>
            <a:ext cx="3429000" cy="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13449300" y="6219825"/>
            <a:ext cx="28575" cy="1085850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716000" y="6305550"/>
            <a:ext cx="266700" cy="26670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3782675" y="6372225"/>
            <a:ext cx="133350" cy="133350"/>
          </a:xfrm>
          <a:prstGeom prst="ellipse">
            <a:avLst/>
          </a:prstGeom>
          <a:noFill/>
          <a:ln w="19050">
            <a:solidFill>
              <a:srgbClr val="3BC5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V="1">
            <a:off x="13849350" y="6305550"/>
            <a:ext cx="133350" cy="133350"/>
          </a:xfrm>
          <a:prstGeom prst="line">
            <a:avLst/>
          </a:prstGeom>
          <a:ln w="19050">
            <a:solidFill>
              <a:srgbClr val="3BC5DF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4192250" y="6238875"/>
            <a:ext cx="29146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  <a:ea typeface="Noto Sans CJK SC"/>
              </a:rPr>
              <a:t>修改建议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696950" y="6800850"/>
            <a:ext cx="33909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5EFF5"/>
                </a:solidFill>
                <a:latin typeface="Noto Sans CJK SC"/>
                <a:ea typeface="Noto Sans CJK SC"/>
              </a:rPr>
              <a:t>提出可执行调整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52500" y="8286750"/>
            <a:ext cx="16383000" cy="619125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1219200" y="8286750"/>
            <a:ext cx="15849600" cy="0"/>
          </a:xfrm>
          <a:prstGeom prst="line">
            <a:avLst/>
          </a:prstGeom>
          <a:ln w="12700">
            <a:solidFill>
              <a:srgbClr val="3BC5DF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952500" y="8286750"/>
            <a:ext cx="38100" cy="619125"/>
          </a:xfrm>
          <a:prstGeom prst="rect">
            <a:avLst/>
          </a:prstGeom>
          <a:solidFill>
            <a:srgbClr val="3BC5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19200" y="8334375"/>
            <a:ext cx="15811500" cy="5238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反馈记录：维度 + 1—5 分 + 一个岗位案例 + 一条修改建议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4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5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40" fill="hold" presetID="10" presetClass="entr" presetSubtype="0" nodeType="withEffect">
                <p:stCondLst>
                  <p:cond delay="450"/>
                </p:stCondLst>
                <p:childTnLst>
                  <p:set>
                    <p:cBhvr>
                      <p:cTn id="41" dur="1" fill="hold"/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42" dur="400"/>
                      <p:tgtEl>
                        <p:spTgt spid="28"/>
                      </p:tgtEl>
                    </p:cBhvr>
                  </p:animEffect>
                </p:childTnLst>
              </p:cTn>
            </p:par>
            <p:par>
              <p:cTn id="50" fill="hold" presetID="10" presetClass="entr" presetSubtype="0" nodeType="withEffect">
                <p:stCondLst>
                  <p:cond delay="600"/>
                </p:stCondLst>
                <p:childTnLst>
                  <p:set>
                    <p:cBhvr>
                      <p:cTn id="51" dur="1" fill="hold"/>
                      <p:tgtEl>
                        <p:spTgt spid="30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52" dur="400"/>
                      <p:tgtEl>
                        <p:spTgt spid="30"/>
                      </p:tgtEl>
                    </p:cBhvr>
                  </p:animEffect>
                </p:childTnLst>
              </p:cTn>
            </p:par>
            <p:par>
              <p:cTn id="60" fill="hold" presetID="10" presetClass="entr" presetSubtype="0" nodeType="withEffect">
                <p:stCondLst>
                  <p:cond delay="750"/>
                </p:stCondLst>
                <p:childTnLst>
                  <p:set>
                    <p:cBhvr>
                      <p:cTn id="61" dur="1" fill="hold"/>
                      <p:tgtEl>
                        <p:spTgt spid="31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62" dur="400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70" fill="hold" presetID="10" presetClass="entr" presetSubtype="0" nodeType="withEffect">
                <p:stCondLst>
                  <p:cond delay="900"/>
                </p:stCondLst>
                <p:childTnLst>
                  <p:set>
                    <p:cBhvr>
                      <p:cTn id="71" dur="1" fill="hold"/>
                      <p:tgtEl>
                        <p:spTgt spid="33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72" dur="400"/>
                      <p:tgtEl>
                        <p:spTgt spid="3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E4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sset-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1B2D">
              <a:alpha val="2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952500"/>
          </a:xfrm>
          <a:prstGeom prst="rect">
            <a:avLst/>
          </a:prstGeom>
          <a:gradFill rotWithShape="1">
            <a:gsLst>
              <a:gs pos="0">
                <a:srgbClr val="244C6E"/>
              </a:gs>
              <a:gs pos="100000">
                <a:srgbClr val="07192A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调研目标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432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研究依据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62075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模型结构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1500" y="219075"/>
            <a:ext cx="1524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BCB7C"/>
                </a:solidFill>
                <a:latin typeface="Noto Sans CJK SC"/>
                <a:ea typeface="Noto Sans CJK SC"/>
              </a:rPr>
              <a:t>专家验证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002000" y="714375"/>
            <a:ext cx="1143000" cy="0"/>
          </a:xfrm>
          <a:prstGeom prst="line">
            <a:avLst/>
          </a:prstGeom>
          <a:ln w="16510">
            <a:solidFill>
              <a:srgbClr val="EBCB7C"/>
            </a:solidFill>
          </a:ln>
          <a:effectLst/>
        </p:spPr>
      </p:cxnSp>
      <p:sp>
        <p:nvSpPr>
          <p:cNvPr id="10" name="Freeform 9"/>
          <p:cNvSpPr/>
          <p:nvPr/>
        </p:nvSpPr>
        <p:spPr>
          <a:xfrm>
            <a:off x="6515100" y="0"/>
            <a:ext cx="5257800" cy="838200"/>
          </a:xfrm>
          <a:custGeom>
            <a:avLst/>
            <a:gdLst/>
            <a:ahLst/>
            <a:cxnLst/>
            <a:rect l="l" t="t" r="r" b="b"/>
            <a:pathLst>
              <a:path w="552" h="88">
                <a:moveTo>
                  <a:pt x="0" y="0"/>
                </a:moveTo>
                <a:lnTo>
                  <a:pt x="552" y="0"/>
                </a:lnTo>
                <a:lnTo>
                  <a:pt x="522" y="88"/>
                </a:lnTo>
                <a:lnTo>
                  <a:pt x="30" y="88"/>
                </a:lnTo>
                <a:close/>
              </a:path>
            </a:pathLst>
          </a:custGeom>
          <a:solidFill>
            <a:srgbClr val="081D2D"/>
          </a:soli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896100" y="828675"/>
            <a:ext cx="4495800" cy="0"/>
          </a:xfrm>
          <a:prstGeom prst="line">
            <a:avLst/>
          </a:prstGeom>
          <a:ln w="16510">
            <a:solidFill>
              <a:srgbClr val="3BC5DF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7467599" y="866775"/>
            <a:ext cx="3352801" cy="0"/>
          </a:xfrm>
          <a:prstGeom prst="line">
            <a:avLst/>
          </a:prstGeom>
          <a:ln w="10160">
            <a:solidFill>
              <a:srgbClr val="9ADBE8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8096249" y="895350"/>
            <a:ext cx="2095501" cy="0"/>
          </a:xfrm>
          <a:prstGeom prst="line">
            <a:avLst/>
          </a:prstGeom>
          <a:ln w="6350">
            <a:solidFill>
              <a:srgbClr val="547F95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6810375" y="104775"/>
            <a:ext cx="466725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EBCB7C"/>
                </a:solidFill>
                <a:latin typeface="Noto Serif CJK SC"/>
                <a:ea typeface="Noto Serif CJK SC"/>
              </a:rPr>
              <a:t>评分与下一步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1266825"/>
            <a:ext cx="15906749" cy="895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请现场评分，专家判断将直接指向模型修订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06849" y="1304925"/>
            <a:ext cx="62865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BCB7C"/>
                </a:solidFill>
                <a:latin typeface="DejaVu Sans"/>
                <a:ea typeface="Noto Sans CJK SC"/>
              </a:rPr>
              <a:t>16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52500" y="2486025"/>
            <a:ext cx="16383000" cy="0"/>
          </a:xfrm>
          <a:prstGeom prst="line">
            <a:avLst/>
          </a:prstGeom>
          <a:ln w="12700">
            <a:solidFill>
              <a:srgbClr val="31566F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952500" y="2486025"/>
            <a:ext cx="1447800" cy="0"/>
          </a:xfrm>
          <a:prstGeom prst="line">
            <a:avLst/>
          </a:prstGeom>
          <a:ln w="25400">
            <a:solidFill>
              <a:srgbClr val="3BC5D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952500" y="2095499"/>
            <a:ext cx="16383000" cy="333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9C2D5"/>
                </a:solidFill>
                <a:latin typeface="Noto Sans CJK SC"/>
                <a:ea typeface="Noto Sans CJK SC"/>
              </a:rPr>
              <a:t>1 不成立 · 2 大幅修改 · 3 基本成立 · 4 较适用 · 5 高度适用 · N/A 不适用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2500" y="9382125"/>
            <a:ext cx="16383000" cy="0"/>
          </a:xfrm>
          <a:prstGeom prst="line">
            <a:avLst/>
          </a:prstGeom>
          <a:ln w="10160">
            <a:solidFill>
              <a:srgbClr val="31566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952500" y="9525000"/>
            <a:ext cx="4762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A9BFD0"/>
                </a:solidFill>
                <a:latin typeface="Noto Sans CJK SC"/>
                <a:ea typeface="Noto Sans CJK SC"/>
              </a:rPr>
              <a:t>立白科技调研座谈会  ·  2026.10.09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68250" y="9525000"/>
            <a:ext cx="3762374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BFD0"/>
                </a:solidFill>
                <a:latin typeface="Noto Sans CJK SC"/>
                <a:ea typeface="Noto Sans CJK SC"/>
              </a:rPr>
              <a:t>先进制造业人才标准 | 16</a:t>
            </a:r>
          </a:p>
        </p:txBody>
      </p:sp>
      <p:sp>
        <p:nvSpPr>
          <p:cNvPr id="23" name="Oval 22"/>
          <p:cNvSpPr/>
          <p:nvPr/>
        </p:nvSpPr>
        <p:spPr>
          <a:xfrm>
            <a:off x="16840200" y="9429750"/>
            <a:ext cx="533400" cy="533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xec-7ea0c041-660a-4e39-951e-eb2d527afb9f.png"/>
          <p:cNvPicPr>
            <a:picLocks noChangeAspect="1"/>
          </p:cNvPicPr>
          <p:nvPr/>
        </p:nvPicPr>
        <p:blipFill>
          <a:blip r:embed="rId3"/>
          <a:srcRect l="8800" r="54500" t="3400" b="3800"/>
          <a:stretch>
            <a:fillRect/>
          </a:stretch>
        </p:blipFill>
        <p:spPr>
          <a:xfrm>
            <a:off x="16878300" y="9467850"/>
            <a:ext cx="457200" cy="457200"/>
          </a:xfrm>
          <a:prstGeom prst="rect">
            <a:avLst/>
          </a:prstGeom>
        </p:spPr>
      </p:pic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52500" y="2686050"/>
          <a:ext cx="16382999" cy="5581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5238750"/>
                <a:gridCol w="1428750"/>
                <a:gridCol w="7810499"/>
              </a:tblGrid>
              <a:tr h="5524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验证维度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核心问题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1—5 分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修改建议 / 岗位案例</a:t>
                      </a:r>
                    </a:p>
                  </a:txBody>
                  <a:tcPr marL="171450" marR="114300" marT="28575" marB="28575" anchor="ctr">
                    <a:solidFill>
                      <a:srgbClr val="214969"/>
                    </a:solidFill>
                    <a:lnL w="0">
                      <a:solidFill>
                        <a:srgbClr val="3BC5DF"/>
                      </a:solidFill>
                    </a:lnL>
                    <a:lnR w="0">
                      <a:solidFill>
                        <a:srgbClr val="3BC5DF"/>
                      </a:solidFill>
                    </a:lnR>
                    <a:lnT w="0">
                      <a:solidFill>
                        <a:srgbClr val="3BC5DF"/>
                      </a:solidFill>
                    </a:lnT>
                    <a:lnB w="6350">
                      <a:solidFill>
                        <a:srgbClr val="3BC5DF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人才分类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五类是否完整，边界是否清楚？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能力维度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硬 / 软 / 元能否解释岗位表现？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人才分级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三级人才与行为等级是否合理？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产业差异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新 / 旧能力侧重是否符合实际？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模型总图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整体框架能否用于评价与培养？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缺失项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关键能力、岗位、情境是否遗漏？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14334D"/>
                          </a:solidFill>
                          <a:latin typeface="Noto Sans CJK SC"/>
                          <a:ea typeface="Noto Sans CJK SC"/>
                        </a:rPr>
                        <a:t>____</a:t>
                      </a:r>
                    </a:p>
                  </a:txBody>
                  <a:tcPr marL="171450" marR="114300" marT="28575" marB="28575" anchor="ctr">
                    <a:solidFill>
                      <a:srgbClr val="FFFFFF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</a:p>
                  </a:txBody>
                  <a:tcPr marL="171450" marR="114300" marT="28575" marB="28575" anchor="ctr">
                    <a:solidFill>
                      <a:srgbClr val="F5F7FA"/>
                    </a:solidFill>
                    <a:lnL w="0">
                      <a:solidFill>
                        <a:srgbClr val="D9E2EC"/>
                      </a:solidFill>
                    </a:lnL>
                    <a:lnR w="0">
                      <a:solidFill>
                        <a:srgbClr val="D9E2EC"/>
                      </a:solidFill>
                    </a:lnR>
                    <a:lnT w="0">
                      <a:solidFill>
                        <a:srgbClr val="D9E2EC"/>
                      </a:solidFill>
                    </a:lnT>
                    <a:lnB w="6350">
                      <a:solidFill>
                        <a:srgbClr val="D9E2E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52500" y="8467725"/>
            <a:ext cx="14859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Noto Sans CJK SC"/>
                <a:ea typeface="Noto Sans CJK SC"/>
              </a:rPr>
              <a:t>现场评分  →  3 工作日汇总  →  团队研判  →  10 工作日反馈  →  待议复核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" y="8972550"/>
            <a:ext cx="14859000" cy="314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A9C2D5"/>
                </a:solidFill>
                <a:latin typeface="Noto Sans CJK SC"/>
                <a:ea typeface="Noto Sans CJK SC"/>
              </a:rPr>
              <a:t>感谢专家共同验证  ·  采纳 / 部分采纳 / 待议 / 不采纳，均反馈处理理由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383000" y="8582025"/>
            <a:ext cx="952500" cy="685800"/>
          </a:xfrm>
          <a:prstGeom prst="rect">
            <a:avLst/>
          </a:prstGeom>
          <a:gradFill rotWithShape="1">
            <a:gsLst>
              <a:gs pos="0">
                <a:srgbClr val="1F486A"/>
              </a:gs>
              <a:gs pos="100000">
                <a:srgbClr val="10263B"/>
              </a:gs>
            </a:gsLst>
            <a:lin ang="5400000" scaled="0"/>
          </a:gradFill>
          <a:ln w="12700">
            <a:solidFill>
              <a:srgbClr val="31566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0" y="8639175"/>
            <a:ext cx="800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BA5AF"/>
                </a:solidFill>
                <a:latin typeface="Noto Sans CJK SC"/>
                <a:ea typeface="Noto Sans CJK SC"/>
              </a:rPr>
              <a:t>问卷链接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9BA5AF"/>
                </a:solidFill>
                <a:latin typeface="Noto Sans CJK SC"/>
                <a:ea typeface="Noto Sans CJK SC"/>
              </a:rPr>
              <a:t>待补充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par>
              <p:cTn id="10" fill="hold" presetID="10" presetClass="entr" presetSubtype="0" nodeType="withEffect">
                <p:stCondLst>
                  <p:cond delay="0"/>
                </p:stCondLst>
                <p:childTnLst>
                  <p:set>
                    <p:cBhvr>
                      <p:cTn id="11" dur="1" fill="hold"/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12" dur="400"/>
                      <p:tgtEl>
                        <p:spTgt spid="26"/>
                      </p:tgtEl>
                    </p:cBhvr>
                  </p:animEffect>
                </p:childTnLst>
              </p:cTn>
            </p:par>
            <p:par>
              <p:cTn id="20" fill="hold" presetID="10" presetClass="entr" presetSubtype="0" nodeType="withEffect">
                <p:stCondLst>
                  <p:cond delay="150"/>
                </p:stCondLst>
                <p:childTnLst>
                  <p:set>
                    <p:cBhvr>
                      <p:cTn id="21" dur="1" fill="hold"/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22" dur="400"/>
                      <p:tgtEl>
                        <p:spTgt spid="27"/>
                      </p:tgtEl>
                    </p:cBhvr>
                  </p:animEffect>
                </p:childTnLst>
              </p:cTn>
            </p:par>
            <p:par>
              <p:cTn id="30" fill="hold" presetID="10" presetClass="entr" presetSubtype="0" nodeType="withEffect">
                <p:stCondLst>
                  <p:cond delay="300"/>
                </p:stCondLst>
                <p:childTnLst>
                  <p:set>
                    <p:cBhvr>
                      <p:cTn id="31" dur="1" fill="hold"/>
                      <p:tgtEl>
                        <p:spTgt spid="29"/>
                      </p:tgtEl>
                      <p:attrNameLst>
                        <p:attrName>style.visibility</p:attrName>
                      </p:attrNameLst>
                    </p:cBhvr>
                    <p:to>
                      <p:strVal val="visible"/>
                    </p:to>
                  </p:set>
                  <p:animEffect transition="in" filter="fade">
                    <p:cBhvr>
                      <p:cTn id="32" dur="400"/>
                      <p:tgtEl>
                        <p:spTgt spid="29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基于胜任力模型的先进制造业人才标准框架与体系——立白科技调研座谈会</dc:title>
  <dc:subject>企业专家验证交流稿 · 2026年10月09日</dc:subject>
  <dc:creator>广东工业大学管理学院 | 粤来粤好队 | 罗琳</dc:creator>
  <cp:keywords>胜任力模型,先进制造业,人才标准,立白科技,专家验证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